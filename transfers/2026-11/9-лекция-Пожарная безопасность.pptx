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65" r:id="rId3"/>
    <p:sldId id="256" r:id="rId4"/>
    <p:sldId id="257" r:id="rId5"/>
    <p:sldId id="261" r:id="rId6"/>
    <p:sldId id="258" r:id="rId7"/>
    <p:sldId id="259" r:id="rId8"/>
    <p:sldId id="262" r:id="rId9"/>
    <p:sldId id="263"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30B27FE-6734-4FBA-9C74-265F835580F4}" type="datetimeFigureOut">
              <a:rPr lang="ru-KZ" smtClean="0"/>
              <a:t>03/09/2026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35F1BD6E-4F95-4D14-8CF5-88211DF93BB4}" type="slidenum">
              <a:rPr lang="ru-KZ" smtClean="0"/>
              <a:t>‹#›</a:t>
            </a:fld>
            <a:endParaRPr lang="ru-KZ"/>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4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30B27FE-6734-4FBA-9C74-265F835580F4}" type="datetimeFigureOut">
              <a:rPr lang="ru-KZ" smtClean="0"/>
              <a:t>03/09/2026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1393192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30B27FE-6734-4FBA-9C74-265F835580F4}" type="datetimeFigureOut">
              <a:rPr lang="ru-KZ" smtClean="0"/>
              <a:t>03/09/2026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35F1BD6E-4F95-4D14-8CF5-88211DF93BB4}" type="slidenum">
              <a:rPr lang="ru-KZ" smtClean="0"/>
              <a:t>‹#›</a:t>
            </a:fld>
            <a:endParaRPr lang="ru-KZ"/>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87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30B27FE-6734-4FBA-9C74-265F835580F4}" type="datetimeFigureOut">
              <a:rPr lang="ru-KZ" smtClean="0"/>
              <a:t>03/09/2026</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69441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30B27FE-6734-4FBA-9C74-265F835580F4}" type="datetimeFigureOut">
              <a:rPr lang="ru-KZ" smtClean="0"/>
              <a:t>03/09/2026</a:t>
            </a:fld>
            <a:endParaRPr lang="ru-KZ"/>
          </a:p>
        </p:txBody>
      </p:sp>
      <p:sp>
        <p:nvSpPr>
          <p:cNvPr id="8" name="Footer Placeholder 7"/>
          <p:cNvSpPr>
            <a:spLocks noGrp="1"/>
          </p:cNvSpPr>
          <p:nvPr>
            <p:ph type="ftr" sz="quarter" idx="11"/>
          </p:nvPr>
        </p:nvSpPr>
        <p:spPr/>
        <p:txBody>
          <a:bodyPr/>
          <a:lstStyle/>
          <a:p>
            <a:endParaRPr lang="ru-KZ"/>
          </a:p>
        </p:txBody>
      </p:sp>
      <p:sp>
        <p:nvSpPr>
          <p:cNvPr id="9" name="Slide Number Placeholder 8"/>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4181368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30B27FE-6734-4FBA-9C74-265F835580F4}" type="datetimeFigureOut">
              <a:rPr lang="ru-KZ" smtClean="0"/>
              <a:t>03/09/2026</a:t>
            </a:fld>
            <a:endParaRPr lang="ru-KZ"/>
          </a:p>
        </p:txBody>
      </p:sp>
      <p:sp>
        <p:nvSpPr>
          <p:cNvPr id="4" name="Footer Placeholder 3"/>
          <p:cNvSpPr>
            <a:spLocks noGrp="1"/>
          </p:cNvSpPr>
          <p:nvPr>
            <p:ph type="ftr" sz="quarter" idx="11"/>
          </p:nvPr>
        </p:nvSpPr>
        <p:spPr/>
        <p:txBody>
          <a:bodyPr/>
          <a:lstStyle/>
          <a:p>
            <a:endParaRPr lang="ru-KZ"/>
          </a:p>
        </p:txBody>
      </p:sp>
      <p:sp>
        <p:nvSpPr>
          <p:cNvPr id="5" name="Slide Number Placeholder 4"/>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2244184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30B27FE-6734-4FBA-9C74-265F835580F4}" type="datetimeFigureOut">
              <a:rPr lang="ru-KZ" smtClean="0"/>
              <a:t>03/09/2026</a:t>
            </a:fld>
            <a:endParaRPr lang="ru-KZ"/>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KZ"/>
          </a:p>
        </p:txBody>
      </p:sp>
      <p:sp>
        <p:nvSpPr>
          <p:cNvPr id="9" name="Slide Number Placeholder 8"/>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97851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30B27FE-6734-4FBA-9C74-265F835580F4}" type="datetimeFigureOut">
              <a:rPr lang="ru-KZ" smtClean="0"/>
              <a:t>03/09/2026</a:t>
            </a:fld>
            <a:endParaRPr lang="ru-KZ"/>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KZ"/>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5F1BD6E-4F95-4D14-8CF5-88211DF93BB4}" type="slidenum">
              <a:rPr lang="ru-KZ" smtClean="0"/>
              <a:t>‹#›</a:t>
            </a:fld>
            <a:endParaRPr lang="ru-KZ"/>
          </a:p>
        </p:txBody>
      </p:sp>
    </p:spTree>
    <p:extLst>
      <p:ext uri="{BB962C8B-B14F-4D97-AF65-F5344CB8AC3E}">
        <p14:creationId xmlns:p14="http://schemas.microsoft.com/office/powerpoint/2010/main" val="1393511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30B27FE-6734-4FBA-9C74-265F835580F4}" type="datetimeFigureOut">
              <a:rPr lang="ru-KZ" smtClean="0"/>
              <a:t>03/09/2026</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3895256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30B27FE-6734-4FBA-9C74-265F835580F4}" type="datetimeFigureOut">
              <a:rPr lang="ru-KZ" smtClean="0"/>
              <a:t>03/09/2026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1052135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30B27FE-6734-4FBA-9C74-265F835580F4}" type="datetimeFigureOut">
              <a:rPr lang="ru-KZ" smtClean="0"/>
              <a:t>03/09/2026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35F1BD6E-4F95-4D14-8CF5-88211DF93BB4}" type="slidenum">
              <a:rPr lang="ru-KZ" smtClean="0"/>
              <a:t>‹#›</a:t>
            </a:fld>
            <a:endParaRPr lang="ru-KZ"/>
          </a:p>
        </p:txBody>
      </p:sp>
    </p:spTree>
    <p:extLst>
      <p:ext uri="{BB962C8B-B14F-4D97-AF65-F5344CB8AC3E}">
        <p14:creationId xmlns:p14="http://schemas.microsoft.com/office/powerpoint/2010/main" val="1993111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30B27FE-6734-4FBA-9C74-265F835580F4}" type="datetimeFigureOut">
              <a:rPr lang="ru-KZ" smtClean="0"/>
              <a:t>03/09/2026</a:t>
            </a:fld>
            <a:endParaRPr lang="ru-KZ"/>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KZ"/>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5F1BD6E-4F95-4D14-8CF5-88211DF93BB4}" type="slidenum">
              <a:rPr lang="ru-KZ" smtClean="0"/>
              <a:t>‹#›</a:t>
            </a:fld>
            <a:endParaRPr lang="ru-KZ"/>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574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8EFF2EE8-5185-4766-B50D-2EA598D079F2}"/>
              </a:ext>
            </a:extLst>
          </p:cNvPr>
          <p:cNvSpPr/>
          <p:nvPr/>
        </p:nvSpPr>
        <p:spPr>
          <a:xfrm>
            <a:off x="2509024" y="1689630"/>
            <a:ext cx="7638585" cy="2677656"/>
          </a:xfrm>
          <a:prstGeom prst="rect">
            <a:avLst/>
          </a:prstGeom>
        </p:spPr>
        <p:txBody>
          <a:bodyPr wrap="square">
            <a:spAutoFit/>
          </a:bodyPr>
          <a:lstStyle/>
          <a:p>
            <a:pPr algn="ctr"/>
            <a:r>
              <a:rPr lang="ru-RU" sz="2400" dirty="0">
                <a:latin typeface="Cambria" panose="02040503050406030204" pitchFamily="18" charset="0"/>
                <a:ea typeface="Cambria" panose="02040503050406030204" pitchFamily="18" charset="0"/>
              </a:rPr>
              <a:t>Лекция № </a:t>
            </a:r>
            <a:r>
              <a:rPr lang="ru-RU" sz="2400" dirty="0">
                <a:latin typeface="Cambria" panose="02040503050406030204" pitchFamily="18" charset="0"/>
                <a:ea typeface="Cambria" panose="02040503050406030204" pitchFamily="18" charset="0"/>
              </a:rPr>
              <a:t>9</a:t>
            </a:r>
            <a:endParaRPr lang="ru-RU" sz="2400" dirty="0">
              <a:latin typeface="Cambria" panose="02040503050406030204" pitchFamily="18" charset="0"/>
              <a:ea typeface="Cambria" panose="02040503050406030204" pitchFamily="18" charset="0"/>
            </a:endParaRPr>
          </a:p>
          <a:p>
            <a:pPr algn="ctr"/>
            <a:r>
              <a:rPr lang="ru-RU" sz="2400" dirty="0">
                <a:latin typeface="Cambria" panose="02040503050406030204" pitchFamily="18" charset="0"/>
                <a:ea typeface="Cambria" panose="02040503050406030204" pitchFamily="18" charset="0"/>
              </a:rPr>
              <a:t>Пожарная безопасность</a:t>
            </a:r>
          </a:p>
          <a:p>
            <a:pPr marL="342900" indent="-342900">
              <a:buAutoNum type="arabicPeriod"/>
            </a:pPr>
            <a:r>
              <a:rPr lang="ru-RU" sz="2400" dirty="0"/>
              <a:t>Основы процессов горения и взрыва</a:t>
            </a:r>
          </a:p>
          <a:p>
            <a:pPr marL="342900" indent="-342900">
              <a:buAutoNum type="arabicPeriod"/>
            </a:pPr>
            <a:r>
              <a:rPr lang="ru-RU" sz="2400" dirty="0" err="1">
                <a:latin typeface="Cambria" panose="02040503050406030204" pitchFamily="18" charset="0"/>
                <a:ea typeface="Cambria" panose="02040503050406030204" pitchFamily="18" charset="0"/>
              </a:rPr>
              <a:t>Пожаровзрывобезопасность</a:t>
            </a:r>
            <a:r>
              <a:rPr lang="ru-RU" sz="2400" dirty="0">
                <a:latin typeface="Cambria" panose="02040503050406030204" pitchFamily="18" charset="0"/>
                <a:ea typeface="Cambria" panose="02040503050406030204" pitchFamily="18" charset="0"/>
              </a:rPr>
              <a:t> промышленных объектов</a:t>
            </a:r>
          </a:p>
          <a:p>
            <a:pPr marL="342900" indent="-342900">
              <a:buAutoNum type="arabicPeriod"/>
            </a:pPr>
            <a:r>
              <a:rPr lang="ru-RU" sz="2400" dirty="0">
                <a:latin typeface="Cambria" panose="02040503050406030204" pitchFamily="18" charset="0"/>
                <a:ea typeface="Cambria" panose="02040503050406030204" pitchFamily="18" charset="0"/>
              </a:rPr>
              <a:t>Классификация зданий и сооружений по пожарной безопасности</a:t>
            </a:r>
            <a:endParaRPr lang="ru-KZ"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0749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D4AF54A-3E49-4D52-B960-01A245CAA88E}"/>
              </a:ext>
            </a:extLst>
          </p:cNvPr>
          <p:cNvSpPr/>
          <p:nvPr/>
        </p:nvSpPr>
        <p:spPr>
          <a:xfrm>
            <a:off x="2640980" y="1202539"/>
            <a:ext cx="6910039" cy="40934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ru-RU" sz="2000" b="1" dirty="0">
                <a:solidFill>
                  <a:srgbClr val="FF0000"/>
                </a:solidFill>
                <a:latin typeface="Cambria" panose="02040503050406030204" pitchFamily="18" charset="0"/>
                <a:ea typeface="Cambria" panose="02040503050406030204" pitchFamily="18" charset="0"/>
              </a:rPr>
              <a:t>К опасным факторам пожара относятся: </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открытый огонь; </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искры; </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повышенная температура окружающей среды и предметов; </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токсичные продукты горения; взрывы; </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дым;</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повышенная концентрация кислорода;</a:t>
            </a:r>
          </a:p>
          <a:p>
            <a:pPr marL="342900" indent="-342900">
              <a:buFont typeface="Wingdings" panose="05000000000000000000" pitchFamily="2" charset="2"/>
              <a:buChar char="v"/>
            </a:pPr>
            <a:r>
              <a:rPr lang="ru-RU" sz="2000" dirty="0">
                <a:latin typeface="Cambria" panose="02040503050406030204" pitchFamily="18" charset="0"/>
                <a:ea typeface="Cambria" panose="02040503050406030204" pitchFamily="18" charset="0"/>
              </a:rPr>
              <a:t>факторы, проявляющиеся в результате взрыва (ударная волна, пламя, обрушение конструкций).</a:t>
            </a:r>
          </a:p>
          <a:p>
            <a:pPr algn="just"/>
            <a:r>
              <a:rPr lang="ru-RU" sz="2000" dirty="0">
                <a:latin typeface="Cambria" panose="02040503050406030204" pitchFamily="18" charset="0"/>
                <a:ea typeface="Cambria" panose="02040503050406030204" pitchFamily="18" charset="0"/>
              </a:rPr>
              <a:t>Важнейшими параметрами пожаров, определяющими условия пожаротушения, являются пожарная нагрузка и скорость выгорания пожарной нагрузки.  </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73502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D45C80DC-65E0-466B-80A8-DAFA00553BA0}"/>
              </a:ext>
            </a:extLst>
          </p:cNvPr>
          <p:cNvSpPr/>
          <p:nvPr/>
        </p:nvSpPr>
        <p:spPr>
          <a:xfrm>
            <a:off x="2096429" y="939133"/>
            <a:ext cx="8597590" cy="40934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ru-RU" sz="2000" b="1" dirty="0">
                <a:solidFill>
                  <a:srgbClr val="FF0000"/>
                </a:solidFill>
                <a:latin typeface="Cambria" panose="02040503050406030204" pitchFamily="18" charset="0"/>
                <a:ea typeface="Cambria" panose="02040503050406030204" pitchFamily="18" charset="0"/>
              </a:rPr>
              <a:t>Основные причины возникновения пожара: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нарушение порядка хранения пожароопасных материалов;</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нарушение технологических режимов работы оборудования,</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вызывающих выброс горючих паров, газов, жидкостей;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нарушение правил эксплуатации электрического оборудования, эксплуатация его в неисправном состоянии;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неосторожное обращение с открытым огнем, газовыми приборами;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применение неисправных осветительных приборов, электропроводки и устройств, дающих искрение, замыкание и т. п.;</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перегрузка электрических сетей; - самовозгорание веществ и материалов;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курение в неустановленных местах; </a:t>
            </a:r>
          </a:p>
          <a:p>
            <a:pPr marL="342900" indent="-342900">
              <a:buFont typeface="Wingdings" panose="05000000000000000000" pitchFamily="2" charset="2"/>
              <a:buChar char="q"/>
            </a:pPr>
            <a:r>
              <a:rPr lang="ru-RU" sz="2000" dirty="0">
                <a:latin typeface="Cambria" panose="02040503050406030204" pitchFamily="18" charset="0"/>
                <a:ea typeface="Cambria" panose="02040503050406030204" pitchFamily="18" charset="0"/>
              </a:rPr>
              <a:t>нарушение правил пожарной безопасности при проведении огневых</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42749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73975A5-7739-4BEF-BEF2-D821855A8487}"/>
              </a:ext>
            </a:extLst>
          </p:cNvPr>
          <p:cNvSpPr/>
          <p:nvPr/>
        </p:nvSpPr>
        <p:spPr>
          <a:xfrm>
            <a:off x="2053883" y="329159"/>
            <a:ext cx="8356207"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400" b="1" dirty="0">
                <a:solidFill>
                  <a:srgbClr val="FF0000"/>
                </a:solidFill>
                <a:latin typeface="Cambria" panose="02040503050406030204" pitchFamily="18" charset="0"/>
                <a:ea typeface="Cambria" panose="02040503050406030204" pitchFamily="18" charset="0"/>
              </a:rPr>
              <a:t>Причины и опасность возникновения пожаров и взрывов </a:t>
            </a:r>
          </a:p>
          <a:p>
            <a:pPr algn="ctr"/>
            <a:endParaRPr lang="ru-RU" sz="2400" b="1" dirty="0">
              <a:solidFill>
                <a:srgbClr val="FF0000"/>
              </a:solidFill>
              <a:latin typeface="Cambria" panose="02040503050406030204" pitchFamily="18" charset="0"/>
              <a:ea typeface="Cambria" panose="02040503050406030204" pitchFamily="18" charset="0"/>
            </a:endParaRPr>
          </a:p>
          <a:p>
            <a:pPr algn="just"/>
            <a:r>
              <a:rPr lang="ru-RU" sz="2400" b="1" dirty="0">
                <a:solidFill>
                  <a:srgbClr val="FF0000"/>
                </a:solidFill>
                <a:latin typeface="Cambria" panose="02040503050406030204" pitchFamily="18" charset="0"/>
                <a:ea typeface="Cambria" panose="02040503050406030204" pitchFamily="18" charset="0"/>
              </a:rPr>
              <a:t>Опасные факторы пожара </a:t>
            </a:r>
            <a:r>
              <a:rPr lang="ru-RU" sz="2400" dirty="0">
                <a:latin typeface="Cambria" panose="02040503050406030204" pitchFamily="18" charset="0"/>
                <a:ea typeface="Cambria" panose="02040503050406030204" pitchFamily="18" charset="0"/>
              </a:rPr>
              <a:t>- пламя, искры, повышенная температура, токсичные продукты горения и термического разложения. </a:t>
            </a:r>
          </a:p>
          <a:p>
            <a:pPr algn="just"/>
            <a:r>
              <a:rPr lang="ru-RU" sz="2400" b="1" dirty="0">
                <a:solidFill>
                  <a:srgbClr val="FF0000"/>
                </a:solidFill>
                <a:latin typeface="Cambria" panose="02040503050406030204" pitchFamily="18" charset="0"/>
                <a:ea typeface="Cambria" panose="02040503050406030204" pitchFamily="18" charset="0"/>
              </a:rPr>
              <a:t>Источник зажигания </a:t>
            </a:r>
            <a:r>
              <a:rPr lang="ru-RU" sz="2400" dirty="0">
                <a:latin typeface="Cambria" panose="02040503050406030204" pitchFamily="18" charset="0"/>
                <a:ea typeface="Cambria" panose="02040503050406030204" pitchFamily="18" charset="0"/>
              </a:rPr>
              <a:t>– средство энергетического воздействия, инициирующее возникновение горения (пламя спички, искры различного происхождения, тепловые проявления электрического тока, тепло нагревательных приборов, разряды статического электричества и т. п.) </a:t>
            </a:r>
          </a:p>
          <a:p>
            <a:pPr algn="just"/>
            <a:r>
              <a:rPr lang="ru-RU" sz="2400" b="1" dirty="0">
                <a:solidFill>
                  <a:srgbClr val="FF0000"/>
                </a:solidFill>
                <a:latin typeface="Cambria" panose="02040503050406030204" pitchFamily="18" charset="0"/>
                <a:ea typeface="Cambria" panose="02040503050406030204" pitchFamily="18" charset="0"/>
              </a:rPr>
              <a:t>Показатель пожарной опасности </a:t>
            </a:r>
            <a:r>
              <a:rPr lang="ru-RU" sz="2400" dirty="0">
                <a:latin typeface="Cambria" panose="02040503050406030204" pitchFamily="18" charset="0"/>
                <a:ea typeface="Cambria" panose="02040503050406030204" pitchFamily="18" charset="0"/>
              </a:rPr>
              <a:t>– величина, количественно характеризирующая какое-либо свойство пожарной опасности. </a:t>
            </a:r>
            <a:endParaRPr lang="ru-KZ"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19152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D8681DA-9C1E-46FF-B29F-6B2375EC40E8}"/>
              </a:ext>
            </a:extLst>
          </p:cNvPr>
          <p:cNvSpPr/>
          <p:nvPr/>
        </p:nvSpPr>
        <p:spPr>
          <a:xfrm>
            <a:off x="1280159" y="877953"/>
            <a:ext cx="9875521" cy="37856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000" b="1" dirty="0">
                <a:solidFill>
                  <a:srgbClr val="FF0000"/>
                </a:solidFill>
                <a:latin typeface="Cambria" panose="02040503050406030204" pitchFamily="18" charset="0"/>
                <a:ea typeface="Cambria" panose="02040503050406030204" pitchFamily="18" charset="0"/>
              </a:rPr>
              <a:t>	Пожар</a:t>
            </a:r>
            <a:r>
              <a:rPr lang="ru-RU" sz="2000" dirty="0">
                <a:latin typeface="Cambria" panose="02040503050406030204" pitchFamily="18" charset="0"/>
                <a:ea typeface="Cambria" panose="02040503050406030204" pitchFamily="18" charset="0"/>
              </a:rPr>
              <a:t> - неконтролируемый процесс горения вне специального очага, сопровождающийся уничтожением материальных ценностей и создающий опасность для жизни людей. </a:t>
            </a:r>
          </a:p>
          <a:p>
            <a:pPr algn="just"/>
            <a:r>
              <a:rPr lang="ru-RU" sz="2000" dirty="0">
                <a:solidFill>
                  <a:srgbClr val="FF0000"/>
                </a:solidFill>
                <a:latin typeface="Cambria" panose="02040503050406030204" pitchFamily="18" charset="0"/>
                <a:ea typeface="Cambria" panose="02040503050406030204" pitchFamily="18" charset="0"/>
              </a:rPr>
              <a:t>	</a:t>
            </a:r>
            <a:r>
              <a:rPr lang="ru-RU" sz="2000" b="1" dirty="0">
                <a:solidFill>
                  <a:srgbClr val="FF0000"/>
                </a:solidFill>
                <a:latin typeface="Cambria" panose="02040503050406030204" pitchFamily="18" charset="0"/>
                <a:ea typeface="Cambria" panose="02040503050406030204" pitchFamily="18" charset="0"/>
              </a:rPr>
              <a:t>Взрыв</a:t>
            </a:r>
            <a:r>
              <a:rPr lang="ru-RU" sz="2000" dirty="0">
                <a:latin typeface="Cambria" panose="02040503050406030204" pitchFamily="18" charset="0"/>
                <a:ea typeface="Cambria" panose="02040503050406030204" pitchFamily="18" charset="0"/>
              </a:rPr>
              <a:t> – мгновенная реакция окисления с выделением огромного количества теплоты и света. Взрыв сопровождается выделением энергии и образованием сжатых газов. </a:t>
            </a:r>
          </a:p>
          <a:p>
            <a:pPr algn="just"/>
            <a:r>
              <a:rPr lang="ru-RU" sz="2000" b="1" dirty="0">
                <a:solidFill>
                  <a:srgbClr val="FF0000"/>
                </a:solidFill>
                <a:latin typeface="Cambria" panose="02040503050406030204" pitchFamily="18" charset="0"/>
                <a:ea typeface="Cambria" panose="02040503050406030204" pitchFamily="18" charset="0"/>
              </a:rPr>
              <a:t>Процесс возникновения горения разделяется на несколько видов: </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Вспышка</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Воспламенение</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самовоспламенение,</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самовозгорание.</a:t>
            </a:r>
          </a:p>
          <a:p>
            <a:pPr algn="just"/>
            <a:endParaRPr lang="ru-RU"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94901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FF11C99-ADA5-4631-B140-32DD1AD50052}"/>
              </a:ext>
            </a:extLst>
          </p:cNvPr>
          <p:cNvSpPr/>
          <p:nvPr/>
        </p:nvSpPr>
        <p:spPr>
          <a:xfrm>
            <a:off x="956603" y="119479"/>
            <a:ext cx="10635175" cy="62478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000" b="1" dirty="0">
                <a:solidFill>
                  <a:srgbClr val="FF0000"/>
                </a:solidFill>
                <a:latin typeface="Cambria" panose="02040503050406030204" pitchFamily="18" charset="0"/>
                <a:ea typeface="Cambria" panose="02040503050406030204" pitchFamily="18" charset="0"/>
              </a:rPr>
              <a:t>Вспышкой</a:t>
            </a:r>
            <a:r>
              <a:rPr lang="ru-RU" sz="2000" dirty="0">
                <a:solidFill>
                  <a:srgbClr val="FF0000"/>
                </a:solidFill>
                <a:latin typeface="Cambria" panose="02040503050406030204" pitchFamily="18" charset="0"/>
                <a:ea typeface="Cambria" panose="02040503050406030204" pitchFamily="18" charset="0"/>
              </a:rPr>
              <a:t> </a:t>
            </a:r>
            <a:r>
              <a:rPr lang="ru-RU" sz="2000" dirty="0">
                <a:solidFill>
                  <a:schemeClr val="tx1">
                    <a:lumMod val="95000"/>
                    <a:lumOff val="5000"/>
                  </a:schemeClr>
                </a:solidFill>
                <a:latin typeface="Cambria" panose="02040503050406030204" pitchFamily="18" charset="0"/>
                <a:ea typeface="Cambria" panose="02040503050406030204" pitchFamily="18" charset="0"/>
              </a:rPr>
              <a:t>называется мгновенное сгорание паров, газов, пыли и др. веществ, не сопровождающееся образованием сжатых газов. Температура вспышки – самая низкая температура горючего вещества, при которой над его поверхностью образуются пары или </a:t>
            </a:r>
            <a:r>
              <a:rPr lang="ru-RU" sz="2000" dirty="0" err="1">
                <a:solidFill>
                  <a:schemeClr val="tx1">
                    <a:lumMod val="95000"/>
                    <a:lumOff val="5000"/>
                  </a:schemeClr>
                </a:solidFill>
                <a:latin typeface="Cambria" panose="02040503050406030204" pitchFamily="18" charset="0"/>
                <a:ea typeface="Cambria" panose="02040503050406030204" pitchFamily="18" charset="0"/>
              </a:rPr>
              <a:t>газы</a:t>
            </a:r>
            <a:r>
              <a:rPr lang="ru-RU" sz="2000" dirty="0">
                <a:solidFill>
                  <a:schemeClr val="tx1">
                    <a:lumMod val="95000"/>
                    <a:lumOff val="5000"/>
                  </a:schemeClr>
                </a:solidFill>
                <a:latin typeface="Cambria" panose="02040503050406030204" pitchFamily="18" charset="0"/>
                <a:ea typeface="Cambria" panose="02040503050406030204" pitchFamily="18" charset="0"/>
              </a:rPr>
              <a:t>, способные вспыхивать от источников зажигания, но для последующего горения скорость их образования недостаточна. </a:t>
            </a:r>
          </a:p>
          <a:p>
            <a:pPr algn="just"/>
            <a:r>
              <a:rPr lang="ru-RU" sz="2000" b="1" dirty="0">
                <a:solidFill>
                  <a:srgbClr val="FF0000"/>
                </a:solidFill>
                <a:latin typeface="Cambria" panose="02040503050406030204" pitchFamily="18" charset="0"/>
                <a:ea typeface="Cambria" panose="02040503050406030204" pitchFamily="18" charset="0"/>
              </a:rPr>
              <a:t>Возгорание </a:t>
            </a:r>
            <a:r>
              <a:rPr lang="ru-RU" sz="2000" dirty="0">
                <a:solidFill>
                  <a:schemeClr val="tx1">
                    <a:lumMod val="95000"/>
                    <a:lumOff val="5000"/>
                  </a:schemeClr>
                </a:solidFill>
                <a:latin typeface="Cambria" panose="02040503050406030204" pitchFamily="18" charset="0"/>
                <a:ea typeface="Cambria" panose="02040503050406030204" pitchFamily="18" charset="0"/>
              </a:rPr>
              <a:t>– это возникновение горения под воздействием источника зажигания. При появлении пламени процесс возгорания переходит в процесс воспламенения. Минимальная температура, при которой возникает и продолжается горение, называется температурой воспламенения.</a:t>
            </a:r>
          </a:p>
          <a:p>
            <a:pPr algn="just"/>
            <a:r>
              <a:rPr lang="ru-RU" sz="2000" b="1" dirty="0">
                <a:solidFill>
                  <a:srgbClr val="FF0000"/>
                </a:solidFill>
                <a:latin typeface="Cambria" panose="02040503050406030204" pitchFamily="18" charset="0"/>
                <a:ea typeface="Cambria" panose="02040503050406030204" pitchFamily="18" charset="0"/>
              </a:rPr>
              <a:t>Самовозгорание</a:t>
            </a:r>
            <a:r>
              <a:rPr lang="ru-RU" sz="2000" b="1" dirty="0">
                <a:latin typeface="Cambria" panose="02040503050406030204" pitchFamily="18" charset="0"/>
                <a:ea typeface="Cambria" panose="02040503050406030204" pitchFamily="18" charset="0"/>
              </a:rPr>
              <a:t> </a:t>
            </a:r>
            <a:r>
              <a:rPr lang="ru-RU" sz="2000" dirty="0">
                <a:solidFill>
                  <a:schemeClr val="tx1">
                    <a:lumMod val="95000"/>
                    <a:lumOff val="5000"/>
                  </a:schemeClr>
                </a:solidFill>
                <a:latin typeface="Cambria" panose="02040503050406030204" pitchFamily="18" charset="0"/>
                <a:ea typeface="Cambria" panose="02040503050406030204" pitchFamily="18" charset="0"/>
              </a:rPr>
              <a:t>– это возгорание горючей в результате резкого увеличения скорости экзотермических реакций, приводящая к повышению ее температуры и возникновению горения при отсутствии источников зажигания. Если при самовозгорании образуется пламя, то это явление называется самовоспламенение. Горению вещества может предшествовать медленный процесс его окисления, причем в ряде случаев при окислении скорость выделения теплоты оказывается больше, чем скорость теплоотдачи в окружающую среду (например, через стенки сосуда), и тогда наступает горение. </a:t>
            </a:r>
          </a:p>
          <a:p>
            <a:pPr algn="just"/>
            <a:r>
              <a:rPr lang="ru-RU" sz="2000" b="1" dirty="0">
                <a:solidFill>
                  <a:srgbClr val="FF0000"/>
                </a:solidFill>
                <a:latin typeface="Cambria" panose="02040503050406030204" pitchFamily="18" charset="0"/>
                <a:ea typeface="Cambria" panose="02040503050406030204" pitchFamily="18" charset="0"/>
              </a:rPr>
              <a:t>Для горения характерны три типичных стадии: </a:t>
            </a:r>
          </a:p>
          <a:p>
            <a:pPr marL="285750" indent="-285750" algn="just">
              <a:buFontTx/>
              <a:buChar char="-"/>
            </a:pPr>
            <a:r>
              <a:rPr lang="ru-RU" sz="2000" b="1" dirty="0">
                <a:solidFill>
                  <a:schemeClr val="tx1">
                    <a:lumMod val="95000"/>
                    <a:lumOff val="5000"/>
                  </a:schemeClr>
                </a:solidFill>
                <a:latin typeface="Cambria" panose="02040503050406030204" pitchFamily="18" charset="0"/>
                <a:ea typeface="Cambria" panose="02040503050406030204" pitchFamily="18" charset="0"/>
              </a:rPr>
              <a:t>возникновение; </a:t>
            </a:r>
          </a:p>
          <a:p>
            <a:pPr marL="285750" indent="-285750" algn="just">
              <a:buFontTx/>
              <a:buChar char="-"/>
            </a:pPr>
            <a:r>
              <a:rPr lang="ru-RU" sz="2000" b="1" dirty="0">
                <a:solidFill>
                  <a:schemeClr val="tx1">
                    <a:lumMod val="95000"/>
                    <a:lumOff val="5000"/>
                  </a:schemeClr>
                </a:solidFill>
                <a:latin typeface="Cambria" panose="02040503050406030204" pitchFamily="18" charset="0"/>
                <a:ea typeface="Cambria" panose="02040503050406030204" pitchFamily="18" charset="0"/>
              </a:rPr>
              <a:t>распространение; </a:t>
            </a:r>
          </a:p>
          <a:p>
            <a:pPr marL="285750" indent="-285750" algn="just">
              <a:buFontTx/>
              <a:buChar char="-"/>
            </a:pPr>
            <a:r>
              <a:rPr lang="ru-RU" sz="2000" b="1" dirty="0">
                <a:solidFill>
                  <a:schemeClr val="tx1">
                    <a:lumMod val="95000"/>
                    <a:lumOff val="5000"/>
                  </a:schemeClr>
                </a:solidFill>
                <a:latin typeface="Cambria" panose="02040503050406030204" pitchFamily="18" charset="0"/>
                <a:ea typeface="Cambria" panose="02040503050406030204" pitchFamily="18" charset="0"/>
              </a:rPr>
              <a:t>погасание. </a:t>
            </a:r>
          </a:p>
        </p:txBody>
      </p:sp>
    </p:spTree>
    <p:extLst>
      <p:ext uri="{BB962C8B-B14F-4D97-AF65-F5344CB8AC3E}">
        <p14:creationId xmlns:p14="http://schemas.microsoft.com/office/powerpoint/2010/main" val="99853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BF8F51D-CB65-418C-ADAF-21DDF17DF8E9}"/>
              </a:ext>
            </a:extLst>
          </p:cNvPr>
          <p:cNvSpPr/>
          <p:nvPr/>
        </p:nvSpPr>
        <p:spPr>
          <a:xfrm>
            <a:off x="440787" y="0"/>
            <a:ext cx="11310425" cy="655564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ru-RU" sz="2000" b="1" dirty="0">
                <a:solidFill>
                  <a:srgbClr val="FF0000"/>
                </a:solidFill>
                <a:latin typeface="Cambria" panose="02040503050406030204" pitchFamily="18" charset="0"/>
                <a:ea typeface="Cambria" panose="02040503050406030204" pitchFamily="18" charset="0"/>
              </a:rPr>
              <a:t>Классификация видов горения. </a:t>
            </a:r>
          </a:p>
          <a:p>
            <a:pPr algn="just"/>
            <a:r>
              <a:rPr lang="ru-RU" sz="2000" b="1" dirty="0">
                <a:solidFill>
                  <a:srgbClr val="FF0000"/>
                </a:solidFill>
                <a:latin typeface="Cambria" panose="02040503050406030204" pitchFamily="18" charset="0"/>
                <a:ea typeface="Cambria" panose="02040503050406030204" pitchFamily="18" charset="0"/>
              </a:rPr>
              <a:t>         Горение</a:t>
            </a:r>
            <a:r>
              <a:rPr lang="ru-RU" sz="2000" b="1" dirty="0">
                <a:latin typeface="Cambria" panose="02040503050406030204" pitchFamily="18" charset="0"/>
                <a:ea typeface="Cambria" panose="02040503050406030204" pitchFamily="18" charset="0"/>
              </a:rPr>
              <a:t> </a:t>
            </a:r>
            <a:r>
              <a:rPr lang="ru-RU" sz="2000" dirty="0">
                <a:latin typeface="Cambria" panose="02040503050406030204" pitchFamily="18" charset="0"/>
                <a:ea typeface="Cambria" panose="02040503050406030204" pitchFamily="18" charset="0"/>
              </a:rPr>
              <a:t>– сложное, быстро протекающее химическое превращение, сопровождающееся выделением значительного количества тепла и ярким свечением. В большинстве случаев горение происходит в результате экзотермического окисления вещества, способного к горению (горючего), - окислителем (кислородом воздуха, хлором, закисью азота и др.). К горению относят и другие процессы, связанные с быстрым превращением и тепловым или цепным их ускорением: разложение взрывчатых веществ, озона; распад ацетилена и т.д.</a:t>
            </a:r>
            <a:r>
              <a:rPr lang="ru-RU" sz="2000" dirty="0"/>
              <a:t> </a:t>
            </a:r>
            <a:r>
              <a:rPr lang="ru-RU" sz="2000" dirty="0">
                <a:latin typeface="Cambria" panose="02040503050406030204" pitchFamily="18" charset="0"/>
                <a:ea typeface="Cambria" panose="02040503050406030204" pitchFamily="18" charset="0"/>
              </a:rPr>
              <a:t>При пожарах и взрывах наблюдаются два вида горения: - полное горение происходит при наличии избыточного количества кислорода, необходимого для окисления; - неполное горение имеет место при недостаточном количестве кислорода. </a:t>
            </a:r>
          </a:p>
          <a:p>
            <a:pPr algn="just"/>
            <a:r>
              <a:rPr lang="ru-RU" sz="2000" b="1" dirty="0">
                <a:latin typeface="Cambria" panose="02040503050406030204" pitchFamily="18" charset="0"/>
                <a:ea typeface="Cambria" panose="02040503050406030204" pitchFamily="18" charset="0"/>
              </a:rPr>
              <a:t>В зависимости от агрегатного состояния горючего и окислителя различают три вида горения: </a:t>
            </a:r>
          </a:p>
          <a:p>
            <a:pPr marL="342900" indent="-342900" algn="just">
              <a:buFontTx/>
              <a:buChar char="-"/>
            </a:pPr>
            <a:r>
              <a:rPr lang="ru-RU" sz="2000" b="1" dirty="0">
                <a:solidFill>
                  <a:srgbClr val="FF0000"/>
                </a:solidFill>
                <a:latin typeface="Cambria" panose="02040503050406030204" pitchFamily="18" charset="0"/>
                <a:ea typeface="Cambria" panose="02040503050406030204" pitchFamily="18" charset="0"/>
              </a:rPr>
              <a:t>гомогенное горение</a:t>
            </a:r>
            <a:r>
              <a:rPr lang="ru-RU" sz="2000" b="1" dirty="0">
                <a:latin typeface="Cambria" panose="02040503050406030204" pitchFamily="18" charset="0"/>
                <a:ea typeface="Cambria" panose="02040503050406030204" pitchFamily="18" charset="0"/>
              </a:rPr>
              <a:t> </a:t>
            </a:r>
            <a:r>
              <a:rPr lang="ru-RU" sz="2000" dirty="0">
                <a:latin typeface="Cambria" panose="02040503050406030204" pitchFamily="18" charset="0"/>
                <a:ea typeface="Cambria" panose="02040503050406030204" pitchFamily="18" charset="0"/>
              </a:rPr>
              <a:t>газов и парообразных горючих веществ в среде газообразного окислителя; </a:t>
            </a:r>
          </a:p>
          <a:p>
            <a:pPr marL="342900" indent="-342900" algn="just">
              <a:buFontTx/>
              <a:buChar char="-"/>
            </a:pPr>
            <a:r>
              <a:rPr lang="ru-RU" sz="2000" b="1" dirty="0">
                <a:solidFill>
                  <a:srgbClr val="FF0000"/>
                </a:solidFill>
                <a:latin typeface="Cambria" panose="02040503050406030204" pitchFamily="18" charset="0"/>
                <a:ea typeface="Cambria" panose="02040503050406030204" pitchFamily="18" charset="0"/>
              </a:rPr>
              <a:t>гетерогенное горение </a:t>
            </a:r>
            <a:r>
              <a:rPr lang="ru-RU" sz="2000" dirty="0">
                <a:latin typeface="Cambria" panose="02040503050406030204" pitchFamily="18" charset="0"/>
                <a:ea typeface="Cambria" panose="02040503050406030204" pitchFamily="18" charset="0"/>
              </a:rPr>
              <a:t>жидких и твердых горючих веществ в среде газообразного окислителя; </a:t>
            </a:r>
          </a:p>
          <a:p>
            <a:pPr marL="342900" indent="-342900" algn="just">
              <a:buFontTx/>
              <a:buChar char="-"/>
            </a:pPr>
            <a:r>
              <a:rPr lang="ru-RU" sz="2000" b="1" dirty="0">
                <a:solidFill>
                  <a:srgbClr val="FF0000"/>
                </a:solidFill>
                <a:latin typeface="Cambria" panose="02040503050406030204" pitchFamily="18" charset="0"/>
                <a:ea typeface="Cambria" panose="02040503050406030204" pitchFamily="18" charset="0"/>
              </a:rPr>
              <a:t>горение взрывчатых веществ </a:t>
            </a:r>
            <a:r>
              <a:rPr lang="ru-RU" sz="2000" dirty="0">
                <a:latin typeface="Cambria" panose="02040503050406030204" pitchFamily="18" charset="0"/>
                <a:ea typeface="Cambria" panose="02040503050406030204" pitchFamily="18" charset="0"/>
              </a:rPr>
              <a:t>и порохов. </a:t>
            </a:r>
          </a:p>
          <a:p>
            <a:pPr algn="just"/>
            <a:r>
              <a:rPr lang="ru-RU" sz="2000" dirty="0">
                <a:latin typeface="Cambria" panose="02040503050406030204" pitchFamily="18" charset="0"/>
                <a:ea typeface="Cambria" panose="02040503050406030204" pitchFamily="18" charset="0"/>
              </a:rPr>
              <a:t>По скорости распространения пламени горение подразделяют на </a:t>
            </a:r>
            <a:r>
              <a:rPr lang="ru-RU" sz="2000" dirty="0" err="1">
                <a:latin typeface="Cambria" panose="02040503050406030204" pitchFamily="18" charset="0"/>
                <a:ea typeface="Cambria" panose="02040503050406030204" pitchFamily="18" charset="0"/>
              </a:rPr>
              <a:t>дефлаграционное</a:t>
            </a:r>
            <a:r>
              <a:rPr lang="ru-RU" sz="2000" dirty="0">
                <a:latin typeface="Cambria" panose="02040503050406030204" pitchFamily="18" charset="0"/>
                <a:ea typeface="Cambria" panose="02040503050406030204" pitchFamily="18" charset="0"/>
              </a:rPr>
              <a:t> (с латинского – сгорание дотла), протекающее с дозвуковыми скоростями, и детонацию, распространяющуюся со сверхзвуковыми скоростями (до 9 км/с). Дозвуковое горение подразделяется на ламинарное и турбулентное.</a:t>
            </a:r>
          </a:p>
        </p:txBody>
      </p:sp>
    </p:spTree>
    <p:extLst>
      <p:ext uri="{BB962C8B-B14F-4D97-AF65-F5344CB8AC3E}">
        <p14:creationId xmlns:p14="http://schemas.microsoft.com/office/powerpoint/2010/main" val="345348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8B4860DC-879D-433D-B86F-2B15A76AD9B6}"/>
              </a:ext>
            </a:extLst>
          </p:cNvPr>
          <p:cNvSpPr/>
          <p:nvPr/>
        </p:nvSpPr>
        <p:spPr>
          <a:xfrm>
            <a:off x="956603" y="197346"/>
            <a:ext cx="10621108" cy="646330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dirty="0">
                <a:latin typeface="Cambria" panose="02040503050406030204" pitchFamily="18" charset="0"/>
                <a:ea typeface="Cambria" panose="02040503050406030204" pitchFamily="18" charset="0"/>
              </a:rPr>
              <a:t>В соответствии со строительными нормами и правилами (СНиП II-90 - 81) производственные здания и склады по взрывной, взрывопожарной и пожарной опасности подразделяются на шесть категорий: А, Б, В, Г, Д, Е. </a:t>
            </a:r>
          </a:p>
          <a:p>
            <a:pPr algn="just"/>
            <a:r>
              <a:rPr lang="ru-RU" b="1" dirty="0">
                <a:solidFill>
                  <a:srgbClr val="FF0000"/>
                </a:solidFill>
                <a:latin typeface="Cambria" panose="02040503050406030204" pitchFamily="18" charset="0"/>
                <a:ea typeface="Cambria" panose="02040503050406030204" pitchFamily="18" charset="0"/>
              </a:rPr>
              <a:t>Категория А</a:t>
            </a:r>
            <a:r>
              <a:rPr lang="ru-RU" dirty="0">
                <a:latin typeface="Cambria" panose="02040503050406030204" pitchFamily="18" charset="0"/>
                <a:ea typeface="Cambria" panose="02040503050406030204" pitchFamily="18" charset="0"/>
              </a:rPr>
              <a:t> (взрывопожароопасные производства) включает производства, имеющие горючие </a:t>
            </a:r>
            <a:r>
              <a:rPr lang="ru-RU" dirty="0" err="1">
                <a:latin typeface="Cambria" panose="02040503050406030204" pitchFamily="18" charset="0"/>
                <a:ea typeface="Cambria" panose="02040503050406030204" pitchFamily="18" charset="0"/>
              </a:rPr>
              <a:t>газы</a:t>
            </a:r>
            <a:r>
              <a:rPr lang="ru-RU" dirty="0">
                <a:latin typeface="Cambria" panose="02040503050406030204" pitchFamily="18" charset="0"/>
                <a:ea typeface="Cambria" panose="02040503050406030204" pitchFamily="18" charset="0"/>
              </a:rPr>
              <a:t> с нижним концентрационным пределом воспламенения в воздухе 10% (объемных) и менее, жидкости с температурой вспышки </a:t>
            </a:r>
            <a:r>
              <a:rPr lang="ru-RU" b="1" dirty="0">
                <a:solidFill>
                  <a:srgbClr val="FF0000"/>
                </a:solidFill>
                <a:latin typeface="Cambria" panose="02040503050406030204" pitchFamily="18" charset="0"/>
                <a:ea typeface="Cambria" panose="02040503050406030204" pitchFamily="18" charset="0"/>
              </a:rPr>
              <a:t>до 28 °С </a:t>
            </a:r>
            <a:r>
              <a:rPr lang="ru-RU" dirty="0">
                <a:latin typeface="Cambria" panose="02040503050406030204" pitchFamily="18" charset="0"/>
                <a:ea typeface="Cambria" panose="02040503050406030204" pitchFamily="18" charset="0"/>
              </a:rPr>
              <a:t>включительно, а также вещества, способные взрываться и гореть при взаимодействии с водой, кислородом воздуха или друг с другом. </a:t>
            </a:r>
          </a:p>
          <a:p>
            <a:pPr algn="just"/>
            <a:r>
              <a:rPr lang="ru-RU" dirty="0">
                <a:latin typeface="Cambria" panose="02040503050406030204" pitchFamily="18" charset="0"/>
                <a:ea typeface="Cambria" panose="02040503050406030204" pitchFamily="18" charset="0"/>
              </a:rPr>
              <a:t>К </a:t>
            </a:r>
            <a:r>
              <a:rPr lang="ru-RU" b="1" dirty="0">
                <a:solidFill>
                  <a:srgbClr val="FF0000"/>
                </a:solidFill>
                <a:latin typeface="Cambria" panose="02040503050406030204" pitchFamily="18" charset="0"/>
                <a:ea typeface="Cambria" panose="02040503050406030204" pitchFamily="18" charset="0"/>
              </a:rPr>
              <a:t>категории Б </a:t>
            </a:r>
            <a:r>
              <a:rPr lang="ru-RU" dirty="0">
                <a:latin typeface="Cambria" panose="02040503050406030204" pitchFamily="18" charset="0"/>
                <a:ea typeface="Cambria" panose="02040503050406030204" pitchFamily="18" charset="0"/>
              </a:rPr>
              <a:t>(взрывопожароопасные производства) относятся производства, имеющие горючие </a:t>
            </a:r>
            <a:r>
              <a:rPr lang="ru-RU" dirty="0" err="1">
                <a:latin typeface="Cambria" panose="02040503050406030204" pitchFamily="18" charset="0"/>
                <a:ea typeface="Cambria" panose="02040503050406030204" pitchFamily="18" charset="0"/>
              </a:rPr>
              <a:t>газы</a:t>
            </a:r>
            <a:r>
              <a:rPr lang="ru-RU" dirty="0">
                <a:latin typeface="Cambria" panose="02040503050406030204" pitchFamily="18" charset="0"/>
                <a:ea typeface="Cambria" panose="02040503050406030204" pitchFamily="18" charset="0"/>
              </a:rPr>
              <a:t> с нижним концентрационным пределом воспламенения в воздухе больше 10% (объемных); жидкости с температурой вспышки свыше </a:t>
            </a:r>
            <a:r>
              <a:rPr lang="ru-RU" b="1" dirty="0">
                <a:solidFill>
                  <a:srgbClr val="FF0000"/>
                </a:solidFill>
                <a:latin typeface="Cambria" panose="02040503050406030204" pitchFamily="18" charset="0"/>
                <a:ea typeface="Cambria" panose="02040503050406030204" pitchFamily="18" charset="0"/>
              </a:rPr>
              <a:t>28 до 61°С </a:t>
            </a:r>
            <a:r>
              <a:rPr lang="ru-RU" dirty="0">
                <a:latin typeface="Cambria" panose="02040503050406030204" pitchFamily="18" charset="0"/>
                <a:ea typeface="Cambria" panose="02040503050406030204" pitchFamily="18" charset="0"/>
              </a:rPr>
              <a:t>включительно; </a:t>
            </a:r>
          </a:p>
          <a:p>
            <a:pPr algn="just"/>
            <a:r>
              <a:rPr lang="ru-RU" b="1" dirty="0">
                <a:solidFill>
                  <a:srgbClr val="FF0000"/>
                </a:solidFill>
                <a:latin typeface="Cambria" panose="02040503050406030204" pitchFamily="18" charset="0"/>
                <a:ea typeface="Cambria" panose="02040503050406030204" pitchFamily="18" charset="0"/>
              </a:rPr>
              <a:t>Категория В </a:t>
            </a:r>
            <a:r>
              <a:rPr lang="ru-RU" dirty="0">
                <a:latin typeface="Cambria" panose="02040503050406030204" pitchFamily="18" charset="0"/>
                <a:ea typeface="Cambria" panose="02040503050406030204" pitchFamily="18" charset="0"/>
              </a:rPr>
              <a:t>(пожароопасные производства) — производства, имеющие жидкости с температурой вспышки свыше </a:t>
            </a:r>
            <a:r>
              <a:rPr lang="ru-RU" dirty="0">
                <a:solidFill>
                  <a:srgbClr val="FF0000"/>
                </a:solidFill>
                <a:latin typeface="Cambria" panose="02040503050406030204" pitchFamily="18" charset="0"/>
                <a:ea typeface="Cambria" panose="02040503050406030204" pitchFamily="18" charset="0"/>
              </a:rPr>
              <a:t>61°С</a:t>
            </a:r>
            <a:r>
              <a:rPr lang="ru-RU" dirty="0">
                <a:latin typeface="Cambria" panose="02040503050406030204" pitchFamily="18" charset="0"/>
                <a:ea typeface="Cambria" panose="02040503050406030204" pitchFamily="18" charset="0"/>
              </a:rPr>
              <a:t>; </a:t>
            </a:r>
          </a:p>
          <a:p>
            <a:pPr algn="just"/>
            <a:r>
              <a:rPr lang="ru-RU" b="1" dirty="0">
                <a:solidFill>
                  <a:srgbClr val="FF0000"/>
                </a:solidFill>
                <a:latin typeface="Cambria" panose="02040503050406030204" pitchFamily="18" charset="0"/>
                <a:ea typeface="Cambria" panose="02040503050406030204" pitchFamily="18" charset="0"/>
              </a:rPr>
              <a:t>Категория Г </a:t>
            </a:r>
            <a:r>
              <a:rPr lang="ru-RU" dirty="0">
                <a:latin typeface="Cambria" panose="02040503050406030204" pitchFamily="18" charset="0"/>
                <a:ea typeface="Cambria" panose="02040503050406030204" pitchFamily="18" charset="0"/>
              </a:rPr>
              <a:t>— это производства, имеющие несгораемые вещества и материалы в горячем, раскаленном или расплавленном состоянии, процесс обработки которых сопровождается выделением лучистой теплоты, искр и пламени; твердые вещества, жидкости и </a:t>
            </a:r>
            <a:r>
              <a:rPr lang="ru-RU" dirty="0" err="1">
                <a:latin typeface="Cambria" panose="02040503050406030204" pitchFamily="18" charset="0"/>
                <a:ea typeface="Cambria" panose="02040503050406030204" pitchFamily="18" charset="0"/>
              </a:rPr>
              <a:t>газы</a:t>
            </a:r>
            <a:r>
              <a:rPr lang="ru-RU" dirty="0">
                <a:latin typeface="Cambria" panose="02040503050406030204" pitchFamily="18" charset="0"/>
                <a:ea typeface="Cambria" panose="02040503050406030204" pitchFamily="18" charset="0"/>
              </a:rPr>
              <a:t>, которые сжигаются или утилизируются в качестве топлива. </a:t>
            </a:r>
          </a:p>
          <a:p>
            <a:pPr algn="just"/>
            <a:r>
              <a:rPr lang="ru-RU" dirty="0">
                <a:latin typeface="Cambria" panose="02040503050406030204" pitchFamily="18" charset="0"/>
                <a:ea typeface="Cambria" panose="02040503050406030204" pitchFamily="18" charset="0"/>
              </a:rPr>
              <a:t>К </a:t>
            </a:r>
            <a:r>
              <a:rPr lang="ru-RU" b="1" dirty="0">
                <a:solidFill>
                  <a:srgbClr val="FF0000"/>
                </a:solidFill>
                <a:latin typeface="Cambria" panose="02040503050406030204" pitchFamily="18" charset="0"/>
                <a:ea typeface="Cambria" panose="02040503050406030204" pitchFamily="18" charset="0"/>
              </a:rPr>
              <a:t>категории Д </a:t>
            </a:r>
            <a:r>
              <a:rPr lang="ru-RU" dirty="0">
                <a:latin typeface="Cambria" panose="02040503050406030204" pitchFamily="18" charset="0"/>
                <a:ea typeface="Cambria" panose="02040503050406030204" pitchFamily="18" charset="0"/>
              </a:rPr>
              <a:t>относятся производства с </a:t>
            </a:r>
            <a:r>
              <a:rPr lang="ru-RU" dirty="0" err="1">
                <a:latin typeface="Cambria" panose="02040503050406030204" pitchFamily="18" charset="0"/>
                <a:ea typeface="Cambria" panose="02040503050406030204" pitchFamily="18" charset="0"/>
              </a:rPr>
              <a:t>непожароопасными</a:t>
            </a:r>
            <a:r>
              <a:rPr lang="ru-RU" dirty="0">
                <a:latin typeface="Cambria" panose="02040503050406030204" pitchFamily="18" charset="0"/>
                <a:ea typeface="Cambria" panose="02040503050406030204" pitchFamily="18" charset="0"/>
              </a:rPr>
              <a:t> технологическими процессами, где имеются несгораемые вещества и материалы в холодном состоянии. </a:t>
            </a:r>
          </a:p>
          <a:p>
            <a:pPr algn="just"/>
            <a:r>
              <a:rPr lang="ru-RU" dirty="0">
                <a:solidFill>
                  <a:srgbClr val="FF0000"/>
                </a:solidFill>
                <a:latin typeface="Cambria" panose="02040503050406030204" pitchFamily="18" charset="0"/>
                <a:ea typeface="Cambria" panose="02040503050406030204" pitchFamily="18" charset="0"/>
              </a:rPr>
              <a:t>К </a:t>
            </a:r>
            <a:r>
              <a:rPr lang="ru-RU" b="1" dirty="0">
                <a:solidFill>
                  <a:srgbClr val="FF0000"/>
                </a:solidFill>
                <a:latin typeface="Cambria" panose="02040503050406030204" pitchFamily="18" charset="0"/>
                <a:ea typeface="Cambria" panose="02040503050406030204" pitchFamily="18" charset="0"/>
              </a:rPr>
              <a:t>категории Е </a:t>
            </a:r>
            <a:r>
              <a:rPr lang="ru-RU" dirty="0">
                <a:latin typeface="Cambria" panose="02040503050406030204" pitchFamily="18" charset="0"/>
                <a:ea typeface="Cambria" panose="02040503050406030204" pitchFamily="18" charset="0"/>
              </a:rPr>
              <a:t>относятся производства, где имеются горючие </a:t>
            </a:r>
            <a:r>
              <a:rPr lang="ru-RU" dirty="0" err="1">
                <a:latin typeface="Cambria" panose="02040503050406030204" pitchFamily="18" charset="0"/>
                <a:ea typeface="Cambria" panose="02040503050406030204" pitchFamily="18" charset="0"/>
              </a:rPr>
              <a:t>газы</a:t>
            </a:r>
            <a:r>
              <a:rPr lang="ru-RU" dirty="0">
                <a:latin typeface="Cambria" panose="02040503050406030204" pitchFamily="18" charset="0"/>
                <a:ea typeface="Cambria" panose="02040503050406030204" pitchFamily="18" charset="0"/>
              </a:rPr>
              <a:t> без жидкой фазы, а взрывоопасная пыль в таком количестве, при котором из неё могут образоваться взрывоопасные смеси в объеме превышающем 5% объема воздуха в помещении, в котором, по условиям технологического; вещества, способные взрываться при взаимодействии с водой, кислородом воздуха или друг с другом. </a:t>
            </a:r>
            <a:endParaRPr lang="ru-KZ"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19722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B9F48BC8-465F-4887-A645-73D149B5F482}"/>
              </a:ext>
            </a:extLst>
          </p:cNvPr>
          <p:cNvSpPr/>
          <p:nvPr/>
        </p:nvSpPr>
        <p:spPr>
          <a:xfrm>
            <a:off x="1148576" y="503114"/>
            <a:ext cx="9846525"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ru-RU" b="1" dirty="0">
                <a:solidFill>
                  <a:srgbClr val="FF0000"/>
                </a:solidFill>
              </a:rPr>
              <a:t>Меры по ограничению масштабов пожара. </a:t>
            </a:r>
          </a:p>
          <a:p>
            <a:r>
              <a:rPr lang="ru-RU" b="1" dirty="0">
                <a:latin typeface="Cambria" panose="02040503050406030204" pitchFamily="18" charset="0"/>
                <a:ea typeface="Cambria" panose="02040503050406030204" pitchFamily="18" charset="0"/>
              </a:rPr>
              <a:t>Предотвращения развития пожаров и уменьшения последствий от них можно достигнуть следующими мерами: </a:t>
            </a:r>
          </a:p>
          <a:p>
            <a:r>
              <a:rPr lang="ru-RU" dirty="0">
                <a:latin typeface="Cambria" panose="02040503050406030204" pitchFamily="18" charset="0"/>
                <a:ea typeface="Cambria" panose="02040503050406030204" pitchFamily="18" charset="0"/>
              </a:rPr>
              <a:t>-    ограничением масштабов пожара; </a:t>
            </a:r>
          </a:p>
          <a:p>
            <a:pPr marL="285750" indent="-285750">
              <a:buFontTx/>
              <a:buChar char="-"/>
            </a:pPr>
            <a:r>
              <a:rPr lang="ru-RU" dirty="0">
                <a:latin typeface="Cambria" panose="02040503050406030204" pitchFamily="18" charset="0"/>
                <a:ea typeface="Cambria" panose="02040503050406030204" pitchFamily="18" charset="0"/>
              </a:rPr>
              <a:t>обеспечением своевременной эвакуации людей при пожаре; </a:t>
            </a:r>
          </a:p>
          <a:p>
            <a:pPr marL="285750" indent="-285750">
              <a:buFontTx/>
              <a:buChar char="-"/>
            </a:pPr>
            <a:r>
              <a:rPr lang="ru-RU" dirty="0">
                <a:latin typeface="Cambria" panose="02040503050406030204" pitchFamily="18" charset="0"/>
                <a:ea typeface="Cambria" panose="02040503050406030204" pitchFamily="18" charset="0"/>
              </a:rPr>
              <a:t>снижением задымления помещений и зданий в целом; - огнезащитой строительных конструкций. Распространение пожара может происходить по поверхности горючей нагрузки внутри здания и по строительным конструкциям; </a:t>
            </a:r>
          </a:p>
          <a:p>
            <a:pPr marL="285750" indent="-285750">
              <a:buFontTx/>
              <a:buChar char="-"/>
            </a:pPr>
            <a:r>
              <a:rPr lang="ru-RU" dirty="0">
                <a:latin typeface="Cambria" panose="02040503050406030204" pitchFamily="18" charset="0"/>
                <a:ea typeface="Cambria" panose="02040503050406030204" pitchFamily="18" charset="0"/>
              </a:rPr>
              <a:t>в результате возникновения новых очагов в объеме здания, а также между зданиями и сооружениями. </a:t>
            </a:r>
          </a:p>
          <a:p>
            <a:r>
              <a:rPr lang="ru-RU" b="1" dirty="0">
                <a:latin typeface="Cambria" panose="02040503050406030204" pitchFamily="18" charset="0"/>
                <a:ea typeface="Cambria" panose="02040503050406030204" pitchFamily="18" charset="0"/>
              </a:rPr>
              <a:t>В связи с этим при нормировании и проектировании предусматривается ряд строительных требований: </a:t>
            </a:r>
          </a:p>
          <a:p>
            <a:pPr marL="285750" indent="-285750">
              <a:buFontTx/>
              <a:buChar char="-"/>
            </a:pPr>
            <a:r>
              <a:rPr lang="ru-RU" dirty="0">
                <a:latin typeface="Cambria" panose="02040503050406030204" pitchFamily="18" charset="0"/>
                <a:ea typeface="Cambria" panose="02040503050406030204" pitchFamily="18" charset="0"/>
              </a:rPr>
              <a:t>разделение зданий противопожарными стенками противопожарными перекрытиями на пожарные отсеки; </a:t>
            </a:r>
          </a:p>
          <a:p>
            <a:pPr marL="285750" indent="-285750">
              <a:buFontTx/>
              <a:buChar char="-"/>
            </a:pPr>
            <a:r>
              <a:rPr lang="ru-RU" dirty="0">
                <a:latin typeface="Cambria" panose="02040503050406030204" pitchFamily="18" charset="0"/>
                <a:ea typeface="Cambria" panose="02040503050406030204" pitchFamily="18" charset="0"/>
              </a:rPr>
              <a:t>разделение зданий противопожарными перегородками на секции; </a:t>
            </a:r>
          </a:p>
          <a:p>
            <a:pPr marL="285750" indent="-285750">
              <a:buFontTx/>
              <a:buChar char="-"/>
            </a:pPr>
            <a:r>
              <a:rPr lang="ru-RU" dirty="0">
                <a:latin typeface="Cambria" panose="02040503050406030204" pitchFamily="18" charset="0"/>
                <a:ea typeface="Cambria" panose="02040503050406030204" pitchFamily="18" charset="0"/>
              </a:rPr>
              <a:t>устройство противопожарных преград для или ограничения распространения огня по конструкциям, по горючим материалам (гребни, козырьки, пояса и др.); </a:t>
            </a:r>
          </a:p>
          <a:p>
            <a:pPr marL="285750" indent="-285750">
              <a:buFontTx/>
              <a:buChar char="-"/>
            </a:pPr>
            <a:r>
              <a:rPr lang="ru-RU" dirty="0">
                <a:latin typeface="Cambria" panose="02040503050406030204" pitchFamily="18" charset="0"/>
                <a:ea typeface="Cambria" panose="02040503050406030204" pitchFamily="18" charset="0"/>
              </a:rPr>
              <a:t>устройство противопожарных дверей и ворот; </a:t>
            </a:r>
          </a:p>
          <a:p>
            <a:pPr marL="285750" indent="-285750">
              <a:buFontTx/>
              <a:buChar char="-"/>
            </a:pPr>
            <a:r>
              <a:rPr lang="ru-RU" dirty="0">
                <a:latin typeface="Cambria" panose="02040503050406030204" pitchFamily="18" charset="0"/>
                <a:ea typeface="Cambria" panose="02040503050406030204" pitchFamily="18" charset="0"/>
              </a:rPr>
              <a:t>устройство противопожарных разрывов между зданиями. </a:t>
            </a:r>
            <a:endParaRPr lang="ru-KZ"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84375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26B3D986-C5C8-4F6A-83CA-ECCFC9B85623}"/>
              </a:ext>
            </a:extLst>
          </p:cNvPr>
          <p:cNvSpPr/>
          <p:nvPr/>
        </p:nvSpPr>
        <p:spPr>
          <a:xfrm>
            <a:off x="1683834" y="483055"/>
            <a:ext cx="8486078"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ru-RU" dirty="0">
                <a:latin typeface="Cambria" panose="02040503050406030204" pitchFamily="18" charset="0"/>
                <a:ea typeface="Cambria" panose="02040503050406030204" pitchFamily="18" charset="0"/>
              </a:rPr>
              <a:t>В качестве </a:t>
            </a:r>
            <a:r>
              <a:rPr lang="ru-RU" dirty="0" err="1">
                <a:latin typeface="Cambria" panose="02040503050406030204" pitchFamily="18" charset="0"/>
                <a:ea typeface="Cambria" panose="02040503050406030204" pitchFamily="18" charset="0"/>
              </a:rPr>
              <a:t>огнегасительных</a:t>
            </a:r>
            <a:r>
              <a:rPr lang="ru-RU" dirty="0">
                <a:latin typeface="Cambria" panose="02040503050406030204" pitchFamily="18" charset="0"/>
                <a:ea typeface="Cambria" panose="02040503050406030204" pitchFamily="18" charset="0"/>
              </a:rPr>
              <a:t> устройств применяются </a:t>
            </a:r>
            <a:r>
              <a:rPr lang="ru-RU" dirty="0">
                <a:solidFill>
                  <a:srgbClr val="FF0000"/>
                </a:solidFill>
                <a:latin typeface="Cambria" panose="02040503050406030204" pitchFamily="18" charset="0"/>
                <a:ea typeface="Cambria" panose="02040503050406030204" pitchFamily="18" charset="0"/>
              </a:rPr>
              <a:t>первичные средства пожаротушения и стационарные установки пожаротушения</a:t>
            </a:r>
            <a:r>
              <a:rPr lang="ru-RU" dirty="0">
                <a:latin typeface="Cambria" panose="02040503050406030204" pitchFamily="18" charset="0"/>
                <a:ea typeface="Cambria" panose="02040503050406030204" pitchFamily="18" charset="0"/>
              </a:rPr>
              <a:t>. Для локализации или ликвидации загорания на начальной стадии используются первичные средства пожаротушения. Первичные средства пожаротушения обычно применяют до прибытия пожарной команды. </a:t>
            </a:r>
          </a:p>
          <a:p>
            <a:pPr algn="just"/>
            <a:r>
              <a:rPr lang="ru-RU" b="1" dirty="0">
                <a:solidFill>
                  <a:srgbClr val="FF0000"/>
                </a:solidFill>
                <a:latin typeface="Cambria" panose="02040503050406030204" pitchFamily="18" charset="0"/>
                <a:ea typeface="Cambria" panose="02040503050406030204" pitchFamily="18" charset="0"/>
              </a:rPr>
              <a:t>Первичные средства пожаротушения подразделяются на следующие типы: </a:t>
            </a:r>
          </a:p>
          <a:p>
            <a:pPr marL="285750" indent="-285750" algn="just">
              <a:buFont typeface="Wingdings" panose="05000000000000000000" pitchFamily="2" charset="2"/>
              <a:buChar char="v"/>
            </a:pPr>
            <a:r>
              <a:rPr lang="ru-RU" dirty="0">
                <a:latin typeface="Cambria" panose="02040503050406030204" pitchFamily="18" charset="0"/>
                <a:ea typeface="Cambria" panose="02040503050406030204" pitchFamily="18" charset="0"/>
              </a:rPr>
              <a:t>переносные и передвижные огнетушители; </a:t>
            </a:r>
          </a:p>
          <a:p>
            <a:pPr marL="285750" indent="-285750" algn="just">
              <a:buFont typeface="Wingdings" panose="05000000000000000000" pitchFamily="2" charset="2"/>
              <a:buChar char="v"/>
            </a:pPr>
            <a:r>
              <a:rPr lang="ru-RU" dirty="0">
                <a:latin typeface="Cambria" panose="02040503050406030204" pitchFamily="18" charset="0"/>
                <a:ea typeface="Cambria" panose="02040503050406030204" pitchFamily="18" charset="0"/>
              </a:rPr>
              <a:t>пожарный кран; </a:t>
            </a:r>
          </a:p>
          <a:p>
            <a:pPr marL="285750" indent="-285750" algn="just">
              <a:buFont typeface="Wingdings" panose="05000000000000000000" pitchFamily="2" charset="2"/>
              <a:buChar char="v"/>
            </a:pPr>
            <a:r>
              <a:rPr lang="ru-RU" dirty="0">
                <a:latin typeface="Cambria" panose="02040503050406030204" pitchFamily="18" charset="0"/>
                <a:ea typeface="Cambria" panose="02040503050406030204" pitchFamily="18" charset="0"/>
              </a:rPr>
              <a:t>пожарный инвентарь; </a:t>
            </a:r>
          </a:p>
          <a:p>
            <a:pPr marL="285750" indent="-285750" algn="just">
              <a:buFont typeface="Wingdings" panose="05000000000000000000" pitchFamily="2" charset="2"/>
              <a:buChar char="v"/>
            </a:pPr>
            <a:r>
              <a:rPr lang="ru-RU" dirty="0">
                <a:latin typeface="Cambria" panose="02040503050406030204" pitchFamily="18" charset="0"/>
                <a:ea typeface="Cambria" panose="02040503050406030204" pitchFamily="18" charset="0"/>
              </a:rPr>
              <a:t>асбестовые и брезентовые покрывала для изоляции очага возгорания. </a:t>
            </a:r>
          </a:p>
          <a:p>
            <a:pPr algn="just"/>
            <a:r>
              <a:rPr lang="ru-RU" i="1" dirty="0">
                <a:solidFill>
                  <a:srgbClr val="FF0000"/>
                </a:solidFill>
                <a:latin typeface="Cambria" panose="02040503050406030204" pitchFamily="18" charset="0"/>
                <a:ea typeface="Cambria" panose="02040503050406030204" pitchFamily="18" charset="0"/>
              </a:rPr>
              <a:t>Пожарный инвентарь </a:t>
            </a:r>
            <a:r>
              <a:rPr lang="ru-RU" dirty="0">
                <a:latin typeface="Cambria" panose="02040503050406030204" pitchFamily="18" charset="0"/>
                <a:ea typeface="Cambria" panose="02040503050406030204" pitchFamily="18" charset="0"/>
              </a:rPr>
              <a:t>применяют на стадии развития пожара. Лом, топор, универсальный крюк используют для разрушения горящих конструкций, вскрытия путей эвакуации. Багор применяется для изъятия из зоны горения наиболее ценных вещей, удаления из нее горящих предметов. Асбестовые и брезентовые покрывала предназначены для изоляции очага горения от доступа воздуха, но применяются лишь при небольшом очаге горения. Ведра используются для </a:t>
            </a:r>
            <a:r>
              <a:rPr lang="ru-RU" dirty="0" err="1">
                <a:latin typeface="Cambria" panose="02040503050406030204" pitchFamily="18" charset="0"/>
                <a:ea typeface="Cambria" panose="02040503050406030204" pitchFamily="18" charset="0"/>
              </a:rPr>
              <a:t>огнегашения</a:t>
            </a:r>
            <a:r>
              <a:rPr lang="ru-RU" dirty="0">
                <a:latin typeface="Cambria" panose="02040503050406030204" pitchFamily="18" charset="0"/>
                <a:ea typeface="Cambria" panose="02040503050406030204" pitchFamily="18" charset="0"/>
              </a:rPr>
              <a:t> водой. Лопаты применяются для покрытия очага песком, землей. </a:t>
            </a:r>
            <a:endParaRPr lang="ru-KZ"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83791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14A2BD9B-F180-4BED-B2EF-BCF8506E8D6E}"/>
              </a:ext>
            </a:extLst>
          </p:cNvPr>
          <p:cNvSpPr/>
          <p:nvPr/>
        </p:nvSpPr>
        <p:spPr>
          <a:xfrm>
            <a:off x="2219092" y="741314"/>
            <a:ext cx="7326351" cy="50167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gn="just">
              <a:buFont typeface="Wingdings" panose="05000000000000000000" pitchFamily="2" charset="2"/>
              <a:buChar char="v"/>
            </a:pPr>
            <a:r>
              <a:rPr lang="ru-RU" sz="2000" b="1" dirty="0">
                <a:solidFill>
                  <a:srgbClr val="FF0000"/>
                </a:solidFill>
                <a:latin typeface="Cambria" panose="02040503050406030204" pitchFamily="18" charset="0"/>
                <a:ea typeface="Cambria" panose="02040503050406030204" pitchFamily="18" charset="0"/>
              </a:rPr>
              <a:t>Пожарный щит. </a:t>
            </a:r>
            <a:r>
              <a:rPr lang="ru-RU" sz="2000" dirty="0">
                <a:latin typeface="Cambria" panose="02040503050406030204" pitchFamily="18" charset="0"/>
                <a:ea typeface="Cambria" panose="02040503050406030204" pitchFamily="18" charset="0"/>
              </a:rPr>
              <a:t>Для размещения первичных средств огнетушения в зданиях и помещениях устанавливают пожарные щиты, на которых размещают огнетушители и пожарный инвентарь (ломы, багры, топоры, ведра, покрывала). Рядом со щитом устанавливается ящик с песком и лопатами, а также бочка с водой объемом 200–250 л. </a:t>
            </a:r>
          </a:p>
          <a:p>
            <a:pPr algn="just"/>
            <a:r>
              <a:rPr lang="ru-RU" sz="2000" b="1" dirty="0">
                <a:solidFill>
                  <a:srgbClr val="FF0000"/>
                </a:solidFill>
                <a:latin typeface="Cambria" panose="02040503050406030204" pitchFamily="18" charset="0"/>
                <a:ea typeface="Cambria" panose="02040503050406030204" pitchFamily="18" charset="0"/>
              </a:rPr>
              <a:t>Пожарные щиты размещают в следующих случаях: </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если помещения не оборудованы внутренним противопожарным водопроводом и автоматическими установками пожаротушения; </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если на территории предприятий не имеется наружный противопожарный водопровод; </a:t>
            </a:r>
          </a:p>
          <a:p>
            <a:pPr marL="342900" indent="-342900" algn="just">
              <a:buFont typeface="Wingdings" panose="05000000000000000000" pitchFamily="2" charset="2"/>
              <a:buChar char="v"/>
            </a:pPr>
            <a:r>
              <a:rPr lang="ru-RU" sz="2000" dirty="0">
                <a:latin typeface="Cambria" panose="02040503050406030204" pitchFamily="18" charset="0"/>
                <a:ea typeface="Cambria" panose="02040503050406030204" pitchFamily="18" charset="0"/>
              </a:rPr>
              <a:t>если наружные пожарные водоисточники удалены от зданий, наружных технологических установок предприятий на расстояние более 100 м. </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06660131"/>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221</TotalTime>
  <Words>1278</Words>
  <Application>Microsoft Office PowerPoint</Application>
  <PresentationFormat>Широкоэкранный</PresentationFormat>
  <Paragraphs>81</Paragraphs>
  <Slides>11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11</vt:i4>
      </vt:variant>
    </vt:vector>
  </HeadingPairs>
  <TitlesOfParts>
    <vt:vector size="16" baseType="lpstr">
      <vt:lpstr>Calibri</vt:lpstr>
      <vt:lpstr>Calibri Light</vt:lpstr>
      <vt:lpstr>Cambria</vt:lpstr>
      <vt:lpstr>Wingdings</vt:lpstr>
      <vt:lpstr>Ретро</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Нуржамал Ермуханова</cp:lastModifiedBy>
  <cp:revision>18</cp:revision>
  <dcterms:created xsi:type="dcterms:W3CDTF">2025-03-31T08:24:06Z</dcterms:created>
  <dcterms:modified xsi:type="dcterms:W3CDTF">2026-03-09T15:22:09Z</dcterms:modified>
</cp:coreProperties>
</file>