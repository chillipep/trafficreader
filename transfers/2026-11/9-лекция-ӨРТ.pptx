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63" r:id="rId2"/>
    <p:sldId id="256" r:id="rId3"/>
    <p:sldId id="272" r:id="rId4"/>
    <p:sldId id="257" r:id="rId5"/>
    <p:sldId id="264" r:id="rId6"/>
    <p:sldId id="258" r:id="rId7"/>
    <p:sldId id="259" r:id="rId8"/>
    <p:sldId id="266" r:id="rId9"/>
    <p:sldId id="267" r:id="rId10"/>
    <p:sldId id="268" r:id="rId11"/>
    <p:sldId id="270" r:id="rId12"/>
    <p:sldId id="269" r:id="rId13"/>
    <p:sldId id="262" r:id="rId14"/>
    <p:sldId id="260" r:id="rId15"/>
    <p:sldId id="261" r:id="rId16"/>
    <p:sldId id="265" r:id="rId17"/>
    <p:sldId id="271" r:id="rId18"/>
    <p:sldId id="273" r:id="rId19"/>
    <p:sldId id="274" r:id="rId20"/>
    <p:sldId id="275"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Нет стиля, сетка таблиц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0" d="100"/>
          <a:sy n="110" d="100"/>
        </p:scale>
        <p:origin x="594"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ru-RU"/>
              <a:t>Образец заголовка</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p>
            <a:fld id="{B79BB352-A4DD-4BD0-AF08-A1445034FFA5}" type="datetimeFigureOut">
              <a:rPr lang="ru-KZ" smtClean="0"/>
              <a:t>08.03.2026</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B2E971D6-5629-41CA-827E-CC97BAA205E2}" type="slidenum">
              <a:rPr lang="ru-KZ" smtClean="0"/>
              <a:t>‹#›</a:t>
            </a:fld>
            <a:endParaRPr lang="ru-KZ"/>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963366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79BB352-A4DD-4BD0-AF08-A1445034FFA5}" type="datetimeFigureOut">
              <a:rPr lang="ru-KZ" smtClean="0"/>
              <a:t>08.03.2026</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B2E971D6-5629-41CA-827E-CC97BAA205E2}" type="slidenum">
              <a:rPr lang="ru-KZ" smtClean="0"/>
              <a:t>‹#›</a:t>
            </a:fld>
            <a:endParaRPr lang="ru-KZ"/>
          </a:p>
        </p:txBody>
      </p:sp>
    </p:spTree>
    <p:extLst>
      <p:ext uri="{BB962C8B-B14F-4D97-AF65-F5344CB8AC3E}">
        <p14:creationId xmlns:p14="http://schemas.microsoft.com/office/powerpoint/2010/main" val="94268812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Заголовок раздела">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ru-RU"/>
              <a:t>Образец заголовка</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B79BB352-A4DD-4BD0-AF08-A1445034FFA5}" type="datetimeFigureOut">
              <a:rPr lang="ru-KZ" smtClean="0"/>
              <a:t>08.03.2026</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B2E971D6-5629-41CA-827E-CC97BAA205E2}" type="slidenum">
              <a:rPr lang="ru-KZ" smtClean="0"/>
              <a:t>‹#›</a:t>
            </a:fld>
            <a:endParaRPr lang="ru-KZ"/>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96818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B79BB352-A4DD-4BD0-AF08-A1445034FFA5}" type="datetimeFigureOut">
              <a:rPr lang="ru-KZ" smtClean="0"/>
              <a:t>08.03.2026</a:t>
            </a:fld>
            <a:endParaRPr lang="ru-KZ"/>
          </a:p>
        </p:txBody>
      </p:sp>
      <p:sp>
        <p:nvSpPr>
          <p:cNvPr id="6" name="Footer Placeholder 5"/>
          <p:cNvSpPr>
            <a:spLocks noGrp="1"/>
          </p:cNvSpPr>
          <p:nvPr>
            <p:ph type="ftr" sz="quarter" idx="11"/>
          </p:nvPr>
        </p:nvSpPr>
        <p:spPr/>
        <p:txBody>
          <a:bodyPr/>
          <a:lstStyle/>
          <a:p>
            <a:endParaRPr lang="ru-KZ"/>
          </a:p>
        </p:txBody>
      </p:sp>
      <p:sp>
        <p:nvSpPr>
          <p:cNvPr id="7" name="Slide Number Placeholder 6"/>
          <p:cNvSpPr>
            <a:spLocks noGrp="1"/>
          </p:cNvSpPr>
          <p:nvPr>
            <p:ph type="sldNum" sz="quarter" idx="12"/>
          </p:nvPr>
        </p:nvSpPr>
        <p:spPr/>
        <p:txBody>
          <a:bodyPr/>
          <a:lstStyle/>
          <a:p>
            <a:fld id="{B2E971D6-5629-41CA-827E-CC97BAA205E2}" type="slidenum">
              <a:rPr lang="ru-KZ" smtClean="0"/>
              <a:t>‹#›</a:t>
            </a:fld>
            <a:endParaRPr lang="ru-KZ"/>
          </a:p>
        </p:txBody>
      </p:sp>
    </p:spTree>
    <p:extLst>
      <p:ext uri="{BB962C8B-B14F-4D97-AF65-F5344CB8AC3E}">
        <p14:creationId xmlns:p14="http://schemas.microsoft.com/office/powerpoint/2010/main" val="36030299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ru-RU"/>
              <a:t>Образец заголовка</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09728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17920" y="2582334"/>
            <a:ext cx="4937760" cy="33782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B79BB352-A4DD-4BD0-AF08-A1445034FFA5}" type="datetimeFigureOut">
              <a:rPr lang="ru-KZ" smtClean="0"/>
              <a:t>08.03.2026</a:t>
            </a:fld>
            <a:endParaRPr lang="ru-KZ"/>
          </a:p>
        </p:txBody>
      </p:sp>
      <p:sp>
        <p:nvSpPr>
          <p:cNvPr id="8" name="Footer Placeholder 7"/>
          <p:cNvSpPr>
            <a:spLocks noGrp="1"/>
          </p:cNvSpPr>
          <p:nvPr>
            <p:ph type="ftr" sz="quarter" idx="11"/>
          </p:nvPr>
        </p:nvSpPr>
        <p:spPr/>
        <p:txBody>
          <a:bodyPr/>
          <a:lstStyle/>
          <a:p>
            <a:endParaRPr lang="ru-KZ"/>
          </a:p>
        </p:txBody>
      </p:sp>
      <p:sp>
        <p:nvSpPr>
          <p:cNvPr id="9" name="Slide Number Placeholder 8"/>
          <p:cNvSpPr>
            <a:spLocks noGrp="1"/>
          </p:cNvSpPr>
          <p:nvPr>
            <p:ph type="sldNum" sz="quarter" idx="12"/>
          </p:nvPr>
        </p:nvSpPr>
        <p:spPr/>
        <p:txBody>
          <a:bodyPr/>
          <a:lstStyle/>
          <a:p>
            <a:fld id="{B2E971D6-5629-41CA-827E-CC97BAA205E2}" type="slidenum">
              <a:rPr lang="ru-KZ" smtClean="0"/>
              <a:t>‹#›</a:t>
            </a:fld>
            <a:endParaRPr lang="ru-KZ"/>
          </a:p>
        </p:txBody>
      </p:sp>
    </p:spTree>
    <p:extLst>
      <p:ext uri="{BB962C8B-B14F-4D97-AF65-F5344CB8AC3E}">
        <p14:creationId xmlns:p14="http://schemas.microsoft.com/office/powerpoint/2010/main" val="2172717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B79BB352-A4DD-4BD0-AF08-A1445034FFA5}" type="datetimeFigureOut">
              <a:rPr lang="ru-KZ" smtClean="0"/>
              <a:t>08.03.2026</a:t>
            </a:fld>
            <a:endParaRPr lang="ru-KZ"/>
          </a:p>
        </p:txBody>
      </p:sp>
      <p:sp>
        <p:nvSpPr>
          <p:cNvPr id="4" name="Footer Placeholder 3"/>
          <p:cNvSpPr>
            <a:spLocks noGrp="1"/>
          </p:cNvSpPr>
          <p:nvPr>
            <p:ph type="ftr" sz="quarter" idx="11"/>
          </p:nvPr>
        </p:nvSpPr>
        <p:spPr/>
        <p:txBody>
          <a:bodyPr/>
          <a:lstStyle/>
          <a:p>
            <a:endParaRPr lang="ru-KZ"/>
          </a:p>
        </p:txBody>
      </p:sp>
      <p:sp>
        <p:nvSpPr>
          <p:cNvPr id="5" name="Slide Number Placeholder 4"/>
          <p:cNvSpPr>
            <a:spLocks noGrp="1"/>
          </p:cNvSpPr>
          <p:nvPr>
            <p:ph type="sldNum" sz="quarter" idx="12"/>
          </p:nvPr>
        </p:nvSpPr>
        <p:spPr/>
        <p:txBody>
          <a:bodyPr/>
          <a:lstStyle/>
          <a:p>
            <a:fld id="{B2E971D6-5629-41CA-827E-CC97BAA205E2}" type="slidenum">
              <a:rPr lang="ru-KZ" smtClean="0"/>
              <a:t>‹#›</a:t>
            </a:fld>
            <a:endParaRPr lang="ru-KZ"/>
          </a:p>
        </p:txBody>
      </p:sp>
    </p:spTree>
    <p:extLst>
      <p:ext uri="{BB962C8B-B14F-4D97-AF65-F5344CB8AC3E}">
        <p14:creationId xmlns:p14="http://schemas.microsoft.com/office/powerpoint/2010/main" val="2282555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Пустой слайд">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B79BB352-A4DD-4BD0-AF08-A1445034FFA5}" type="datetimeFigureOut">
              <a:rPr lang="ru-KZ" smtClean="0"/>
              <a:t>08.03.2026</a:t>
            </a:fld>
            <a:endParaRPr lang="ru-KZ"/>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ru-KZ"/>
          </a:p>
        </p:txBody>
      </p:sp>
      <p:sp>
        <p:nvSpPr>
          <p:cNvPr id="9" name="Slide Number Placeholder 8"/>
          <p:cNvSpPr>
            <a:spLocks noGrp="1"/>
          </p:cNvSpPr>
          <p:nvPr>
            <p:ph type="sldNum" sz="quarter" idx="12"/>
          </p:nvPr>
        </p:nvSpPr>
        <p:spPr/>
        <p:txBody>
          <a:bodyPr/>
          <a:lstStyle/>
          <a:p>
            <a:fld id="{B2E971D6-5629-41CA-827E-CC97BAA205E2}" type="slidenum">
              <a:rPr lang="ru-KZ" smtClean="0"/>
              <a:t>‹#›</a:t>
            </a:fld>
            <a:endParaRPr lang="ru-KZ"/>
          </a:p>
        </p:txBody>
      </p:sp>
    </p:spTree>
    <p:extLst>
      <p:ext uri="{BB962C8B-B14F-4D97-AF65-F5344CB8AC3E}">
        <p14:creationId xmlns:p14="http://schemas.microsoft.com/office/powerpoint/2010/main" val="42375718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Объект с подписью">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ru-RU"/>
              <a:t>Образец заголовка</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B79BB352-A4DD-4BD0-AF08-A1445034FFA5}" type="datetimeFigureOut">
              <a:rPr lang="ru-KZ" smtClean="0"/>
              <a:t>08.03.2026</a:t>
            </a:fld>
            <a:endParaRPr lang="ru-KZ"/>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ru-KZ"/>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B2E971D6-5629-41CA-827E-CC97BAA205E2}" type="slidenum">
              <a:rPr lang="ru-KZ" smtClean="0"/>
              <a:t>‹#›</a:t>
            </a:fld>
            <a:endParaRPr lang="ru-KZ"/>
          </a:p>
        </p:txBody>
      </p:sp>
    </p:spTree>
    <p:extLst>
      <p:ext uri="{BB962C8B-B14F-4D97-AF65-F5344CB8AC3E}">
        <p14:creationId xmlns:p14="http://schemas.microsoft.com/office/powerpoint/2010/main" val="21560676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Рисунок с подписью">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lIns="91440" tIns="0" rIns="91440" bIns="0" anchor="b">
            <a:noAutofit/>
          </a:bodyPr>
          <a:lstStyle>
            <a:lvl1pPr>
              <a:defRPr sz="3600" b="0">
                <a:solidFill>
                  <a:srgbClr val="FFFFFF"/>
                </a:solidFill>
              </a:defRPr>
            </a:lvl1pPr>
          </a:lstStyle>
          <a:p>
            <a:r>
              <a:rPr lang="ru-RU"/>
              <a:t>Образец заголовка</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anchor="t"/>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B79BB352-A4DD-4BD0-AF08-A1445034FFA5}" type="datetimeFigureOut">
              <a:rPr lang="ru-KZ" smtClean="0"/>
              <a:t>08.03.2026</a:t>
            </a:fld>
            <a:endParaRPr lang="ru-KZ"/>
          </a:p>
        </p:txBody>
      </p:sp>
      <p:sp>
        <p:nvSpPr>
          <p:cNvPr id="6" name="Footer Placeholder 5"/>
          <p:cNvSpPr>
            <a:spLocks noGrp="1"/>
          </p:cNvSpPr>
          <p:nvPr>
            <p:ph type="ftr" sz="quarter" idx="11"/>
          </p:nvPr>
        </p:nvSpPr>
        <p:spPr/>
        <p:txBody>
          <a:bodyPr/>
          <a:lstStyle/>
          <a:p>
            <a:endParaRPr lang="ru-KZ"/>
          </a:p>
        </p:txBody>
      </p:sp>
      <p:sp>
        <p:nvSpPr>
          <p:cNvPr id="7" name="Slide Number Placeholder 6"/>
          <p:cNvSpPr>
            <a:spLocks noGrp="1"/>
          </p:cNvSpPr>
          <p:nvPr>
            <p:ph type="sldNum" sz="quarter" idx="12"/>
          </p:nvPr>
        </p:nvSpPr>
        <p:spPr/>
        <p:txBody>
          <a:bodyPr/>
          <a:lstStyle/>
          <a:p>
            <a:fld id="{B2E971D6-5629-41CA-827E-CC97BAA205E2}" type="slidenum">
              <a:rPr lang="ru-KZ" smtClean="0"/>
              <a:t>‹#›</a:t>
            </a:fld>
            <a:endParaRPr lang="ru-KZ"/>
          </a:p>
        </p:txBody>
      </p:sp>
    </p:spTree>
    <p:extLst>
      <p:ext uri="{BB962C8B-B14F-4D97-AF65-F5344CB8AC3E}">
        <p14:creationId xmlns:p14="http://schemas.microsoft.com/office/powerpoint/2010/main" val="27261197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79BB352-A4DD-4BD0-AF08-A1445034FFA5}" type="datetimeFigureOut">
              <a:rPr lang="ru-KZ" smtClean="0"/>
              <a:t>08.03.2026</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B2E971D6-5629-41CA-827E-CC97BAA205E2}" type="slidenum">
              <a:rPr lang="ru-KZ" smtClean="0"/>
              <a:t>‹#›</a:t>
            </a:fld>
            <a:endParaRPr lang="ru-KZ"/>
          </a:p>
        </p:txBody>
      </p:sp>
    </p:spTree>
    <p:extLst>
      <p:ext uri="{BB962C8B-B14F-4D97-AF65-F5344CB8AC3E}">
        <p14:creationId xmlns:p14="http://schemas.microsoft.com/office/powerpoint/2010/main" val="39907296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Вертикальный заголовок и текст">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B79BB352-A4DD-4BD0-AF08-A1445034FFA5}" type="datetimeFigureOut">
              <a:rPr lang="ru-KZ" smtClean="0"/>
              <a:t>08.03.2026</a:t>
            </a:fld>
            <a:endParaRPr lang="ru-KZ"/>
          </a:p>
        </p:txBody>
      </p:sp>
      <p:sp>
        <p:nvSpPr>
          <p:cNvPr id="5" name="Footer Placeholder 4"/>
          <p:cNvSpPr>
            <a:spLocks noGrp="1"/>
          </p:cNvSpPr>
          <p:nvPr>
            <p:ph type="ftr" sz="quarter" idx="11"/>
          </p:nvPr>
        </p:nvSpPr>
        <p:spPr/>
        <p:txBody>
          <a:bodyPr/>
          <a:lstStyle/>
          <a:p>
            <a:endParaRPr lang="ru-KZ"/>
          </a:p>
        </p:txBody>
      </p:sp>
      <p:sp>
        <p:nvSpPr>
          <p:cNvPr id="6" name="Slide Number Placeholder 5"/>
          <p:cNvSpPr>
            <a:spLocks noGrp="1"/>
          </p:cNvSpPr>
          <p:nvPr>
            <p:ph type="sldNum" sz="quarter" idx="12"/>
          </p:nvPr>
        </p:nvSpPr>
        <p:spPr/>
        <p:txBody>
          <a:bodyPr/>
          <a:lstStyle/>
          <a:p>
            <a:fld id="{B2E971D6-5629-41CA-827E-CC97BAA205E2}" type="slidenum">
              <a:rPr lang="ru-KZ" smtClean="0"/>
              <a:t>‹#›</a:t>
            </a:fld>
            <a:endParaRPr lang="ru-KZ"/>
          </a:p>
        </p:txBody>
      </p:sp>
    </p:spTree>
    <p:extLst>
      <p:ext uri="{BB962C8B-B14F-4D97-AF65-F5344CB8AC3E}">
        <p14:creationId xmlns:p14="http://schemas.microsoft.com/office/powerpoint/2010/main" val="11275435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316"/>
            <a:ext cx="12192001" cy="659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ru-RU"/>
              <a:t>Образец заголовка</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B79BB352-A4DD-4BD0-AF08-A1445034FFA5}" type="datetimeFigureOut">
              <a:rPr lang="ru-KZ" smtClean="0"/>
              <a:t>08.03.2026</a:t>
            </a:fld>
            <a:endParaRPr lang="ru-KZ"/>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ru-KZ"/>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B2E971D6-5629-41CA-827E-CC97BAA205E2}" type="slidenum">
              <a:rPr lang="ru-KZ" smtClean="0"/>
              <a:t>‹#›</a:t>
            </a:fld>
            <a:endParaRPr lang="ru-KZ"/>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218436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ADE1ACED-293D-462B-9A12-D95AD6FF1799}"/>
              </a:ext>
            </a:extLst>
          </p:cNvPr>
          <p:cNvSpPr/>
          <p:nvPr/>
        </p:nvSpPr>
        <p:spPr>
          <a:xfrm>
            <a:off x="2948609" y="1153340"/>
            <a:ext cx="6096000" cy="2308324"/>
          </a:xfrm>
          <a:prstGeom prst="rect">
            <a:avLst/>
          </a:prstGeom>
        </p:spPr>
        <p:txBody>
          <a:bodyPr>
            <a:spAutoFit/>
          </a:bodyPr>
          <a:lstStyle/>
          <a:p>
            <a:pPr algn="ctr">
              <a:spcAft>
                <a:spcPts val="0"/>
              </a:spcAft>
            </a:pPr>
            <a:r>
              <a:rPr lang="kk-KZ" sz="2400" b="1" dirty="0">
                <a:solidFill>
                  <a:srgbClr val="0D0D0D"/>
                </a:solidFill>
                <a:latin typeface="Cambria" panose="02040503050406030204" pitchFamily="18" charset="0"/>
                <a:ea typeface="Cambria" panose="02040503050406030204" pitchFamily="18" charset="0"/>
                <a:cs typeface="Times New Roman" panose="02020603050405020304" pitchFamily="18" charset="0"/>
              </a:rPr>
              <a:t>Лекция</a:t>
            </a:r>
            <a:r>
              <a:rPr lang="kk-KZ" sz="2400" b="1" dirty="0" smtClean="0">
                <a:solidFill>
                  <a:srgbClr val="0D0D0D"/>
                </a:solidFill>
                <a:latin typeface="Cambria" panose="02040503050406030204" pitchFamily="18" charset="0"/>
                <a:ea typeface="Cambria" panose="02040503050406030204" pitchFamily="18" charset="0"/>
                <a:cs typeface="Times New Roman" panose="02020603050405020304" pitchFamily="18" charset="0"/>
              </a:rPr>
              <a:t>№</a:t>
            </a:r>
            <a:r>
              <a:rPr lang="kk-KZ" sz="2400" b="1" dirty="0">
                <a:solidFill>
                  <a:srgbClr val="0D0D0D"/>
                </a:solidFill>
                <a:latin typeface="Cambria" panose="02040503050406030204" pitchFamily="18" charset="0"/>
                <a:ea typeface="Cambria" panose="02040503050406030204" pitchFamily="18" charset="0"/>
                <a:cs typeface="Times New Roman" panose="02020603050405020304" pitchFamily="18" charset="0"/>
              </a:rPr>
              <a:t>9</a:t>
            </a:r>
          </a:p>
          <a:p>
            <a:pPr algn="ctr">
              <a:spcAft>
                <a:spcPts val="0"/>
              </a:spcAft>
            </a:pPr>
            <a:r>
              <a:rPr lang="kk-KZ" b="1"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 </a:t>
            </a:r>
            <a:r>
              <a:rPr lang="ru-KZ" b="1" dirty="0">
                <a:solidFill>
                  <a:srgbClr val="0D0D0D"/>
                </a:solidFill>
                <a:latin typeface="Times New Roman" panose="02020603050405020304" pitchFamily="18" charset="0"/>
                <a:ea typeface="Times New Roman" panose="02020603050405020304" pitchFamily="18" charset="0"/>
                <a:cs typeface="Times New Roman" panose="02020603050405020304" pitchFamily="18" charset="0"/>
              </a:rPr>
              <a:t> </a:t>
            </a:r>
            <a:r>
              <a:rPr lang="kk-KZ" sz="2400" b="1" dirty="0">
                <a:solidFill>
                  <a:srgbClr val="0D0D0D"/>
                </a:solidFill>
                <a:latin typeface="Cambria" panose="02040503050406030204" pitchFamily="18" charset="0"/>
                <a:ea typeface="Cambria" panose="02040503050406030204" pitchFamily="18" charset="0"/>
                <a:cs typeface="Times New Roman" panose="02020603050405020304" pitchFamily="18" charset="0"/>
              </a:rPr>
              <a:t>Өрт қауіпсіздігі</a:t>
            </a:r>
            <a:endParaRPr lang="ru-KZ" sz="2400" dirty="0">
              <a:effectLst/>
              <a:latin typeface="Cambria" panose="02040503050406030204" pitchFamily="18" charset="0"/>
              <a:ea typeface="Cambria" panose="02040503050406030204" pitchFamily="18" charset="0"/>
              <a:cs typeface="Times New Roman" panose="02020603050405020304" pitchFamily="18" charset="0"/>
            </a:endParaRPr>
          </a:p>
          <a:p>
            <a:pPr algn="just">
              <a:spcAft>
                <a:spcPts val="0"/>
              </a:spcAft>
            </a:pPr>
            <a:r>
              <a:rPr lang="kk-KZ" sz="2400" dirty="0">
                <a:solidFill>
                  <a:srgbClr val="0D0D0D"/>
                </a:solidFill>
                <a:latin typeface="Cambria" panose="02040503050406030204" pitchFamily="18" charset="0"/>
                <a:ea typeface="Cambria" panose="02040503050406030204" pitchFamily="18" charset="0"/>
                <a:cs typeface="Times New Roman" panose="02020603050405020304" pitchFamily="18" charset="0"/>
              </a:rPr>
              <a:t>1. Өндірістік нысандардың өрт-жарылыс қауіпсіздігі</a:t>
            </a:r>
            <a:endParaRPr lang="ru-KZ" sz="2400" dirty="0">
              <a:effectLst/>
              <a:latin typeface="Cambria" panose="02040503050406030204" pitchFamily="18" charset="0"/>
              <a:ea typeface="Cambria" panose="02040503050406030204" pitchFamily="18" charset="0"/>
              <a:cs typeface="Times New Roman" panose="02020603050405020304" pitchFamily="18" charset="0"/>
            </a:endParaRPr>
          </a:p>
          <a:p>
            <a:pPr algn="just">
              <a:spcAft>
                <a:spcPts val="0"/>
              </a:spcAft>
            </a:pPr>
            <a:r>
              <a:rPr lang="kk-KZ" sz="2400" dirty="0">
                <a:solidFill>
                  <a:srgbClr val="0D0D0D"/>
                </a:solidFill>
                <a:latin typeface="Cambria" panose="02040503050406030204" pitchFamily="18" charset="0"/>
                <a:ea typeface="Cambria" panose="02040503050406030204" pitchFamily="18" charset="0"/>
                <a:cs typeface="Times New Roman" panose="02020603050405020304" pitchFamily="18" charset="0"/>
              </a:rPr>
              <a:t>2. Үйлер мен ғимараттардың өрт қауіпсіздігі бойынша жіктелуі</a:t>
            </a:r>
            <a:endParaRPr lang="ru-KZ" sz="2400" dirty="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1996101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B121BA1E-B151-4389-87D3-BB110B6C0A47}"/>
              </a:ext>
            </a:extLst>
          </p:cNvPr>
          <p:cNvSpPr/>
          <p:nvPr/>
        </p:nvSpPr>
        <p:spPr>
          <a:xfrm>
            <a:off x="1192695" y="379566"/>
            <a:ext cx="10386392" cy="567540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lnSpc>
                <a:spcPct val="107000"/>
              </a:lnSpc>
              <a:spcAft>
                <a:spcPts val="0"/>
              </a:spcAft>
            </a:pPr>
            <a:r>
              <a:rPr lang="kk-KZ" sz="20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Өрт</a:t>
            </a:r>
            <a:r>
              <a:rPr lang="kk-KZ" sz="2000" b="1" dirty="0">
                <a:solidFill>
                  <a:srgbClr val="0D0D0D"/>
                </a:solidFill>
                <a:latin typeface="Cambria" panose="02040503050406030204" pitchFamily="18" charset="0"/>
                <a:ea typeface="Cambria" panose="02040503050406030204" pitchFamily="18" charset="0"/>
                <a:cs typeface="Times New Roman" panose="02020603050405020304" pitchFamily="18" charset="0"/>
              </a:rPr>
              <a:t> – материалдық шығын келтіретін, арнайы ошақтан шығарылған басқарылмайтын жану</a:t>
            </a:r>
            <a:r>
              <a:rPr lang="kk-KZ" sz="2000" dirty="0">
                <a:solidFill>
                  <a:srgbClr val="0D0D0D"/>
                </a:solidFill>
                <a:latin typeface="Cambria" panose="02040503050406030204" pitchFamily="18" charset="0"/>
                <a:ea typeface="Cambria" panose="02040503050406030204" pitchFamily="18" charset="0"/>
                <a:cs typeface="Times New Roman" panose="02020603050405020304" pitchFamily="18" charset="0"/>
              </a:rPr>
              <a:t>.</a:t>
            </a:r>
            <a:endParaRPr lang="ru-KZ" sz="2000" dirty="0">
              <a:latin typeface="Cambria" panose="02040503050406030204" pitchFamily="18" charset="0"/>
              <a:ea typeface="Cambria" panose="02040503050406030204" pitchFamily="18" charset="0"/>
              <a:cs typeface="Times New Roman" panose="02020603050405020304" pitchFamily="18" charset="0"/>
            </a:endParaRPr>
          </a:p>
          <a:p>
            <a:pPr algn="just"/>
            <a:r>
              <a:rPr lang="kk-KZ" sz="2000" dirty="0">
                <a:latin typeface="Cambria" panose="02040503050406030204" pitchFamily="18" charset="0"/>
                <a:ea typeface="Cambria" panose="02040503050406030204" pitchFamily="18" charset="0"/>
              </a:rPr>
              <a:t>Өрттер </a:t>
            </a:r>
            <a:r>
              <a:rPr lang="kk-KZ" sz="2000" b="1" i="1" dirty="0">
                <a:solidFill>
                  <a:srgbClr val="FF0000"/>
                </a:solidFill>
                <a:latin typeface="Cambria" panose="02040503050406030204" pitchFamily="18" charset="0"/>
                <a:ea typeface="Cambria" panose="02040503050406030204" pitchFamily="18" charset="0"/>
              </a:rPr>
              <a:t>сыртқы белгілері бойынша</a:t>
            </a:r>
            <a:r>
              <a:rPr lang="kk-KZ" sz="2000" b="1" dirty="0">
                <a:solidFill>
                  <a:srgbClr val="FF0000"/>
                </a:solidFill>
                <a:latin typeface="Cambria" panose="02040503050406030204" pitchFamily="18" charset="0"/>
                <a:ea typeface="Cambria" panose="02040503050406030204" pitchFamily="18" charset="0"/>
              </a:rPr>
              <a:t> </a:t>
            </a:r>
          </a:p>
          <a:p>
            <a:pPr marL="342900" indent="-342900" algn="just">
              <a:buFont typeface="Wingdings" panose="05000000000000000000" pitchFamily="2" charset="2"/>
              <a:buChar char="v"/>
            </a:pPr>
            <a:r>
              <a:rPr lang="kk-KZ" sz="2000" dirty="0">
                <a:latin typeface="Cambria" panose="02040503050406030204" pitchFamily="18" charset="0"/>
                <a:ea typeface="Cambria" panose="02040503050406030204" pitchFamily="18" charset="0"/>
              </a:rPr>
              <a:t>сыртқы және ішкі, бір мезгілде бірге </a:t>
            </a:r>
          </a:p>
          <a:p>
            <a:pPr marL="342900" indent="-342900" algn="just">
              <a:buFont typeface="Wingdings" panose="05000000000000000000" pitchFamily="2" charset="2"/>
              <a:buChar char="v"/>
            </a:pPr>
            <a:r>
              <a:rPr lang="kk-KZ" sz="2000" dirty="0">
                <a:latin typeface="Cambria" panose="02040503050406030204" pitchFamily="18" charset="0"/>
                <a:ea typeface="Cambria" panose="02040503050406030204" pitchFamily="18" charset="0"/>
              </a:rPr>
              <a:t>сыртқы (ашық) және </a:t>
            </a:r>
          </a:p>
          <a:p>
            <a:pPr marL="457200" indent="-457200" algn="just">
              <a:buFont typeface="Wingdings" panose="05000000000000000000" pitchFamily="2" charset="2"/>
              <a:buChar char="v"/>
            </a:pPr>
            <a:r>
              <a:rPr lang="kk-KZ" sz="2000" dirty="0">
                <a:latin typeface="Cambria" panose="02040503050406030204" pitchFamily="18" charset="0"/>
                <a:ea typeface="Cambria" panose="02040503050406030204" pitchFamily="18" charset="0"/>
              </a:rPr>
              <a:t>ішкі (жасырын) деп, </a:t>
            </a:r>
          </a:p>
          <a:p>
            <a:pPr algn="just"/>
            <a:r>
              <a:rPr lang="kk-KZ" sz="2000" b="1" i="1" dirty="0" smtClean="0">
                <a:solidFill>
                  <a:srgbClr val="FF0000"/>
                </a:solidFill>
                <a:latin typeface="Cambria" panose="02040503050406030204" pitchFamily="18" charset="0"/>
                <a:ea typeface="Cambria" panose="02040503050406030204" pitchFamily="18" charset="0"/>
              </a:rPr>
              <a:t>пайда </a:t>
            </a:r>
            <a:r>
              <a:rPr lang="kk-KZ" sz="2000" b="1" i="1" dirty="0">
                <a:solidFill>
                  <a:srgbClr val="FF0000"/>
                </a:solidFill>
                <a:latin typeface="Cambria" panose="02040503050406030204" pitchFamily="18" charset="0"/>
                <a:ea typeface="Cambria" panose="02040503050406030204" pitchFamily="18" charset="0"/>
              </a:rPr>
              <a:t>болу сипаты</a:t>
            </a:r>
            <a:r>
              <a:rPr lang="kk-KZ" sz="2000" b="1" dirty="0">
                <a:solidFill>
                  <a:srgbClr val="FF0000"/>
                </a:solidFill>
                <a:latin typeface="Cambria" panose="02040503050406030204" pitchFamily="18" charset="0"/>
                <a:ea typeface="Cambria" panose="02040503050406030204" pitchFamily="18" charset="0"/>
              </a:rPr>
              <a:t> </a:t>
            </a:r>
            <a:r>
              <a:rPr lang="kk-KZ" sz="2000" dirty="0">
                <a:latin typeface="Cambria" panose="02040503050406030204" pitchFamily="18" charset="0"/>
                <a:ea typeface="Cambria" panose="02040503050406030204" pitchFamily="18" charset="0"/>
              </a:rPr>
              <a:t>бойынша </a:t>
            </a:r>
            <a:endParaRPr lang="kk-KZ" sz="2000" dirty="0" smtClean="0">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v"/>
            </a:pPr>
            <a:r>
              <a:rPr lang="kk-KZ" sz="2000" dirty="0" smtClean="0">
                <a:latin typeface="Cambria" panose="02040503050406030204" pitchFamily="18" charset="0"/>
                <a:ea typeface="Cambria" panose="02040503050406030204" pitchFamily="18" charset="0"/>
              </a:rPr>
              <a:t>табиғи </a:t>
            </a:r>
            <a:r>
              <a:rPr lang="kk-KZ" sz="2000" dirty="0">
                <a:latin typeface="Cambria" panose="02040503050406030204" pitchFamily="18" charset="0"/>
                <a:ea typeface="Cambria" panose="02040503050406030204" pitchFamily="18" charset="0"/>
              </a:rPr>
              <a:t>және </a:t>
            </a:r>
            <a:endParaRPr lang="kk-KZ" sz="2000" dirty="0" smtClean="0">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v"/>
            </a:pPr>
            <a:r>
              <a:rPr lang="kk-KZ" sz="2000" dirty="0" smtClean="0">
                <a:latin typeface="Cambria" panose="02040503050406030204" pitchFamily="18" charset="0"/>
                <a:ea typeface="Cambria" panose="02040503050406030204" pitchFamily="18" charset="0"/>
              </a:rPr>
              <a:t>техногендік </a:t>
            </a:r>
            <a:r>
              <a:rPr lang="kk-KZ" sz="2000" dirty="0">
                <a:latin typeface="Cambria" panose="02040503050406030204" pitchFamily="18" charset="0"/>
                <a:ea typeface="Cambria" panose="02040503050406030204" pitchFamily="18" charset="0"/>
              </a:rPr>
              <a:t>деп, </a:t>
            </a:r>
            <a:endParaRPr lang="kk-KZ" sz="2000" dirty="0" smtClean="0">
              <a:latin typeface="Cambria" panose="02040503050406030204" pitchFamily="18" charset="0"/>
              <a:ea typeface="Cambria" panose="02040503050406030204" pitchFamily="18" charset="0"/>
            </a:endParaRPr>
          </a:p>
          <a:p>
            <a:pPr algn="just"/>
            <a:r>
              <a:rPr lang="kk-KZ" sz="2000" b="1" i="1" dirty="0" smtClean="0">
                <a:solidFill>
                  <a:srgbClr val="FF0000"/>
                </a:solidFill>
                <a:latin typeface="Cambria" panose="02040503050406030204" pitchFamily="18" charset="0"/>
                <a:ea typeface="Cambria" panose="02040503050406030204" pitchFamily="18" charset="0"/>
              </a:rPr>
              <a:t>ведомоствалық </a:t>
            </a:r>
            <a:r>
              <a:rPr lang="kk-KZ" sz="2000" b="1" i="1" dirty="0">
                <a:solidFill>
                  <a:srgbClr val="FF0000"/>
                </a:solidFill>
                <a:latin typeface="Cambria" panose="02040503050406030204" pitchFamily="18" charset="0"/>
                <a:ea typeface="Cambria" panose="02040503050406030204" pitchFamily="18" charset="0"/>
              </a:rPr>
              <a:t>қатыстылығы бойынша</a:t>
            </a:r>
            <a:r>
              <a:rPr lang="kk-KZ" sz="2000" i="1" dirty="0">
                <a:solidFill>
                  <a:srgbClr val="FF0000"/>
                </a:solidFill>
                <a:latin typeface="Cambria" panose="02040503050406030204" pitchFamily="18" charset="0"/>
                <a:ea typeface="Cambria" panose="02040503050406030204" pitchFamily="18" charset="0"/>
              </a:rPr>
              <a:t>, </a:t>
            </a:r>
            <a:endParaRPr lang="kk-KZ" sz="2000" i="1" dirty="0" smtClean="0">
              <a:solidFill>
                <a:srgbClr val="FF0000"/>
              </a:solidFill>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v"/>
            </a:pPr>
            <a:r>
              <a:rPr lang="kk-KZ" sz="2000" dirty="0" smtClean="0">
                <a:latin typeface="Cambria" panose="02040503050406030204" pitchFamily="18" charset="0"/>
                <a:ea typeface="Cambria" panose="02040503050406030204" pitchFamily="18" charset="0"/>
              </a:rPr>
              <a:t>ашық </a:t>
            </a:r>
            <a:r>
              <a:rPr lang="kk-KZ" sz="2000" dirty="0">
                <a:latin typeface="Cambria" panose="02040503050406030204" pitchFamily="18" charset="0"/>
                <a:ea typeface="Cambria" panose="02040503050406030204" pitchFamily="18" charset="0"/>
              </a:rPr>
              <a:t>жерлердегі, </a:t>
            </a:r>
            <a:endParaRPr lang="kk-KZ" sz="2000" dirty="0" smtClean="0">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v"/>
            </a:pPr>
            <a:r>
              <a:rPr lang="kk-KZ" sz="2000" dirty="0" smtClean="0">
                <a:latin typeface="Cambria" panose="02040503050406030204" pitchFamily="18" charset="0"/>
                <a:ea typeface="Cambria" panose="02040503050406030204" pitchFamily="18" charset="0"/>
              </a:rPr>
              <a:t>ғимараттардағы</a:t>
            </a:r>
            <a:r>
              <a:rPr lang="kk-KZ" sz="2000" dirty="0">
                <a:latin typeface="Cambria" panose="02040503050406030204" pitchFamily="18" charset="0"/>
                <a:ea typeface="Cambria" panose="02040503050406030204" pitchFamily="18" charset="0"/>
              </a:rPr>
              <a:t>, </a:t>
            </a:r>
            <a:endParaRPr lang="kk-KZ" sz="2000" dirty="0" smtClean="0">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v"/>
            </a:pPr>
            <a:r>
              <a:rPr lang="kk-KZ" sz="2000" dirty="0" smtClean="0">
                <a:latin typeface="Cambria" panose="02040503050406030204" pitchFamily="18" charset="0"/>
                <a:ea typeface="Cambria" panose="02040503050406030204" pitchFamily="18" charset="0"/>
              </a:rPr>
              <a:t>орман </a:t>
            </a:r>
            <a:r>
              <a:rPr lang="kk-KZ" sz="2000" dirty="0">
                <a:latin typeface="Cambria" panose="02040503050406030204" pitchFamily="18" charset="0"/>
                <a:ea typeface="Cambria" panose="02040503050406030204" pitchFamily="18" charset="0"/>
              </a:rPr>
              <a:t>алқаптарындағы және </a:t>
            </a:r>
            <a:endParaRPr lang="kk-KZ" sz="2000" dirty="0" smtClean="0">
              <a:latin typeface="Cambria" panose="02040503050406030204" pitchFamily="18" charset="0"/>
              <a:ea typeface="Cambria" panose="02040503050406030204" pitchFamily="18" charset="0"/>
            </a:endParaRPr>
          </a:p>
          <a:p>
            <a:pPr marL="342900" indent="-342900" algn="just">
              <a:buFont typeface="Wingdings" panose="05000000000000000000" pitchFamily="2" charset="2"/>
              <a:buChar char="v"/>
            </a:pPr>
            <a:r>
              <a:rPr lang="kk-KZ" sz="2000" dirty="0" smtClean="0">
                <a:latin typeface="Cambria" panose="02040503050406030204" pitchFamily="18" charset="0"/>
                <a:ea typeface="Cambria" panose="02040503050406030204" pitchFamily="18" charset="0"/>
              </a:rPr>
              <a:t>транспорттағы</a:t>
            </a:r>
            <a:r>
              <a:rPr lang="kk-KZ" sz="2000" dirty="0">
                <a:latin typeface="Cambria" panose="02040503050406030204" pitchFamily="18" charset="0"/>
                <a:ea typeface="Cambria" panose="02040503050406030204" pitchFamily="18" charset="0"/>
              </a:rPr>
              <a:t>, т.б. болып жіктеледі. </a:t>
            </a:r>
          </a:p>
          <a:p>
            <a:pPr algn="just"/>
            <a:r>
              <a:rPr lang="kk-KZ" sz="2000" dirty="0">
                <a:latin typeface="Cambria" panose="02040503050406030204" pitchFamily="18" charset="0"/>
                <a:ea typeface="Cambria" panose="02040503050406030204" pitchFamily="18" charset="0"/>
              </a:rPr>
              <a:t>Барлық өрттер бір-бірінен параметрлерімен ерекшеленеді. Даму параметрлері бойынша мүлдем бірдей екі өртті табу мүмкін емес. Барлық өрттердің сипаты бірдей болмағандықтан, олардың тұтану себебін, даму сипатын болжамай өрттермен күрес жүргізу ақыры қателіктерге әкеп соқтыруы ықтимал.</a:t>
            </a:r>
            <a:endParaRPr lang="ru-KZ"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295491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063B1ABB-E24C-4D9F-BDE9-B3C42A46F642}"/>
              </a:ext>
            </a:extLst>
          </p:cNvPr>
          <p:cNvSpPr/>
          <p:nvPr/>
        </p:nvSpPr>
        <p:spPr>
          <a:xfrm>
            <a:off x="2283813" y="939244"/>
            <a:ext cx="8351057" cy="4154984"/>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ru-RU" sz="2400" b="1" dirty="0" err="1">
                <a:solidFill>
                  <a:srgbClr val="FF0000"/>
                </a:solidFill>
                <a:latin typeface="Cambria" panose="02040503050406030204" pitchFamily="18" charset="0"/>
                <a:ea typeface="Cambria" panose="02040503050406030204" pitchFamily="18" charset="0"/>
              </a:rPr>
              <a:t>Өрттің</a:t>
            </a:r>
            <a:r>
              <a:rPr lang="ru-RU" sz="2400" b="1" dirty="0">
                <a:solidFill>
                  <a:srgbClr val="FF0000"/>
                </a:solidFill>
                <a:latin typeface="Cambria" panose="02040503050406030204" pitchFamily="18" charset="0"/>
                <a:ea typeface="Cambria" panose="02040503050406030204" pitchFamily="18" charset="0"/>
              </a:rPr>
              <a:t> </a:t>
            </a:r>
            <a:r>
              <a:rPr lang="ru-RU" sz="2400" b="1" dirty="0" err="1">
                <a:solidFill>
                  <a:srgbClr val="FF0000"/>
                </a:solidFill>
                <a:latin typeface="Cambria" panose="02040503050406030204" pitchFamily="18" charset="0"/>
                <a:ea typeface="Cambria" panose="02040503050406030204" pitchFamily="18" charset="0"/>
              </a:rPr>
              <a:t>қауіпті</a:t>
            </a:r>
            <a:r>
              <a:rPr lang="ru-RU" sz="2400" b="1" dirty="0">
                <a:solidFill>
                  <a:srgbClr val="FF0000"/>
                </a:solidFill>
                <a:latin typeface="Cambria" panose="02040503050406030204" pitchFamily="18" charset="0"/>
                <a:ea typeface="Cambria" panose="02040503050406030204" pitchFamily="18" charset="0"/>
              </a:rPr>
              <a:t> </a:t>
            </a:r>
            <a:r>
              <a:rPr lang="ru-RU" sz="2400" b="1" dirty="0" err="1">
                <a:solidFill>
                  <a:srgbClr val="FF0000"/>
                </a:solidFill>
                <a:latin typeface="Cambria" panose="02040503050406030204" pitchFamily="18" charset="0"/>
                <a:ea typeface="Cambria" panose="02040503050406030204" pitchFamily="18" charset="0"/>
              </a:rPr>
              <a:t>факторларына</a:t>
            </a:r>
            <a:r>
              <a:rPr lang="ru-RU" sz="2400" b="1" dirty="0">
                <a:solidFill>
                  <a:srgbClr val="FF0000"/>
                </a:solidFill>
                <a:latin typeface="Cambria" panose="02040503050406030204" pitchFamily="18" charset="0"/>
                <a:ea typeface="Cambria" panose="02040503050406030204" pitchFamily="18" charset="0"/>
              </a:rPr>
              <a:t> </a:t>
            </a:r>
            <a:r>
              <a:rPr lang="ru-RU" sz="2400" b="1" dirty="0" err="1">
                <a:solidFill>
                  <a:srgbClr val="FF0000"/>
                </a:solidFill>
                <a:latin typeface="Cambria" panose="02040503050406030204" pitchFamily="18" charset="0"/>
                <a:ea typeface="Cambria" panose="02040503050406030204" pitchFamily="18" charset="0"/>
              </a:rPr>
              <a:t>мыналар</a:t>
            </a:r>
            <a:r>
              <a:rPr lang="ru-RU" sz="2400" b="1" dirty="0">
                <a:solidFill>
                  <a:srgbClr val="FF0000"/>
                </a:solidFill>
                <a:latin typeface="Cambria" panose="02040503050406030204" pitchFamily="18" charset="0"/>
                <a:ea typeface="Cambria" panose="02040503050406030204" pitchFamily="18" charset="0"/>
              </a:rPr>
              <a:t> </a:t>
            </a:r>
            <a:r>
              <a:rPr lang="ru-RU" sz="2400" b="1" dirty="0" err="1">
                <a:solidFill>
                  <a:srgbClr val="FF0000"/>
                </a:solidFill>
                <a:latin typeface="Cambria" panose="02040503050406030204" pitchFamily="18" charset="0"/>
                <a:ea typeface="Cambria" panose="02040503050406030204" pitchFamily="18" charset="0"/>
              </a:rPr>
              <a:t>жатады</a:t>
            </a:r>
            <a:r>
              <a:rPr lang="ru-RU" sz="2400" b="1" dirty="0">
                <a:solidFill>
                  <a:srgbClr val="FF0000"/>
                </a:solidFill>
                <a:latin typeface="Cambria" panose="02040503050406030204" pitchFamily="18" charset="0"/>
                <a:ea typeface="Cambria" panose="02040503050406030204" pitchFamily="18" charset="0"/>
              </a:rPr>
              <a:t>: </a:t>
            </a:r>
          </a:p>
          <a:p>
            <a:endParaRPr lang="ru-RU" sz="2400" b="1" dirty="0">
              <a:solidFill>
                <a:srgbClr val="FF0000"/>
              </a:solidFill>
              <a:latin typeface="Cambria" panose="02040503050406030204" pitchFamily="18" charset="0"/>
              <a:ea typeface="Cambria" panose="02040503050406030204" pitchFamily="18" charset="0"/>
            </a:endParaRPr>
          </a:p>
          <a:p>
            <a:pPr marL="285750" indent="-285750">
              <a:buFont typeface="Wingdings" panose="05000000000000000000" pitchFamily="2" charset="2"/>
              <a:buChar char="v"/>
            </a:pPr>
            <a:r>
              <a:rPr lang="ru-RU" sz="2400" dirty="0" err="1">
                <a:latin typeface="Cambria" panose="02040503050406030204" pitchFamily="18" charset="0"/>
                <a:ea typeface="Cambria" panose="02040503050406030204" pitchFamily="18" charset="0"/>
              </a:rPr>
              <a:t>ашық</a:t>
            </a:r>
            <a:r>
              <a:rPr lang="ru-RU" sz="2400" dirty="0">
                <a:latin typeface="Cambria" panose="02040503050406030204" pitchFamily="18" charset="0"/>
                <a:ea typeface="Cambria" panose="02040503050406030204" pitchFamily="18" charset="0"/>
              </a:rPr>
              <a:t> от; </a:t>
            </a:r>
          </a:p>
          <a:p>
            <a:pPr marL="285750" indent="-285750">
              <a:buFont typeface="Wingdings" panose="05000000000000000000" pitchFamily="2" charset="2"/>
              <a:buChar char="v"/>
            </a:pPr>
            <a:r>
              <a:rPr lang="ru-RU" sz="2400" dirty="0" err="1">
                <a:latin typeface="Cambria" panose="02040503050406030204" pitchFamily="18" charset="0"/>
                <a:ea typeface="Cambria" panose="02040503050406030204" pitchFamily="18" charset="0"/>
              </a:rPr>
              <a:t>ұшқындар</a:t>
            </a:r>
            <a:r>
              <a:rPr lang="ru-RU" sz="2400" dirty="0">
                <a:latin typeface="Cambria" panose="02040503050406030204" pitchFamily="18" charset="0"/>
                <a:ea typeface="Cambria" panose="02040503050406030204" pitchFamily="18" charset="0"/>
              </a:rPr>
              <a:t>; </a:t>
            </a:r>
          </a:p>
          <a:p>
            <a:pPr marL="285750" indent="-285750">
              <a:buFont typeface="Wingdings" panose="05000000000000000000" pitchFamily="2" charset="2"/>
              <a:buChar char="v"/>
            </a:pPr>
            <a:r>
              <a:rPr lang="ru-RU" sz="2400" dirty="0" err="1">
                <a:latin typeface="Cambria" panose="02040503050406030204" pitchFamily="18" charset="0"/>
                <a:ea typeface="Cambria" panose="02040503050406030204" pitchFamily="18" charset="0"/>
              </a:rPr>
              <a:t>қоршаған</a:t>
            </a:r>
            <a:r>
              <a:rPr lang="ru-RU" sz="2400" dirty="0">
                <a:latin typeface="Cambria" panose="02040503050406030204" pitchFamily="18" charset="0"/>
                <a:ea typeface="Cambria" panose="02040503050406030204" pitchFamily="18" charset="0"/>
              </a:rPr>
              <a:t> орта мен </a:t>
            </a:r>
            <a:r>
              <a:rPr lang="ru-RU" sz="2400" dirty="0" err="1">
                <a:latin typeface="Cambria" panose="02040503050406030204" pitchFamily="18" charset="0"/>
                <a:ea typeface="Cambria" panose="02040503050406030204" pitchFamily="18" charset="0"/>
              </a:rPr>
              <a:t>заттардың</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жоғары</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температурасы</a:t>
            </a:r>
            <a:r>
              <a:rPr lang="ru-RU" sz="2400" dirty="0">
                <a:latin typeface="Cambria" panose="02040503050406030204" pitchFamily="18" charset="0"/>
                <a:ea typeface="Cambria" panose="02040503050406030204" pitchFamily="18" charset="0"/>
              </a:rPr>
              <a:t>;</a:t>
            </a:r>
          </a:p>
          <a:p>
            <a:pPr marL="285750" indent="-285750">
              <a:buFont typeface="Wingdings" panose="05000000000000000000" pitchFamily="2" charset="2"/>
              <a:buChar char="v"/>
            </a:pPr>
            <a:r>
              <a:rPr lang="ru-RU" sz="2400" dirty="0" err="1">
                <a:latin typeface="Cambria" panose="02040503050406030204" pitchFamily="18" charset="0"/>
                <a:ea typeface="Cambria" panose="02040503050406030204" pitchFamily="18" charset="0"/>
              </a:rPr>
              <a:t>улы</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жану</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өнімдері</a:t>
            </a:r>
            <a:r>
              <a:rPr lang="ru-RU" sz="2400" dirty="0">
                <a:latin typeface="Cambria" panose="02040503050406030204" pitchFamily="18" charset="0"/>
                <a:ea typeface="Cambria" panose="02040503050406030204" pitchFamily="18" charset="0"/>
              </a:rPr>
              <a:t>; </a:t>
            </a:r>
            <a:endParaRPr lang="ru-RU" sz="2400" dirty="0" smtClean="0">
              <a:latin typeface="Cambria" panose="02040503050406030204" pitchFamily="18" charset="0"/>
              <a:ea typeface="Cambria" panose="02040503050406030204" pitchFamily="18" charset="0"/>
            </a:endParaRPr>
          </a:p>
          <a:p>
            <a:pPr marL="285750" indent="-285750">
              <a:buFont typeface="Wingdings" panose="05000000000000000000" pitchFamily="2" charset="2"/>
              <a:buChar char="v"/>
            </a:pPr>
            <a:r>
              <a:rPr lang="ru-RU" sz="2400" dirty="0" err="1" smtClean="0">
                <a:latin typeface="Cambria" panose="02040503050406030204" pitchFamily="18" charset="0"/>
                <a:ea typeface="Cambria" panose="02040503050406030204" pitchFamily="18" charset="0"/>
              </a:rPr>
              <a:t>жарылыстар</a:t>
            </a:r>
            <a:r>
              <a:rPr lang="ru-RU" sz="2400" dirty="0">
                <a:latin typeface="Cambria" panose="02040503050406030204" pitchFamily="18" charset="0"/>
                <a:ea typeface="Cambria" panose="02040503050406030204" pitchFamily="18" charset="0"/>
              </a:rPr>
              <a:t>; </a:t>
            </a:r>
            <a:endParaRPr lang="ru-RU" sz="2400" dirty="0" smtClean="0">
              <a:latin typeface="Cambria" panose="02040503050406030204" pitchFamily="18" charset="0"/>
              <a:ea typeface="Cambria" panose="02040503050406030204" pitchFamily="18" charset="0"/>
            </a:endParaRPr>
          </a:p>
          <a:p>
            <a:pPr marL="285750" indent="-285750">
              <a:buFont typeface="Wingdings" panose="05000000000000000000" pitchFamily="2" charset="2"/>
              <a:buChar char="v"/>
            </a:pPr>
            <a:r>
              <a:rPr lang="ru-RU" sz="2400" dirty="0" err="1" smtClean="0">
                <a:latin typeface="Cambria" panose="02040503050406030204" pitchFamily="18" charset="0"/>
                <a:ea typeface="Cambria" panose="02040503050406030204" pitchFamily="18" charset="0"/>
              </a:rPr>
              <a:t>түтін</a:t>
            </a:r>
            <a:r>
              <a:rPr lang="ru-RU" sz="2400" dirty="0">
                <a:latin typeface="Cambria" panose="02040503050406030204" pitchFamily="18" charset="0"/>
                <a:ea typeface="Cambria" panose="02040503050406030204" pitchFamily="18" charset="0"/>
              </a:rPr>
              <a:t>; </a:t>
            </a:r>
          </a:p>
          <a:p>
            <a:pPr marL="285750" indent="-285750">
              <a:buFont typeface="Wingdings" panose="05000000000000000000" pitchFamily="2" charset="2"/>
              <a:buChar char="v"/>
            </a:pPr>
            <a:r>
              <a:rPr lang="ru-RU" sz="2400" dirty="0" err="1">
                <a:latin typeface="Cambria" panose="02040503050406030204" pitchFamily="18" charset="0"/>
                <a:ea typeface="Cambria" panose="02040503050406030204" pitchFamily="18" charset="0"/>
              </a:rPr>
              <a:t>оттегі</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концентрациясының</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жоғарылауы</a:t>
            </a:r>
            <a:r>
              <a:rPr lang="ru-RU" sz="2400" dirty="0">
                <a:latin typeface="Cambria" panose="02040503050406030204" pitchFamily="18" charset="0"/>
                <a:ea typeface="Cambria" panose="02040503050406030204" pitchFamily="18" charset="0"/>
              </a:rPr>
              <a:t>; </a:t>
            </a:r>
          </a:p>
          <a:p>
            <a:pPr marL="285750" indent="-285750">
              <a:buFont typeface="Wingdings" panose="05000000000000000000" pitchFamily="2" charset="2"/>
              <a:buChar char="v"/>
            </a:pPr>
            <a:r>
              <a:rPr lang="ru-RU" sz="2400" dirty="0" err="1">
                <a:latin typeface="Cambria" panose="02040503050406030204" pitchFamily="18" charset="0"/>
                <a:ea typeface="Cambria" panose="02040503050406030204" pitchFamily="18" charset="0"/>
              </a:rPr>
              <a:t>жарылыс</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нәтижесінде</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пайда</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болатын</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факторлар</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соққы</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толқыны</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жалын</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құрылымдардың</a:t>
            </a:r>
            <a:r>
              <a:rPr lang="ru-RU" sz="2400" dirty="0">
                <a:latin typeface="Cambria" panose="02040503050406030204" pitchFamily="18" charset="0"/>
                <a:ea typeface="Cambria" panose="02040503050406030204" pitchFamily="18" charset="0"/>
              </a:rPr>
              <a:t> </a:t>
            </a:r>
            <a:r>
              <a:rPr lang="ru-RU" sz="2400" dirty="0" err="1">
                <a:latin typeface="Cambria" panose="02040503050406030204" pitchFamily="18" charset="0"/>
                <a:ea typeface="Cambria" panose="02040503050406030204" pitchFamily="18" charset="0"/>
              </a:rPr>
              <a:t>құлауы</a:t>
            </a:r>
            <a:r>
              <a:rPr lang="ru-RU" sz="2400" dirty="0">
                <a:latin typeface="Cambria" panose="02040503050406030204" pitchFamily="18" charset="0"/>
                <a:ea typeface="Cambria" panose="02040503050406030204" pitchFamily="18" charset="0"/>
              </a:rPr>
              <a:t>).</a:t>
            </a:r>
            <a:endParaRPr lang="ru-KZ" sz="24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0906144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FCD187D4-1825-4482-9451-B235CD788300}"/>
              </a:ext>
            </a:extLst>
          </p:cNvPr>
          <p:cNvSpPr/>
          <p:nvPr/>
        </p:nvSpPr>
        <p:spPr>
          <a:xfrm>
            <a:off x="1345661" y="426582"/>
            <a:ext cx="9846527" cy="5729132"/>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lnSpc>
                <a:spcPct val="107000"/>
              </a:lnSpc>
              <a:spcAft>
                <a:spcPts val="0"/>
              </a:spcAft>
            </a:pPr>
            <a:r>
              <a:rPr lang="kk-KZ" sz="2000" b="1" dirty="0" smtClean="0">
                <a:solidFill>
                  <a:srgbClr val="C00000"/>
                </a:solidFill>
                <a:latin typeface="Times New Roman" panose="02020603050405020304" pitchFamily="18" charset="0"/>
                <a:ea typeface="Calibri" panose="020F0502020204030204" pitchFamily="34" charset="0"/>
                <a:cs typeface="Times New Roman" panose="02020603050405020304" pitchFamily="18" charset="0"/>
              </a:rPr>
              <a:t>Өрт аймақтары.</a:t>
            </a:r>
            <a:r>
              <a:rPr lang="kk-KZ" sz="2000" dirty="0" smtClean="0">
                <a:solidFill>
                  <a:srgbClr val="C00000"/>
                </a:solidFill>
                <a:latin typeface="Times New Roman" panose="02020603050405020304" pitchFamily="18" charset="0"/>
                <a:ea typeface="Calibri" panose="020F0502020204030204" pitchFamily="34" charset="0"/>
                <a:cs typeface="Times New Roman" panose="02020603050405020304" pitchFamily="18" charset="0"/>
              </a:rPr>
              <a:t> </a:t>
            </a:r>
          </a:p>
          <a:p>
            <a:pPr algn="just">
              <a:lnSpc>
                <a:spcPct val="107000"/>
              </a:lnSpc>
              <a:spcAft>
                <a:spcPts val="0"/>
              </a:spcAft>
            </a:pPr>
            <a:r>
              <a:rPr lang="kk-KZ" dirty="0" smtClean="0">
                <a:latin typeface="Times New Roman" panose="02020603050405020304" pitchFamily="18" charset="0"/>
                <a:ea typeface="Calibri" panose="020F0502020204030204" pitchFamily="34" charset="0"/>
                <a:cs typeface="Times New Roman" panose="02020603050405020304" pitchFamily="18" charset="0"/>
              </a:rPr>
              <a:t>Өрт </a:t>
            </a:r>
            <a:r>
              <a:rPr lang="kk-KZ" dirty="0">
                <a:latin typeface="Times New Roman" panose="02020603050405020304" pitchFamily="18" charset="0"/>
                <a:ea typeface="Calibri" panose="020F0502020204030204" pitchFamily="34" charset="0"/>
                <a:cs typeface="Times New Roman" panose="02020603050405020304" pitchFamily="18" charset="0"/>
              </a:rPr>
              <a:t>және онымен бірге жүретін құбылыстар пайда болатын кеңістік үш аймаққа бөлінеді: </a:t>
            </a:r>
          </a:p>
          <a:p>
            <a:pPr marL="285750" indent="-285750" algn="just">
              <a:lnSpc>
                <a:spcPct val="107000"/>
              </a:lnSpc>
              <a:spcAft>
                <a:spcPts val="0"/>
              </a:spcAft>
              <a:buFont typeface="Wingdings" panose="05000000000000000000" pitchFamily="2" charset="2"/>
              <a:buChar char="v"/>
            </a:pPr>
            <a:r>
              <a:rPr lang="kk-KZ"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жану аймағы</a:t>
            </a:r>
          </a:p>
          <a:p>
            <a:pPr marL="285750" indent="-285750" algn="just">
              <a:lnSpc>
                <a:spcPct val="107000"/>
              </a:lnSpc>
              <a:spcAft>
                <a:spcPts val="0"/>
              </a:spcAft>
              <a:buFont typeface="Wingdings" panose="05000000000000000000" pitchFamily="2" charset="2"/>
              <a:buChar char="v"/>
            </a:pPr>
            <a:r>
              <a:rPr lang="kk-KZ"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жылу әсерлері </a:t>
            </a:r>
          </a:p>
          <a:p>
            <a:pPr marL="285750" indent="-285750" algn="just">
              <a:lnSpc>
                <a:spcPct val="107000"/>
              </a:lnSpc>
              <a:spcAft>
                <a:spcPts val="0"/>
              </a:spcAft>
              <a:buFont typeface="Wingdings" panose="05000000000000000000" pitchFamily="2" charset="2"/>
              <a:buChar char="v"/>
            </a:pPr>
            <a:r>
              <a:rPr lang="kk-KZ"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Түтіндену  аймағы</a:t>
            </a:r>
          </a:p>
          <a:p>
            <a:pPr marL="285750" indent="-285750" algn="just">
              <a:buFont typeface="Wingdings" panose="05000000000000000000" pitchFamily="2" charset="2"/>
              <a:buChar char="ü"/>
            </a:pPr>
            <a:r>
              <a:rPr lang="kk-KZ" b="1" i="1" dirty="0">
                <a:solidFill>
                  <a:srgbClr val="FF0000"/>
                </a:solidFill>
                <a:latin typeface="Cambria" panose="02040503050406030204" pitchFamily="18" charset="0"/>
                <a:ea typeface="Cambria" panose="02040503050406030204" pitchFamily="18" charset="0"/>
              </a:rPr>
              <a:t>Жану аймағы</a:t>
            </a:r>
            <a:r>
              <a:rPr lang="kk-KZ" dirty="0">
                <a:solidFill>
                  <a:srgbClr val="FF0000"/>
                </a:solidFill>
                <a:latin typeface="Cambria" panose="02040503050406030204" pitchFamily="18" charset="0"/>
                <a:ea typeface="Cambria" panose="02040503050406030204" pitchFamily="18" charset="0"/>
              </a:rPr>
              <a:t> </a:t>
            </a:r>
            <a:r>
              <a:rPr lang="kk-KZ" dirty="0">
                <a:latin typeface="Cambria" panose="02040503050406030204" pitchFamily="18" charset="0"/>
                <a:ea typeface="Cambria" panose="02040503050406030204" pitchFamily="18" charset="0"/>
              </a:rPr>
              <a:t>- жанғыш заттар мен материалдардың қызып </a:t>
            </a:r>
            <a:r>
              <a:rPr lang="kk-KZ" dirty="0" smtClean="0">
                <a:latin typeface="Cambria" panose="02040503050406030204" pitchFamily="18" charset="0"/>
                <a:ea typeface="Cambria" panose="02040503050406030204" pitchFamily="18" charset="0"/>
              </a:rPr>
              <a:t>кетуі (</a:t>
            </a:r>
            <a:r>
              <a:rPr lang="kk-KZ" dirty="0">
                <a:latin typeface="Cambria" panose="02040503050406030204" pitchFamily="18" charset="0"/>
                <a:ea typeface="Cambria" panose="02040503050406030204" pitchFamily="18" charset="0"/>
              </a:rPr>
              <a:t>балқу, булану, ыдырау) және олардың тікелей жануына дайындалатын кеңістіктің бөлігі. Оған жұқа жалын қабатымен және жанып тұрған заттардың бетімен шектелген булар мен газдардың көлемі кіреді, олардан булар мен газдар аймақ пен жалынның көлеміне енеді.</a:t>
            </a:r>
            <a:endParaRPr lang="ru-KZ" dirty="0">
              <a:latin typeface="Cambria" panose="02040503050406030204" pitchFamily="18" charset="0"/>
              <a:ea typeface="Cambria" panose="02040503050406030204" pitchFamily="18" charset="0"/>
            </a:endParaRPr>
          </a:p>
          <a:p>
            <a:pPr marL="285750" indent="-285750" algn="just">
              <a:buFont typeface="Wingdings" panose="05000000000000000000" pitchFamily="2" charset="2"/>
              <a:buChar char="ü"/>
            </a:pPr>
            <a:r>
              <a:rPr lang="kk-KZ" b="1" i="1" dirty="0">
                <a:solidFill>
                  <a:srgbClr val="FF0000"/>
                </a:solidFill>
                <a:latin typeface="Cambria" panose="02040503050406030204" pitchFamily="18" charset="0"/>
                <a:ea typeface="Cambria" panose="02040503050406030204" pitchFamily="18" charset="0"/>
              </a:rPr>
              <a:t>Жылулық әсер ету аймағы</a:t>
            </a:r>
            <a:r>
              <a:rPr lang="kk-KZ" dirty="0">
                <a:solidFill>
                  <a:srgbClr val="FF0000"/>
                </a:solidFill>
                <a:latin typeface="Cambria" panose="02040503050406030204" pitchFamily="18" charset="0"/>
                <a:ea typeface="Cambria" panose="02040503050406030204" pitchFamily="18" charset="0"/>
              </a:rPr>
              <a:t> </a:t>
            </a:r>
            <a:r>
              <a:rPr lang="kk-KZ" dirty="0">
                <a:latin typeface="Cambria" panose="02040503050406030204" pitchFamily="18" charset="0"/>
                <a:ea typeface="Cambria" panose="02040503050406030204" pitchFamily="18" charset="0"/>
              </a:rPr>
              <a:t>жану аймағын қоршап тұрған кеңістіктің бөлігі болып табылады. Жылулық әсер ету айналасындағы заттармен материалдар күйінің айтарлықтай өзгеруіне әкеледі және адамдардың бұл аймақта қалуы жылулық әсерден тез арада қорғану қажеттілігін пайда етеді. Егер аймақта жанғыш заттар мен материалдар болса, олар құрғап, қызып, жануға термиялық дайындалады және өрттің одан әрі таралуының нақты қаупін тудырады. </a:t>
            </a:r>
          </a:p>
          <a:p>
            <a:pPr marL="285750" indent="-285750" algn="just">
              <a:buFont typeface="Wingdings" panose="05000000000000000000" pitchFamily="2" charset="2"/>
              <a:buChar char="ü"/>
            </a:pPr>
            <a:r>
              <a:rPr lang="kk-KZ" b="1" i="1" dirty="0">
                <a:solidFill>
                  <a:srgbClr val="FF0000"/>
                </a:solidFill>
                <a:latin typeface="Cambria" panose="02040503050406030204" pitchFamily="18" charset="0"/>
                <a:ea typeface="Cambria" panose="02040503050406030204" pitchFamily="18" charset="0"/>
              </a:rPr>
              <a:t>Түтіндену аймағы</a:t>
            </a:r>
            <a:r>
              <a:rPr lang="kk-KZ" dirty="0">
                <a:solidFill>
                  <a:srgbClr val="FF0000"/>
                </a:solidFill>
                <a:latin typeface="Cambria" panose="02040503050406030204" pitchFamily="18" charset="0"/>
                <a:ea typeface="Cambria" panose="02040503050406030204" pitchFamily="18" charset="0"/>
              </a:rPr>
              <a:t> </a:t>
            </a:r>
            <a:r>
              <a:rPr lang="kk-KZ" dirty="0">
                <a:latin typeface="Cambria" panose="02040503050406030204" pitchFamily="18" charset="0"/>
                <a:ea typeface="Cambria" panose="02040503050406030204" pitchFamily="18" charset="0"/>
              </a:rPr>
              <a:t>жану аймағына іргелес жатқан және адам өмірі мен денсаулығына иісті газдар бөліп шығарумен қауіп төндіретін әрі авариялық-құтқару жұмыстарын жүргізу үшін өрт сөндіру және авариялық-құтқару бөлімшелерінің іс-қимылдарына кедергі келтіретін белгілі бір концентрациядағы түтін газдарымен және олардың термиялық ыдырау өнімдерімен толтырылған кеңістіктің бөлігі болып </a:t>
            </a:r>
            <a:r>
              <a:rPr lang="kk-KZ" dirty="0" smtClean="0">
                <a:latin typeface="Cambria" panose="02040503050406030204" pitchFamily="18" charset="0"/>
                <a:ea typeface="Cambria" panose="02040503050406030204" pitchFamily="18" charset="0"/>
              </a:rPr>
              <a:t>табылады.</a:t>
            </a:r>
            <a:endParaRPr lang="ru-KZ" dirty="0">
              <a:solidFill>
                <a:srgbClr val="FF0000"/>
              </a:solidFill>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58592164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xmlns="" id="{51CB2B8B-D7DF-444A-83AD-F29C82837B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367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395636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EFBDB589-83CE-4E66-B6AD-A9BDCC87A802}"/>
              </a:ext>
            </a:extLst>
          </p:cNvPr>
          <p:cNvSpPr/>
          <p:nvPr/>
        </p:nvSpPr>
        <p:spPr>
          <a:xfrm>
            <a:off x="1550504" y="954413"/>
            <a:ext cx="9288237" cy="503214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lnSpc>
                <a:spcPct val="107000"/>
              </a:lnSpc>
              <a:spcAft>
                <a:spcPts val="0"/>
              </a:spcAft>
            </a:pPr>
            <a:r>
              <a:rPr lang="kk-KZ" sz="20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Жану</a:t>
            </a:r>
            <a:r>
              <a:rPr lang="kk-KZ" sz="2000" dirty="0">
                <a:latin typeface="Cambria" panose="02040503050406030204" pitchFamily="18" charset="0"/>
                <a:ea typeface="Cambria" panose="02040503050406030204" pitchFamily="18" charset="0"/>
                <a:cs typeface="Times New Roman" panose="02020603050405020304" pitchFamily="18" charset="0"/>
              </a:rPr>
              <a:t> –  физика-химиялық үдерістер нәтижесінде химиялық реакциялардың түрленіп жарықпен жылудың бөлінуі.</a:t>
            </a:r>
            <a:endParaRPr lang="ru-KZ" sz="2000" dirty="0">
              <a:latin typeface="Cambria" panose="02040503050406030204" pitchFamily="18" charset="0"/>
              <a:ea typeface="Cambria" panose="02040503050406030204" pitchFamily="18" charset="0"/>
              <a:cs typeface="Times New Roman" panose="02020603050405020304" pitchFamily="18" charset="0"/>
            </a:endParaRPr>
          </a:p>
          <a:p>
            <a:pPr algn="just">
              <a:lnSpc>
                <a:spcPct val="107000"/>
              </a:lnSpc>
              <a:spcAft>
                <a:spcPts val="0"/>
              </a:spcAft>
            </a:pPr>
            <a:r>
              <a:rPr lang="kk-KZ" sz="2000" b="1" i="1" dirty="0">
                <a:solidFill>
                  <a:srgbClr val="FF0000"/>
                </a:solidFill>
                <a:latin typeface="Cambria" panose="02040503050406030204" pitchFamily="18" charset="0"/>
                <a:ea typeface="Cambria" panose="02040503050406030204" pitchFamily="18" charset="0"/>
                <a:cs typeface="Times New Roman" panose="02020603050405020304" pitchFamily="18" charset="0"/>
              </a:rPr>
              <a:t>Жану пайда болу үшін үш фактордың болуы қажет: </a:t>
            </a:r>
          </a:p>
          <a:p>
            <a:pPr marL="285750" indent="-285750" algn="just">
              <a:lnSpc>
                <a:spcPct val="107000"/>
              </a:lnSpc>
              <a:spcAft>
                <a:spcPts val="0"/>
              </a:spcAft>
              <a:buFont typeface="Wingdings" panose="05000000000000000000" pitchFamily="2" charset="2"/>
              <a:buChar char="ü"/>
            </a:pPr>
            <a:r>
              <a:rPr lang="kk-KZ" sz="2000" b="1" dirty="0">
                <a:latin typeface="Cambria" panose="02040503050406030204" pitchFamily="18" charset="0"/>
                <a:ea typeface="Cambria" panose="02040503050406030204" pitchFamily="18" charset="0"/>
                <a:cs typeface="Times New Roman" panose="02020603050405020304" pitchFamily="18" charset="0"/>
              </a:rPr>
              <a:t>жанғыш зат (материал, қоспа);</a:t>
            </a:r>
          </a:p>
          <a:p>
            <a:pPr marL="285750" indent="-285750" algn="just">
              <a:lnSpc>
                <a:spcPct val="107000"/>
              </a:lnSpc>
              <a:spcAft>
                <a:spcPts val="0"/>
              </a:spcAft>
              <a:buFont typeface="Wingdings" panose="05000000000000000000" pitchFamily="2" charset="2"/>
              <a:buChar char="ü"/>
            </a:pPr>
            <a:r>
              <a:rPr lang="kk-KZ" sz="2000" b="1" dirty="0">
                <a:latin typeface="Cambria" panose="02040503050406030204" pitchFamily="18" charset="0"/>
                <a:ea typeface="Cambria" panose="02040503050406030204" pitchFamily="18" charset="0"/>
                <a:cs typeface="Times New Roman" panose="02020603050405020304" pitchFamily="18" charset="0"/>
              </a:rPr>
              <a:t>тотықтырғыш;</a:t>
            </a:r>
          </a:p>
          <a:p>
            <a:pPr marL="285750" indent="-285750" algn="just">
              <a:lnSpc>
                <a:spcPct val="107000"/>
              </a:lnSpc>
              <a:spcAft>
                <a:spcPts val="0"/>
              </a:spcAft>
              <a:buFont typeface="Wingdings" panose="05000000000000000000" pitchFamily="2" charset="2"/>
              <a:buChar char="ü"/>
            </a:pPr>
            <a:r>
              <a:rPr lang="kk-KZ" sz="2000" b="1" dirty="0">
                <a:latin typeface="Cambria" panose="02040503050406030204" pitchFamily="18" charset="0"/>
                <a:ea typeface="Cambria" panose="02040503050406030204" pitchFamily="18" charset="0"/>
                <a:cs typeface="Times New Roman" panose="02020603050405020304" pitchFamily="18" charset="0"/>
              </a:rPr>
              <a:t>тұтану көзі.</a:t>
            </a:r>
            <a:endParaRPr lang="ru-KZ" sz="2000" b="1" dirty="0">
              <a:latin typeface="Cambria" panose="02040503050406030204" pitchFamily="18" charset="0"/>
              <a:ea typeface="Cambria" panose="02040503050406030204" pitchFamily="18" charset="0"/>
              <a:cs typeface="Times New Roman" panose="02020603050405020304" pitchFamily="18" charset="0"/>
            </a:endParaRPr>
          </a:p>
          <a:p>
            <a:pPr algn="just">
              <a:lnSpc>
                <a:spcPct val="107000"/>
              </a:lnSpc>
              <a:spcAft>
                <a:spcPts val="0"/>
              </a:spcAft>
            </a:pPr>
            <a:r>
              <a:rPr lang="kk-KZ" sz="2000" dirty="0">
                <a:latin typeface="Cambria" panose="02040503050406030204" pitchFamily="18" charset="0"/>
                <a:ea typeface="Cambria" panose="02040503050406030204" pitchFamily="18" charset="0"/>
                <a:cs typeface="Times New Roman" panose="02020603050405020304" pitchFamily="18" charset="0"/>
              </a:rPr>
              <a:t>Көп мөлшерде жылудың бөлінуімен жүретін </a:t>
            </a:r>
            <a:r>
              <a:rPr lang="kk-KZ" sz="2000" b="1" i="1" dirty="0">
                <a:solidFill>
                  <a:srgbClr val="FF0000"/>
                </a:solidFill>
                <a:latin typeface="Cambria" panose="02040503050406030204" pitchFamily="18" charset="0"/>
                <a:ea typeface="Cambria" panose="02040503050406030204" pitchFamily="18" charset="0"/>
                <a:cs typeface="Times New Roman" panose="02020603050405020304" pitchFamily="18" charset="0"/>
              </a:rPr>
              <a:t>химиялық жану реакциясы</a:t>
            </a:r>
            <a:r>
              <a:rPr lang="kk-KZ" sz="2000" i="1" dirty="0">
                <a:solidFill>
                  <a:srgbClr val="FF0000"/>
                </a:solidFill>
                <a:latin typeface="Cambria" panose="02040503050406030204" pitchFamily="18" charset="0"/>
                <a:ea typeface="Cambria" panose="02040503050406030204" pitchFamily="18" charset="0"/>
                <a:cs typeface="Times New Roman" panose="02020603050405020304" pitchFamily="18" charset="0"/>
              </a:rPr>
              <a:t> </a:t>
            </a:r>
            <a:r>
              <a:rPr lang="kk-KZ" sz="2000" dirty="0">
                <a:latin typeface="Cambria" panose="02040503050406030204" pitchFamily="18" charset="0"/>
                <a:ea typeface="Cambria" panose="02040503050406030204" pitchFamily="18" charset="0"/>
                <a:cs typeface="Times New Roman" panose="02020603050405020304" pitchFamily="18" charset="0"/>
              </a:rPr>
              <a:t>әрдайым дерлік әртүрлі физикалық құбылыстармен бірге жүреді. Сонымен, жану процесінде әрекеттесетін заттар мен жану өнімдерінің жылуы бір жерден екінші жерге ауысады. Жану реакциясы аймағында болатын барлық процестер бір-бірімен байланысты. </a:t>
            </a:r>
          </a:p>
          <a:p>
            <a:pPr algn="just">
              <a:lnSpc>
                <a:spcPct val="107000"/>
              </a:lnSpc>
            </a:pPr>
            <a:r>
              <a:rPr lang="kk-KZ" sz="2000" dirty="0">
                <a:latin typeface="Cambria" panose="02040503050406030204" pitchFamily="18" charset="0"/>
                <a:ea typeface="Cambria" panose="02040503050406030204" pitchFamily="18" charset="0"/>
              </a:rPr>
              <a:t>	Химиялық реакциялардың жылдамдығы заттың жылу беру деңгейімен және диффузия жылдамдығымен, ал керісінше химиялық реакцияның жылдамдығына байланысты физикалық көрсеткіштермен (температура, қысым, зат алмасу жылдамдығы) анықталады</a:t>
            </a:r>
            <a:r>
              <a:rPr lang="kk-KZ" dirty="0">
                <a:latin typeface="Cambria" panose="02040503050406030204" pitchFamily="18" charset="0"/>
                <a:ea typeface="Cambria" panose="02040503050406030204" pitchFamily="18" charset="0"/>
              </a:rPr>
              <a:t>. </a:t>
            </a:r>
            <a:endParaRPr lang="ru-KZ"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8848656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E8491D8C-AB2A-4E0A-81BC-070F5FE29386}"/>
              </a:ext>
            </a:extLst>
          </p:cNvPr>
          <p:cNvSpPr/>
          <p:nvPr/>
        </p:nvSpPr>
        <p:spPr>
          <a:xfrm>
            <a:off x="1429214" y="722874"/>
            <a:ext cx="9333571" cy="541225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lnSpc>
                <a:spcPct val="107000"/>
              </a:lnSpc>
              <a:spcAft>
                <a:spcPts val="0"/>
              </a:spcAft>
            </a:pPr>
            <a:r>
              <a:rPr lang="kk-KZ" dirty="0">
                <a:latin typeface="Times New Roman" panose="02020603050405020304" pitchFamily="18" charset="0"/>
                <a:ea typeface="Calibri" panose="020F0502020204030204" pitchFamily="34" charset="0"/>
                <a:cs typeface="Times New Roman" panose="02020603050405020304" pitchFamily="18" charset="0"/>
              </a:rPr>
              <a:t>Өз кезегінде </a:t>
            </a:r>
            <a:r>
              <a:rPr lang="kk-KZ" i="1" dirty="0">
                <a:latin typeface="Times New Roman" panose="02020603050405020304" pitchFamily="18" charset="0"/>
                <a:ea typeface="Calibri" panose="020F0502020204030204" pitchFamily="34" charset="0"/>
                <a:cs typeface="Times New Roman" panose="02020603050405020304" pitchFamily="18" charset="0"/>
              </a:rPr>
              <a:t>барлық жанғыш заттар мен материалдар </a:t>
            </a:r>
            <a:r>
              <a:rPr lang="kk-KZ" dirty="0">
                <a:latin typeface="Times New Roman" panose="02020603050405020304" pitchFamily="18" charset="0"/>
                <a:ea typeface="Calibri" panose="020F0502020204030204" pitchFamily="34" charset="0"/>
                <a:cs typeface="Times New Roman" panose="02020603050405020304" pitchFamily="18" charset="0"/>
              </a:rPr>
              <a:t>үш топқа </a:t>
            </a:r>
            <a:r>
              <a:rPr lang="kk-KZ" b="1" dirty="0">
                <a:latin typeface="Times New Roman" panose="02020603050405020304" pitchFamily="18" charset="0"/>
                <a:ea typeface="Calibri" panose="020F0502020204030204" pitchFamily="34" charset="0"/>
                <a:cs typeface="Times New Roman" panose="02020603050405020304" pitchFamily="18" charset="0"/>
              </a:rPr>
              <a:t>тез тұтанғыш</a:t>
            </a:r>
            <a:r>
              <a:rPr lang="kk-KZ" dirty="0">
                <a:latin typeface="Times New Roman" panose="02020603050405020304" pitchFamily="18" charset="0"/>
                <a:ea typeface="Calibri" panose="020F0502020204030204" pitchFamily="34" charset="0"/>
                <a:cs typeface="Times New Roman" panose="02020603050405020304" pitchFamily="18" charset="0"/>
              </a:rPr>
              <a:t>, </a:t>
            </a:r>
            <a:r>
              <a:rPr lang="kk-KZ" b="1" dirty="0">
                <a:latin typeface="Times New Roman" panose="02020603050405020304" pitchFamily="18" charset="0"/>
                <a:ea typeface="Calibri" panose="020F0502020204030204" pitchFamily="34" charset="0"/>
                <a:cs typeface="Times New Roman" panose="02020603050405020304" pitchFamily="18" charset="0"/>
              </a:rPr>
              <a:t>орташа тұтанғыш, </a:t>
            </a:r>
            <a:r>
              <a:rPr lang="kk-KZ" dirty="0">
                <a:latin typeface="Times New Roman" panose="02020603050405020304" pitchFamily="18" charset="0"/>
                <a:ea typeface="Calibri" panose="020F0502020204030204" pitchFamily="34" charset="0"/>
                <a:cs typeface="Times New Roman" panose="02020603050405020304" pitchFamily="18" charset="0"/>
              </a:rPr>
              <a:t>және </a:t>
            </a:r>
            <a:r>
              <a:rPr lang="kk-KZ" b="1" dirty="0">
                <a:latin typeface="Times New Roman" panose="02020603050405020304" pitchFamily="18" charset="0"/>
                <a:ea typeface="Calibri" panose="020F0502020204030204" pitchFamily="34" charset="0"/>
                <a:cs typeface="Times New Roman" panose="02020603050405020304" pitchFamily="18" charset="0"/>
              </a:rPr>
              <a:t>қиын тұтанатын </a:t>
            </a:r>
            <a:r>
              <a:rPr lang="kk-KZ" dirty="0">
                <a:latin typeface="Times New Roman" panose="02020603050405020304" pitchFamily="18" charset="0"/>
                <a:ea typeface="Calibri" panose="020F0502020204030204" pitchFamily="34" charset="0"/>
                <a:cs typeface="Times New Roman" panose="02020603050405020304" pitchFamily="18" charset="0"/>
              </a:rPr>
              <a:t>деп бөлінеді:</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07000"/>
              </a:lnSpc>
              <a:spcAft>
                <a:spcPts val="0"/>
              </a:spcAft>
              <a:buFont typeface="Wingdings" panose="05000000000000000000" pitchFamily="2" charset="2"/>
              <a:buChar char="v"/>
            </a:pPr>
            <a:r>
              <a:rPr lang="kk-KZ"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Тез тұтанғыш заттар</a:t>
            </a:r>
            <a:r>
              <a:rPr lang="kk-KZ"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kk-KZ" dirty="0">
                <a:latin typeface="Times New Roman" panose="02020603050405020304" pitchFamily="18" charset="0"/>
                <a:ea typeface="Calibri" panose="020F0502020204030204" pitchFamily="34" charset="0"/>
                <a:cs typeface="Times New Roman" panose="02020603050405020304" pitchFamily="18" charset="0"/>
              </a:rPr>
              <a:t>(материалдар, қоспалар) сіріңке жалынының, ұшқынның, қызған электр сымының және сол сияқты төмен энергиялы тұтану көздерінің қысқа мерзімді әсерінен тұтануға қабілетті заттар (материалдар, қоспалар) деп аталады.</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07000"/>
              </a:lnSpc>
              <a:spcAft>
                <a:spcPts val="0"/>
              </a:spcAft>
              <a:buFont typeface="Wingdings" panose="05000000000000000000" pitchFamily="2" charset="2"/>
              <a:buChar char="v"/>
            </a:pPr>
            <a:r>
              <a:rPr lang="kk-KZ"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Орташа тұтанатын</a:t>
            </a:r>
            <a:r>
              <a:rPr lang="kk-KZ"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kk-KZ" dirty="0">
                <a:latin typeface="Times New Roman" panose="02020603050405020304" pitchFamily="18" charset="0"/>
                <a:ea typeface="Calibri" panose="020F0502020204030204" pitchFamily="34" charset="0"/>
                <a:cs typeface="Times New Roman" panose="02020603050405020304" pitchFamily="18" charset="0"/>
              </a:rPr>
              <a:t>төмен энергиялы тұтану көзінің ұзақ әсерінен тұтануға қабілетті заттар (материалдар, қоспалар) болады.</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marL="285750" indent="-285750" algn="just">
              <a:lnSpc>
                <a:spcPct val="107000"/>
              </a:lnSpc>
              <a:spcAft>
                <a:spcPts val="0"/>
              </a:spcAft>
              <a:buFont typeface="Wingdings" panose="05000000000000000000" pitchFamily="2" charset="2"/>
              <a:buChar char="v"/>
            </a:pPr>
            <a:r>
              <a:rPr lang="kk-KZ"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Қиын тұтанатын (жанатын) заттар</a:t>
            </a:r>
            <a:r>
              <a:rPr lang="kk-KZ"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 </a:t>
            </a:r>
            <a:r>
              <a:rPr lang="kk-KZ" dirty="0">
                <a:latin typeface="Times New Roman" panose="02020603050405020304" pitchFamily="18" charset="0"/>
                <a:ea typeface="Calibri" panose="020F0502020204030204" pitchFamily="34" charset="0"/>
                <a:cs typeface="Times New Roman" panose="02020603050405020304" pitchFamily="18" charset="0"/>
              </a:rPr>
              <a:t>(материалдар, қоспалар) – бұл заттың едәуір бөлігі тұтану температурасына дейін қыздыратын қуатты тұтану көзінің әсерінен ғана тұтануға қабілетті.</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kk-KZ" b="1" dirty="0">
                <a:latin typeface="Times New Roman" panose="02020603050405020304" pitchFamily="18" charset="0"/>
                <a:ea typeface="Calibri" panose="020F0502020204030204" pitchFamily="34" charset="0"/>
                <a:cs typeface="Times New Roman" panose="02020603050405020304" pitchFamily="18" charset="0"/>
              </a:rPr>
              <a:t>Тез тұтанғыш заттар</a:t>
            </a:r>
            <a:r>
              <a:rPr lang="kk-KZ" dirty="0">
                <a:latin typeface="Times New Roman" panose="02020603050405020304" pitchFamily="18" charset="0"/>
                <a:ea typeface="Calibri" panose="020F0502020204030204" pitchFamily="34" charset="0"/>
                <a:cs typeface="Times New Roman" panose="02020603050405020304" pitchFamily="18" charset="0"/>
              </a:rPr>
              <a:t> тобына бірінші кезекте газдармен </a:t>
            </a:r>
            <a:r>
              <a:rPr lang="kk-KZ" b="1" dirty="0">
                <a:solidFill>
                  <a:srgbClr val="FF0000"/>
                </a:solidFill>
                <a:latin typeface="Times New Roman" panose="02020603050405020304" pitchFamily="18" charset="0"/>
                <a:ea typeface="Calibri" panose="020F0502020204030204" pitchFamily="34" charset="0"/>
                <a:cs typeface="Times New Roman" panose="02020603050405020304" pitchFamily="18" charset="0"/>
              </a:rPr>
              <a:t>тез жанатын сұйықтықтар </a:t>
            </a:r>
            <a:r>
              <a:rPr lang="kk-KZ" dirty="0">
                <a:latin typeface="Times New Roman" panose="02020603050405020304" pitchFamily="18" charset="0"/>
                <a:ea typeface="Calibri" panose="020F0502020204030204" pitchFamily="34" charset="0"/>
                <a:cs typeface="Times New Roman" panose="02020603050405020304" pitchFamily="18" charset="0"/>
              </a:rPr>
              <a:t>жатады. Тез </a:t>
            </a:r>
            <a:r>
              <a:rPr lang="kk-KZ"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тұтанғыш сұйықтықтарға (жанғыш сұйықтықтар) жабық тигельдегі тұтану температурасы +61°С аспайтын тұтанғыш сұйықтықтар жатады.</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kk-KZ"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Олар 3 санатқа бөлінеді:</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kk-KZ"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 – жоғары қауіпті тұтанғыш сұйықтықтар, тұтану температурасы - 18°C дейін;</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kk-KZ"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II - </a:t>
            </a:r>
            <a:r>
              <a:rPr lang="kk-KZ"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қауіпті </a:t>
            </a:r>
            <a:r>
              <a:rPr lang="kk-KZ"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тұтанғыш сұйықтықтар, тұтану температурасы - 18-ден 23°C-қа дейінгі; </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algn="just" fontAlgn="base">
              <a:lnSpc>
                <a:spcPct val="107000"/>
              </a:lnSpc>
              <a:spcAft>
                <a:spcPts val="0"/>
              </a:spcAft>
            </a:pPr>
            <a:r>
              <a:rPr lang="kk-KZ"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III </a:t>
            </a:r>
            <a:r>
              <a:rPr lang="kk-KZ" dirty="0" smtClean="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орташа қауіпті</a:t>
            </a:r>
            <a:r>
              <a:rPr lang="kk-KZ"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 ауа немесе сұйықтық температурасы өскенде, тұтану температурасы 23°-тан 61°C-қа дейін қауіпті.</a:t>
            </a:r>
            <a:endParaRPr lang="ru-KZ"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265056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271853C7-2B33-4C38-ABB3-E6E18E529122}"/>
              </a:ext>
            </a:extLst>
          </p:cNvPr>
          <p:cNvSpPr/>
          <p:nvPr/>
        </p:nvSpPr>
        <p:spPr>
          <a:xfrm>
            <a:off x="89209" y="144966"/>
            <a:ext cx="10203366" cy="670440"/>
          </a:xfrm>
          <a:prstGeom prst="rect">
            <a:avLst/>
          </a:prstGeom>
        </p:spPr>
        <p:txBody>
          <a:bodyPr wrap="square">
            <a:spAutoFit/>
          </a:bodyPr>
          <a:lstStyle/>
          <a:p>
            <a:pPr algn="just">
              <a:lnSpc>
                <a:spcPct val="107000"/>
              </a:lnSpc>
              <a:spcAft>
                <a:spcPts val="0"/>
              </a:spcAft>
            </a:pPr>
            <a:r>
              <a:rPr lang="kk-KZ" b="1" dirty="0">
                <a:latin typeface="Times New Roman" panose="02020603050405020304" pitchFamily="18" charset="0"/>
                <a:ea typeface="Calibri" panose="020F0502020204030204" pitchFamily="34" charset="0"/>
                <a:cs typeface="Times New Roman" panose="02020603050405020304" pitchFamily="18" charset="0"/>
              </a:rPr>
              <a:t>Өрт-жарылыс  және </a:t>
            </a:r>
          </a:p>
          <a:p>
            <a:pPr algn="just">
              <a:lnSpc>
                <a:spcPct val="107000"/>
              </a:lnSpc>
              <a:spcAft>
                <a:spcPts val="0"/>
              </a:spcAft>
            </a:pPr>
            <a:r>
              <a:rPr lang="kk-KZ" b="1" dirty="0">
                <a:latin typeface="Times New Roman" panose="02020603050405020304" pitchFamily="18" charset="0"/>
                <a:ea typeface="Calibri" panose="020F0502020204030204" pitchFamily="34" charset="0"/>
                <a:cs typeface="Times New Roman" panose="02020603050405020304" pitchFamily="18" charset="0"/>
              </a:rPr>
              <a:t>өрт қауіптілігі бойынша санаттары</a:t>
            </a:r>
            <a:endParaRPr lang="ru-KZ" sz="1400" dirty="0">
              <a:latin typeface="Calibri" panose="020F0502020204030204" pitchFamily="34" charset="0"/>
              <a:ea typeface="Calibri" panose="020F0502020204030204" pitchFamily="34" charset="0"/>
              <a:cs typeface="Times New Roman" panose="02020603050405020304" pitchFamily="18" charset="0"/>
            </a:endParaRPr>
          </a:p>
        </p:txBody>
      </p:sp>
      <p:pic>
        <p:nvPicPr>
          <p:cNvPr id="3" name="Рисунок 2">
            <a:extLst>
              <a:ext uri="{FF2B5EF4-FFF2-40B4-BE49-F238E27FC236}">
                <a16:creationId xmlns:a16="http://schemas.microsoft.com/office/drawing/2014/main" xmlns="" id="{D2B7768E-989C-4130-A4A4-BF8930B8D2F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3860747" y="-89453"/>
            <a:ext cx="8222166" cy="6735337"/>
          </a:xfrm>
          <a:prstGeom prst="rect">
            <a:avLst/>
          </a:prstGeom>
          <a:noFill/>
          <a:ln>
            <a:noFill/>
          </a:ln>
        </p:spPr>
      </p:pic>
      <p:sp>
        <p:nvSpPr>
          <p:cNvPr id="4" name="Прямоугольник 3">
            <a:extLst>
              <a:ext uri="{FF2B5EF4-FFF2-40B4-BE49-F238E27FC236}">
                <a16:creationId xmlns:a16="http://schemas.microsoft.com/office/drawing/2014/main" xmlns="" id="{4E826191-EDAA-4EDE-91EA-55C3B454B9EC}"/>
              </a:ext>
            </a:extLst>
          </p:cNvPr>
          <p:cNvSpPr/>
          <p:nvPr/>
        </p:nvSpPr>
        <p:spPr>
          <a:xfrm>
            <a:off x="557561" y="6282135"/>
            <a:ext cx="6096000" cy="453201"/>
          </a:xfrm>
          <a:prstGeom prst="rect">
            <a:avLst/>
          </a:prstGeom>
        </p:spPr>
        <p:style>
          <a:lnRef idx="2">
            <a:schemeClr val="accent1"/>
          </a:lnRef>
          <a:fillRef idx="1">
            <a:schemeClr val="lt1"/>
          </a:fillRef>
          <a:effectRef idx="0">
            <a:schemeClr val="accent1"/>
          </a:effectRef>
          <a:fontRef idx="minor">
            <a:schemeClr val="dk1"/>
          </a:fontRef>
        </p:style>
        <p:txBody>
          <a:bodyPr>
            <a:spAutoFit/>
          </a:bodyPr>
          <a:lstStyle/>
          <a:p>
            <a:pPr algn="just" fontAlgn="base">
              <a:lnSpc>
                <a:spcPts val="1425"/>
              </a:lnSpc>
            </a:pPr>
            <a:r>
              <a:rPr lang="kk-KZ" sz="1600" dirty="0">
                <a:solidFill>
                  <a:srgbClr val="1E1E1E"/>
                </a:solidFill>
                <a:latin typeface="Cambria" panose="02040503050406030204" pitchFamily="18" charset="0"/>
                <a:ea typeface="Cambria" panose="02040503050406030204" pitchFamily="18" charset="0"/>
              </a:rPr>
              <a:t>Сурет 1- Ғимараттарды, құрылыстарды және үй-жайларды өрт-жарылыс қауіптілігі және өрт қауіптілігі бойынша жіктеу</a:t>
            </a:r>
            <a:endParaRPr lang="ru-KZ" sz="1600" dirty="0">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581476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2B72705F-6AB5-4A18-957D-68541C2DCE95}"/>
              </a:ext>
            </a:extLst>
          </p:cNvPr>
          <p:cNvSpPr/>
          <p:nvPr/>
        </p:nvSpPr>
        <p:spPr>
          <a:xfrm>
            <a:off x="1326995" y="431324"/>
            <a:ext cx="9422781" cy="646331"/>
          </a:xfrm>
          <a:prstGeom prst="rect">
            <a:avLst/>
          </a:prstGeom>
        </p:spPr>
        <p:txBody>
          <a:bodyPr wrap="square">
            <a:spAutoFit/>
          </a:bodyPr>
          <a:lstStyle/>
          <a:p>
            <a:pPr algn="ctr" fontAlgn="base"/>
            <a:r>
              <a:rPr lang="kk-KZ" spc="10" dirty="0">
                <a:solidFill>
                  <a:srgbClr val="000000"/>
                </a:solidFill>
                <a:latin typeface="Times New Roman" panose="02020603050405020304" pitchFamily="18" charset="0"/>
                <a:ea typeface="Times New Roman" panose="02020603050405020304" pitchFamily="18" charset="0"/>
              </a:rPr>
              <a:t>Функционалдық өрт қауіптілігі класы </a:t>
            </a:r>
            <a:r>
              <a:rPr lang="kk-KZ" b="1" spc="10" dirty="0">
                <a:solidFill>
                  <a:srgbClr val="000000"/>
                </a:solidFill>
                <a:latin typeface="Times New Roman" panose="02020603050405020304" pitchFamily="18" charset="0"/>
                <a:ea typeface="Times New Roman" panose="02020603050405020304" pitchFamily="18" charset="0"/>
              </a:rPr>
              <a:t>Ф5 – өндірістік </a:t>
            </a:r>
            <a:r>
              <a:rPr lang="kk-KZ" spc="10" dirty="0">
                <a:solidFill>
                  <a:srgbClr val="000000"/>
                </a:solidFill>
                <a:latin typeface="Times New Roman" panose="02020603050405020304" pitchFamily="18" charset="0"/>
                <a:ea typeface="Times New Roman" panose="02020603050405020304" pitchFamily="18" charset="0"/>
              </a:rPr>
              <a:t>үй-жайлар мен ғимараттар өрт-жарылыс қауіптілігі және өрт қауіптілігі бойынша 2-суретте мынадай санаттарға бөлінеді:</a:t>
            </a:r>
            <a:endParaRPr lang="ru-KZ" sz="1600" dirty="0">
              <a:effectLst/>
              <a:latin typeface="Times New Roman" panose="02020603050405020304" pitchFamily="18" charset="0"/>
              <a:ea typeface="Times New Roman" panose="02020603050405020304" pitchFamily="18" charset="0"/>
            </a:endParaRPr>
          </a:p>
        </p:txBody>
      </p:sp>
      <p:pic>
        <p:nvPicPr>
          <p:cNvPr id="3" name="Рисунок 2">
            <a:extLst>
              <a:ext uri="{FF2B5EF4-FFF2-40B4-BE49-F238E27FC236}">
                <a16:creationId xmlns:a16="http://schemas.microsoft.com/office/drawing/2014/main" xmlns="" id="{33D6D4A1-FED2-4C0B-B92D-A23A515C1454}"/>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867490" y="1595437"/>
            <a:ext cx="6332266" cy="2987714"/>
          </a:xfrm>
          <a:prstGeom prst="rect">
            <a:avLst/>
          </a:prstGeom>
          <a:solidFill>
            <a:schemeClr val="bg2">
              <a:lumMod val="90000"/>
            </a:schemeClr>
          </a:solidFill>
          <a:ln>
            <a:solidFill>
              <a:schemeClr val="tx1">
                <a:lumMod val="95000"/>
                <a:lumOff val="5000"/>
              </a:schemeClr>
            </a:solidFill>
          </a:ln>
        </p:spPr>
      </p:pic>
      <p:sp>
        <p:nvSpPr>
          <p:cNvPr id="4" name="Прямоугольник 3">
            <a:extLst>
              <a:ext uri="{FF2B5EF4-FFF2-40B4-BE49-F238E27FC236}">
                <a16:creationId xmlns:a16="http://schemas.microsoft.com/office/drawing/2014/main" xmlns="" id="{32509E9D-C802-4945-880A-AEBAFEF28271}"/>
              </a:ext>
            </a:extLst>
          </p:cNvPr>
          <p:cNvSpPr/>
          <p:nvPr/>
        </p:nvSpPr>
        <p:spPr>
          <a:xfrm>
            <a:off x="1728439" y="4930805"/>
            <a:ext cx="7882286" cy="663515"/>
          </a:xfrm>
          <a:prstGeom prst="rect">
            <a:avLst/>
          </a:prstGeom>
        </p:spPr>
        <p:txBody>
          <a:bodyPr wrap="square">
            <a:spAutoFit/>
          </a:bodyPr>
          <a:lstStyle/>
          <a:p>
            <a:pPr algn="ctr" fontAlgn="base">
              <a:lnSpc>
                <a:spcPct val="107000"/>
              </a:lnSpc>
              <a:spcBef>
                <a:spcPts val="200"/>
              </a:spcBef>
              <a:spcAft>
                <a:spcPts val="0"/>
              </a:spcAft>
            </a:pPr>
            <a:r>
              <a:rPr lang="kk-KZ" dirty="0">
                <a:solidFill>
                  <a:srgbClr val="1E1E1E"/>
                </a:solidFill>
                <a:latin typeface="Cambria" panose="02040503050406030204" pitchFamily="18" charset="0"/>
                <a:ea typeface="Cambria" panose="02040503050406030204" pitchFamily="18" charset="0"/>
                <a:cs typeface="Times New Roman" panose="02020603050405020304" pitchFamily="18" charset="0"/>
              </a:rPr>
              <a:t>Сурет 2 -</a:t>
            </a:r>
            <a:r>
              <a:rPr lang="kk-KZ" spc="10" dirty="0">
                <a:solidFill>
                  <a:srgbClr val="000000"/>
                </a:solidFill>
                <a:latin typeface="Cambria" panose="02040503050406030204" pitchFamily="18" charset="0"/>
                <a:ea typeface="Cambria" panose="02040503050406030204" pitchFamily="18" charset="0"/>
                <a:cs typeface="Times New Roman" panose="02020603050405020304" pitchFamily="18" charset="0"/>
              </a:rPr>
              <a:t> Өндірістік немесе қойма мақсатына арналған үй-жайлар мен ғимараттар өрт-жарылыс қауіптілігі </a:t>
            </a:r>
            <a:endParaRPr lang="ru-KZ" dirty="0">
              <a:solidFill>
                <a:srgbClr val="1F3763"/>
              </a:solidFill>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3391736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xmlns="" id="{221C3529-A3B2-4594-B2AE-83B002F8EB76}"/>
              </a:ext>
            </a:extLst>
          </p:cNvPr>
          <p:cNvGraphicFramePr>
            <a:graphicFrameLocks noGrp="1"/>
          </p:cNvGraphicFramePr>
          <p:nvPr>
            <p:extLst>
              <p:ext uri="{D42A27DB-BD31-4B8C-83A1-F6EECF244321}">
                <p14:modId xmlns:p14="http://schemas.microsoft.com/office/powerpoint/2010/main" val="560109549"/>
              </p:ext>
            </p:extLst>
          </p:nvPr>
        </p:nvGraphicFramePr>
        <p:xfrm>
          <a:off x="1162878" y="506862"/>
          <a:ext cx="9780105" cy="5655225"/>
        </p:xfrm>
        <a:graphic>
          <a:graphicData uri="http://schemas.openxmlformats.org/drawingml/2006/table">
            <a:tbl>
              <a:tblPr firstRow="1" firstCol="1" bandRow="1">
                <a:tableStyleId>{5940675A-B579-460E-94D1-54222C63F5DA}</a:tableStyleId>
              </a:tblPr>
              <a:tblGrid>
                <a:gridCol w="1950808">
                  <a:extLst>
                    <a:ext uri="{9D8B030D-6E8A-4147-A177-3AD203B41FA5}">
                      <a16:colId xmlns:a16="http://schemas.microsoft.com/office/drawing/2014/main" xmlns="" val="3614316737"/>
                    </a:ext>
                  </a:extLst>
                </a:gridCol>
                <a:gridCol w="7829297">
                  <a:extLst>
                    <a:ext uri="{9D8B030D-6E8A-4147-A177-3AD203B41FA5}">
                      <a16:colId xmlns:a16="http://schemas.microsoft.com/office/drawing/2014/main" xmlns="" val="2866273338"/>
                    </a:ext>
                  </a:extLst>
                </a:gridCol>
              </a:tblGrid>
              <a:tr h="510062">
                <a:tc>
                  <a:txBody>
                    <a:bodyPr/>
                    <a:lstStyle/>
                    <a:p>
                      <a:pPr algn="ctr">
                        <a:lnSpc>
                          <a:spcPct val="107000"/>
                        </a:lnSpc>
                        <a:spcAft>
                          <a:spcPts val="0"/>
                        </a:spcAft>
                        <a:tabLst>
                          <a:tab pos="3886200" algn="l"/>
                        </a:tabLst>
                      </a:pPr>
                      <a:r>
                        <a:rPr lang="ru-RU" sz="1600" dirty="0" err="1">
                          <a:effectLst/>
                          <a:latin typeface="Cambria" panose="02040503050406030204" pitchFamily="18" charset="0"/>
                          <a:ea typeface="Cambria" panose="02040503050406030204" pitchFamily="18" charset="0"/>
                        </a:rPr>
                        <a:t>Үй-жайлар</a:t>
                      </a:r>
                      <a:r>
                        <a:rPr lang="ru-RU" sz="1600" dirty="0">
                          <a:effectLst/>
                          <a:latin typeface="Cambria" panose="02040503050406030204" pitchFamily="18" charset="0"/>
                          <a:ea typeface="Cambria" panose="02040503050406030204" pitchFamily="18" charset="0"/>
                        </a:rPr>
                        <a:t> </a:t>
                      </a:r>
                      <a:r>
                        <a:rPr lang="ru-RU" sz="1600" dirty="0" err="1">
                          <a:effectLst/>
                          <a:latin typeface="Cambria" panose="02040503050406030204" pitchFamily="18" charset="0"/>
                          <a:ea typeface="Cambria" panose="02040503050406030204" pitchFamily="18" charset="0"/>
                        </a:rPr>
                        <a:t>санаты</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58596" marR="58596" marT="0" marB="0">
                    <a:solidFill>
                      <a:srgbClr val="FFFF00"/>
                    </a:solidFill>
                  </a:tcPr>
                </a:tc>
                <a:tc>
                  <a:txBody>
                    <a:bodyPr/>
                    <a:lstStyle/>
                    <a:p>
                      <a:pPr algn="ctr">
                        <a:lnSpc>
                          <a:spcPct val="107000"/>
                        </a:lnSpc>
                        <a:spcAft>
                          <a:spcPts val="0"/>
                        </a:spcAft>
                        <a:tabLst>
                          <a:tab pos="3886200" algn="l"/>
                        </a:tabLst>
                      </a:pPr>
                      <a:r>
                        <a:rPr lang="ru-RU" sz="1600" dirty="0" err="1">
                          <a:effectLst/>
                          <a:latin typeface="Cambria" panose="02040503050406030204" pitchFamily="18" charset="0"/>
                          <a:ea typeface="Cambria" panose="02040503050406030204" pitchFamily="18" charset="0"/>
                        </a:rPr>
                        <a:t>Үй-жайдағы</a:t>
                      </a:r>
                      <a:r>
                        <a:rPr lang="ru-RU" sz="1600" dirty="0">
                          <a:effectLst/>
                          <a:latin typeface="Cambria" panose="02040503050406030204" pitchFamily="18" charset="0"/>
                          <a:ea typeface="Cambria" panose="02040503050406030204" pitchFamily="18" charset="0"/>
                        </a:rPr>
                        <a:t> </a:t>
                      </a:r>
                      <a:r>
                        <a:rPr lang="ru-RU" sz="1600" dirty="0" err="1">
                          <a:effectLst/>
                          <a:latin typeface="Cambria" panose="02040503050406030204" pitchFamily="18" charset="0"/>
                          <a:ea typeface="Cambria" panose="02040503050406030204" pitchFamily="18" charset="0"/>
                        </a:rPr>
                        <a:t>заттар</a:t>
                      </a:r>
                      <a:r>
                        <a:rPr lang="ru-RU" sz="1600" dirty="0">
                          <a:effectLst/>
                          <a:latin typeface="Cambria" panose="02040503050406030204" pitchFamily="18" charset="0"/>
                          <a:ea typeface="Cambria" panose="02040503050406030204" pitchFamily="18" charset="0"/>
                        </a:rPr>
                        <a:t> мен </a:t>
                      </a:r>
                      <a:r>
                        <a:rPr lang="ru-RU" sz="1600" dirty="0" err="1">
                          <a:effectLst/>
                          <a:latin typeface="Cambria" panose="02040503050406030204" pitchFamily="18" charset="0"/>
                          <a:ea typeface="Cambria" panose="02040503050406030204" pitchFamily="18" charset="0"/>
                        </a:rPr>
                        <a:t>материалдардың</a:t>
                      </a:r>
                      <a:r>
                        <a:rPr lang="ru-RU" sz="1600" dirty="0">
                          <a:effectLst/>
                          <a:latin typeface="Cambria" panose="02040503050406030204" pitchFamily="18" charset="0"/>
                          <a:ea typeface="Cambria" panose="02040503050406030204" pitchFamily="18" charset="0"/>
                        </a:rPr>
                        <a:t> </a:t>
                      </a:r>
                      <a:r>
                        <a:rPr lang="ru-RU" sz="1600" dirty="0" err="1">
                          <a:effectLst/>
                          <a:latin typeface="Cambria" panose="02040503050406030204" pitchFamily="18" charset="0"/>
                          <a:ea typeface="Cambria" panose="02040503050406030204" pitchFamily="18" charset="0"/>
                        </a:rPr>
                        <a:t>сипаттамасы</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58596" marR="58596" marT="0" marB="0">
                    <a:solidFill>
                      <a:srgbClr val="FFFF00"/>
                    </a:solidFill>
                  </a:tcPr>
                </a:tc>
                <a:extLst>
                  <a:ext uri="{0D108BD9-81ED-4DB2-BD59-A6C34878D82A}">
                    <a16:rowId xmlns:a16="http://schemas.microsoft.com/office/drawing/2014/main" xmlns="" val="2852302072"/>
                  </a:ext>
                </a:extLst>
              </a:tr>
              <a:tr h="1318772">
                <a:tc>
                  <a:txBody>
                    <a:bodyPr/>
                    <a:lstStyle/>
                    <a:p>
                      <a:pPr>
                        <a:lnSpc>
                          <a:spcPct val="107000"/>
                        </a:lnSpc>
                        <a:spcAft>
                          <a:spcPts val="0"/>
                        </a:spcAft>
                        <a:tabLst>
                          <a:tab pos="3886200" algn="l"/>
                        </a:tabLst>
                      </a:pPr>
                      <a:r>
                        <a:rPr lang="kk-KZ" sz="1600" dirty="0">
                          <a:effectLst/>
                          <a:latin typeface="Cambria" panose="02040503050406030204" pitchFamily="18" charset="0"/>
                          <a:ea typeface="Cambria" panose="02040503050406030204" pitchFamily="18" charset="0"/>
                        </a:rPr>
                        <a:t>               </a:t>
                      </a:r>
                      <a:r>
                        <a:rPr lang="ru-RU" sz="1600" dirty="0">
                          <a:effectLst/>
                          <a:latin typeface="Cambria" panose="02040503050406030204" pitchFamily="18" charset="0"/>
                          <a:ea typeface="Cambria" panose="02040503050406030204" pitchFamily="18" charset="0"/>
                        </a:rPr>
                        <a:t>А</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p>
                      <a:pPr algn="ctr">
                        <a:lnSpc>
                          <a:spcPct val="107000"/>
                        </a:lnSpc>
                        <a:spcAft>
                          <a:spcPts val="0"/>
                        </a:spcAft>
                        <a:tabLst>
                          <a:tab pos="3886200" algn="l"/>
                        </a:tabLst>
                      </a:pPr>
                      <a:r>
                        <a:rPr lang="ru-RU" sz="1600" dirty="0" err="1">
                          <a:effectLst/>
                          <a:latin typeface="Cambria" panose="02040503050406030204" pitchFamily="18" charset="0"/>
                          <a:ea typeface="Cambria" panose="02040503050406030204" pitchFamily="18" charset="0"/>
                        </a:rPr>
                        <a:t>жоғары</a:t>
                      </a:r>
                      <a:r>
                        <a:rPr lang="ru-RU" sz="1600" dirty="0">
                          <a:effectLst/>
                          <a:latin typeface="Cambria" panose="02040503050406030204" pitchFamily="18" charset="0"/>
                          <a:ea typeface="Cambria" panose="02040503050406030204" pitchFamily="18" charset="0"/>
                        </a:rPr>
                        <a:t> </a:t>
                      </a:r>
                      <a:r>
                        <a:rPr lang="ru-RU" sz="1600" dirty="0" err="1">
                          <a:effectLst/>
                          <a:latin typeface="Cambria" panose="02040503050406030204" pitchFamily="18" charset="0"/>
                          <a:ea typeface="Cambria" panose="02040503050406030204" pitchFamily="18" charset="0"/>
                        </a:rPr>
                        <a:t>жарылыс-өрт</a:t>
                      </a:r>
                      <a:r>
                        <a:rPr lang="ru-RU" sz="1600" dirty="0">
                          <a:effectLst/>
                          <a:latin typeface="Cambria" panose="02040503050406030204" pitchFamily="18" charset="0"/>
                          <a:ea typeface="Cambria" panose="02040503050406030204" pitchFamily="18" charset="0"/>
                        </a:rPr>
                        <a:t> </a:t>
                      </a:r>
                      <a:r>
                        <a:rPr lang="ru-RU" sz="1600" dirty="0" err="1">
                          <a:effectLst/>
                          <a:latin typeface="Cambria" panose="02040503050406030204" pitchFamily="18" charset="0"/>
                          <a:ea typeface="Cambria" panose="02040503050406030204" pitchFamily="18" charset="0"/>
                        </a:rPr>
                        <a:t>қауіпі</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58596" marR="58596" marT="0" marB="0"/>
                </a:tc>
                <a:tc>
                  <a:txBody>
                    <a:bodyPr/>
                    <a:lstStyle/>
                    <a:p>
                      <a:pPr fontAlgn="base">
                        <a:lnSpc>
                          <a:spcPct val="107000"/>
                        </a:lnSpc>
                      </a:pPr>
                      <a:r>
                        <a:rPr lang="ru-KZ" sz="1400" dirty="0" err="1">
                          <a:effectLst/>
                          <a:latin typeface="Cambria" panose="02040503050406030204" pitchFamily="18" charset="0"/>
                          <a:ea typeface="Cambria" panose="02040503050406030204" pitchFamily="18" charset="0"/>
                        </a:rPr>
                        <a:t>Тұтану</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температурасы</a:t>
                      </a:r>
                      <a:r>
                        <a:rPr lang="ru-KZ" sz="1400" dirty="0">
                          <a:effectLst/>
                          <a:latin typeface="Cambria" panose="02040503050406030204" pitchFamily="18" charset="0"/>
                          <a:ea typeface="Cambria" panose="02040503050406030204" pitchFamily="18" charset="0"/>
                        </a:rPr>
                        <a:t> 28°С-тан </a:t>
                      </a:r>
                      <a:r>
                        <a:rPr lang="ru-KZ" sz="1400" dirty="0" err="1">
                          <a:effectLst/>
                          <a:latin typeface="Cambria" panose="02040503050406030204" pitchFamily="18" charset="0"/>
                          <a:ea typeface="Cambria" panose="02040503050406030204" pitchFamily="18" charset="0"/>
                        </a:rPr>
                        <a:t>аспайтын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жанғыш</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газдар</a:t>
                      </a:r>
                      <a:r>
                        <a:rPr lang="ru-KZ" sz="1400" dirty="0">
                          <a:effectLst/>
                          <a:latin typeface="Cambria" panose="02040503050406030204" pitchFamily="18" charset="0"/>
                          <a:ea typeface="Cambria" panose="02040503050406030204" pitchFamily="18" charset="0"/>
                        </a:rPr>
                        <a:t>, тез </a:t>
                      </a:r>
                      <a:r>
                        <a:rPr lang="ru-KZ" sz="1400" dirty="0" err="1">
                          <a:effectLst/>
                          <a:latin typeface="Cambria" panose="02040503050406030204" pitchFamily="18" charset="0"/>
                          <a:ea typeface="Cambria" panose="02040503050406030204" pitchFamily="18" charset="0"/>
                        </a:rPr>
                        <a:t>тұтанатын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сұйықтықтар</a:t>
                      </a:r>
                      <a:r>
                        <a:rPr lang="ru-KZ" sz="1400" dirty="0">
                          <a:effectLst/>
                          <a:latin typeface="Cambria" panose="02040503050406030204" pitchFamily="18" charset="0"/>
                          <a:ea typeface="Cambria" panose="02040503050406030204" pitchFamily="18" charset="0"/>
                        </a:rPr>
                        <a:t> (ТТС), </a:t>
                      </a:r>
                      <a:r>
                        <a:rPr lang="ru-KZ" sz="1400" dirty="0" err="1">
                          <a:effectLst/>
                          <a:latin typeface="Cambria" panose="02040503050406030204" pitchFamily="18" charset="0"/>
                          <a:ea typeface="Cambria" panose="02040503050406030204" pitchFamily="18" charset="0"/>
                        </a:rPr>
                        <a:t>тұтану</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кезінде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үй-жайдағы</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жарылыстың</a:t>
                      </a:r>
                      <a:r>
                        <a:rPr lang="ru-KZ" sz="1400" dirty="0">
                          <a:effectLst/>
                          <a:latin typeface="Cambria" panose="02040503050406030204" pitchFamily="18" charset="0"/>
                          <a:ea typeface="Cambria" panose="02040503050406030204" pitchFamily="18" charset="0"/>
                        </a:rPr>
                        <a:t> 5 кПа-дан </a:t>
                      </a:r>
                      <a:r>
                        <a:rPr lang="ru-KZ" sz="1400" dirty="0" err="1">
                          <a:effectLst/>
                          <a:latin typeface="Cambria" panose="02040503050406030204" pitchFamily="18" charset="0"/>
                          <a:ea typeface="Cambria" panose="02040503050406030204" pitchFamily="18" charset="0"/>
                        </a:rPr>
                        <a:t>асатын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есептік</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артық</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қысымы</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дамитын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жарылыс</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қауіпті</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бу</a:t>
                      </a:r>
                      <a:r>
                        <a:rPr lang="ru-KZ" sz="1400" dirty="0">
                          <a:effectLst/>
                          <a:latin typeface="Cambria" panose="02040503050406030204" pitchFamily="18" charset="0"/>
                          <a:ea typeface="Cambria" panose="02040503050406030204" pitchFamily="18" charset="0"/>
                        </a:rPr>
                        <a:t>-газ-</a:t>
                      </a:r>
                      <a:r>
                        <a:rPr lang="ru-KZ" sz="1400" dirty="0" err="1">
                          <a:effectLst/>
                          <a:latin typeface="Cambria" panose="02040503050406030204" pitchFamily="18" charset="0"/>
                          <a:ea typeface="Cambria" panose="02040503050406030204" pitchFamily="18" charset="0"/>
                        </a:rPr>
                        <a:t>ауа</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қоспаларын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түзуі</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мүмкін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мөлшерде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және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немесе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заттар</a:t>
                      </a:r>
                      <a:r>
                        <a:rPr lang="ru-KZ" sz="1400" dirty="0">
                          <a:effectLst/>
                          <a:latin typeface="Cambria" panose="02040503050406030204" pitchFamily="18" charset="0"/>
                          <a:ea typeface="Cambria" panose="02040503050406030204" pitchFamily="18" charset="0"/>
                        </a:rPr>
                        <a:t> мен </a:t>
                      </a:r>
                      <a:r>
                        <a:rPr lang="ru-KZ" sz="1400" dirty="0" err="1">
                          <a:effectLst/>
                          <a:latin typeface="Cambria" panose="02040503050406030204" pitchFamily="18" charset="0"/>
                          <a:ea typeface="Cambria" panose="02040503050406030204" pitchFamily="18" charset="0"/>
                        </a:rPr>
                        <a:t>материалдар</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үй-жайдағы</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жарылыстың</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есептік</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артық</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қысымы</a:t>
                      </a:r>
                      <a:r>
                        <a:rPr lang="ru-KZ" sz="1400" dirty="0">
                          <a:effectLst/>
                          <a:latin typeface="Cambria" panose="02040503050406030204" pitchFamily="18" charset="0"/>
                          <a:ea typeface="Cambria" panose="02040503050406030204" pitchFamily="18" charset="0"/>
                        </a:rPr>
                        <a:t> 5 кПа </a:t>
                      </a:r>
                      <a:r>
                        <a:rPr lang="ru-KZ" sz="1400" dirty="0" err="1">
                          <a:effectLst/>
                          <a:latin typeface="Cambria" panose="02040503050406030204" pitchFamily="18" charset="0"/>
                          <a:ea typeface="Cambria" panose="02040503050406030204" pitchFamily="18" charset="0"/>
                        </a:rPr>
                        <a:t>асатын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мөлшерде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сумен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ауа</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оттегімен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немесе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бір-бірімен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өзара</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әрекеттесу</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кезінде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жарылуға</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және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жануға</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қабілетті</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заттар</a:t>
                      </a:r>
                      <a:r>
                        <a:rPr lang="ru-KZ" sz="1400" dirty="0">
                          <a:effectLst/>
                          <a:latin typeface="Cambria" panose="02040503050406030204" pitchFamily="18" charset="0"/>
                          <a:ea typeface="Cambria" panose="02040503050406030204" pitchFamily="18" charset="0"/>
                        </a:rPr>
                        <a:t> мен </a:t>
                      </a:r>
                      <a:r>
                        <a:rPr lang="ru-KZ" sz="1400" dirty="0" err="1">
                          <a:effectLst/>
                          <a:latin typeface="Cambria" panose="02040503050406030204" pitchFamily="18" charset="0"/>
                          <a:ea typeface="Cambria" panose="02040503050406030204" pitchFamily="18" charset="0"/>
                        </a:rPr>
                        <a:t>материалдар</a:t>
                      </a:r>
                      <a:endParaRPr lang="ru-KZ" sz="1400" dirty="0">
                        <a:effectLst/>
                        <a:latin typeface="Cambria" panose="02040503050406030204" pitchFamily="18" charset="0"/>
                        <a:ea typeface="Cambria" panose="02040503050406030204" pitchFamily="18" charset="0"/>
                        <a:cs typeface="Times New Roman" panose="02020603050405020304" pitchFamily="18" charset="0"/>
                      </a:endParaRPr>
                    </a:p>
                  </a:txBody>
                  <a:tcPr marL="58596" marR="58596" marT="0" marB="0"/>
                </a:tc>
                <a:extLst>
                  <a:ext uri="{0D108BD9-81ED-4DB2-BD59-A6C34878D82A}">
                    <a16:rowId xmlns:a16="http://schemas.microsoft.com/office/drawing/2014/main" xmlns="" val="1764888569"/>
                  </a:ext>
                </a:extLst>
              </a:tr>
              <a:tr h="880532">
                <a:tc>
                  <a:txBody>
                    <a:bodyPr/>
                    <a:lstStyle/>
                    <a:p>
                      <a:pPr>
                        <a:lnSpc>
                          <a:spcPct val="107000"/>
                        </a:lnSpc>
                        <a:spcAft>
                          <a:spcPts val="0"/>
                        </a:spcAft>
                        <a:tabLst>
                          <a:tab pos="3886200" algn="l"/>
                        </a:tabLst>
                      </a:pPr>
                      <a:r>
                        <a:rPr lang="kk-KZ" sz="1600" dirty="0">
                          <a:effectLst/>
                          <a:latin typeface="Cambria" panose="02040503050406030204" pitchFamily="18" charset="0"/>
                          <a:ea typeface="Cambria" panose="02040503050406030204" pitchFamily="18" charset="0"/>
                        </a:rPr>
                        <a:t>                 </a:t>
                      </a:r>
                      <a:r>
                        <a:rPr lang="ru-RU" sz="1600" dirty="0">
                          <a:effectLst/>
                          <a:latin typeface="Cambria" panose="02040503050406030204" pitchFamily="18" charset="0"/>
                          <a:ea typeface="Cambria" panose="02040503050406030204" pitchFamily="18" charset="0"/>
                        </a:rPr>
                        <a:t>Б</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p>
                      <a:pPr algn="ctr">
                        <a:lnSpc>
                          <a:spcPct val="107000"/>
                        </a:lnSpc>
                        <a:spcAft>
                          <a:spcPts val="0"/>
                        </a:spcAft>
                        <a:tabLst>
                          <a:tab pos="3886200" algn="l"/>
                        </a:tabLst>
                      </a:pPr>
                      <a:r>
                        <a:rPr lang="ru-RU" sz="1600" dirty="0" err="1">
                          <a:effectLst/>
                          <a:latin typeface="Cambria" panose="02040503050406030204" pitchFamily="18" charset="0"/>
                          <a:ea typeface="Cambria" panose="02040503050406030204" pitchFamily="18" charset="0"/>
                        </a:rPr>
                        <a:t>өрт-жарылыс</a:t>
                      </a:r>
                      <a:r>
                        <a:rPr lang="ru-RU" sz="1600" dirty="0">
                          <a:effectLst/>
                          <a:latin typeface="Cambria" panose="02040503050406030204" pitchFamily="18" charset="0"/>
                          <a:ea typeface="Cambria" panose="02040503050406030204" pitchFamily="18" charset="0"/>
                        </a:rPr>
                        <a:t> </a:t>
                      </a:r>
                      <a:r>
                        <a:rPr lang="ru-RU" sz="1600" dirty="0" err="1">
                          <a:effectLst/>
                          <a:latin typeface="Cambria" panose="02040503050406030204" pitchFamily="18" charset="0"/>
                          <a:ea typeface="Cambria" panose="02040503050406030204" pitchFamily="18" charset="0"/>
                        </a:rPr>
                        <a:t>қаупі</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58596" marR="58596" marT="0" marB="0"/>
                </a:tc>
                <a:tc>
                  <a:txBody>
                    <a:bodyPr/>
                    <a:lstStyle/>
                    <a:p>
                      <a:pPr fontAlgn="base">
                        <a:lnSpc>
                          <a:spcPct val="107000"/>
                        </a:lnSpc>
                      </a:pPr>
                      <a:r>
                        <a:rPr lang="ru-KZ" sz="1400" dirty="0" err="1">
                          <a:effectLst/>
                          <a:latin typeface="Cambria" panose="02040503050406030204" pitchFamily="18" charset="0"/>
                          <a:ea typeface="Cambria" panose="02040503050406030204" pitchFamily="18" charset="0"/>
                        </a:rPr>
                        <a:t>Жанғыш</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шаңдар</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немесе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талшықтар</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тұтану</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температурасы</a:t>
                      </a:r>
                      <a:r>
                        <a:rPr lang="ru-KZ" sz="1400" dirty="0">
                          <a:effectLst/>
                          <a:latin typeface="Cambria" panose="02040503050406030204" pitchFamily="18" charset="0"/>
                          <a:ea typeface="Cambria" panose="02040503050406030204" pitchFamily="18" charset="0"/>
                        </a:rPr>
                        <a:t> 28 °С-</a:t>
                      </a:r>
                      <a:r>
                        <a:rPr lang="ru-KZ" sz="1400" dirty="0" err="1">
                          <a:effectLst/>
                          <a:latin typeface="Cambria" panose="02040503050406030204" pitchFamily="18" charset="0"/>
                          <a:ea typeface="Cambria" panose="02040503050406030204" pitchFamily="18" charset="0"/>
                        </a:rPr>
                        <a:t>тан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жоғары</a:t>
                      </a:r>
                      <a:r>
                        <a:rPr lang="kk-KZ" sz="1400" dirty="0">
                          <a:effectLst/>
                          <a:latin typeface="Cambria" panose="02040503050406030204" pitchFamily="18" charset="0"/>
                          <a:ea typeface="Cambria" panose="02040503050406030204" pitchFamily="18" charset="0"/>
                        </a:rPr>
                        <a:t> ТТС</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тұтану</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кезінде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үй-жайдағы</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жарылыстың</a:t>
                      </a:r>
                      <a:r>
                        <a:rPr lang="ru-KZ" sz="1400" dirty="0">
                          <a:effectLst/>
                          <a:latin typeface="Cambria" panose="02040503050406030204" pitchFamily="18" charset="0"/>
                          <a:ea typeface="Cambria" panose="02040503050406030204" pitchFamily="18" charset="0"/>
                        </a:rPr>
                        <a:t> 5 кПа-дан </a:t>
                      </a:r>
                      <a:r>
                        <a:rPr lang="ru-KZ" sz="1400" dirty="0" err="1">
                          <a:effectLst/>
                          <a:latin typeface="Cambria" panose="02040503050406030204" pitchFamily="18" charset="0"/>
                          <a:ea typeface="Cambria" panose="02040503050406030204" pitchFamily="18" charset="0"/>
                        </a:rPr>
                        <a:t>асатын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есептік</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артық</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қысымы</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дамитын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жарылғыш</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шаң-ауа</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немесе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бу-ауа</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қоспаларын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қалыптастыратындай</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мөлшердегі</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жанғыш</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сұйықтықтар</a:t>
                      </a:r>
                      <a:endParaRPr lang="ru-KZ" sz="1400" dirty="0">
                        <a:effectLst/>
                        <a:latin typeface="Cambria" panose="02040503050406030204" pitchFamily="18" charset="0"/>
                        <a:ea typeface="Cambria" panose="02040503050406030204" pitchFamily="18" charset="0"/>
                        <a:cs typeface="Times New Roman" panose="02020603050405020304" pitchFamily="18" charset="0"/>
                      </a:endParaRPr>
                    </a:p>
                  </a:txBody>
                  <a:tcPr marL="58596" marR="58596" marT="0" marB="0"/>
                </a:tc>
                <a:extLst>
                  <a:ext uri="{0D108BD9-81ED-4DB2-BD59-A6C34878D82A}">
                    <a16:rowId xmlns:a16="http://schemas.microsoft.com/office/drawing/2014/main" xmlns="" val="519105528"/>
                  </a:ext>
                </a:extLst>
              </a:tr>
              <a:tr h="1104733">
                <a:tc>
                  <a:txBody>
                    <a:bodyPr/>
                    <a:lstStyle/>
                    <a:p>
                      <a:pPr algn="ctr">
                        <a:lnSpc>
                          <a:spcPct val="107000"/>
                        </a:lnSpc>
                        <a:spcAft>
                          <a:spcPts val="0"/>
                        </a:spcAft>
                        <a:tabLst>
                          <a:tab pos="3886200" algn="l"/>
                        </a:tabLst>
                      </a:pPr>
                      <a:r>
                        <a:rPr lang="ru-RU" sz="1600" dirty="0">
                          <a:effectLst/>
                          <a:latin typeface="Cambria" panose="02040503050406030204" pitchFamily="18" charset="0"/>
                          <a:ea typeface="Cambria" panose="02040503050406030204" pitchFamily="18" charset="0"/>
                        </a:rPr>
                        <a:t>В1−В4</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p>
                      <a:pPr algn="ctr">
                        <a:lnSpc>
                          <a:spcPct val="107000"/>
                        </a:lnSpc>
                        <a:spcAft>
                          <a:spcPts val="0"/>
                        </a:spcAft>
                        <a:tabLst>
                          <a:tab pos="3886200" algn="l"/>
                        </a:tabLst>
                      </a:pPr>
                      <a:r>
                        <a:rPr lang="ru-RU" sz="1600" dirty="0" err="1">
                          <a:effectLst/>
                          <a:latin typeface="Cambria" panose="02040503050406030204" pitchFamily="18" charset="0"/>
                          <a:ea typeface="Cambria" panose="02040503050406030204" pitchFamily="18" charset="0"/>
                        </a:rPr>
                        <a:t>өрт-жарылыс</a:t>
                      </a:r>
                      <a:r>
                        <a:rPr lang="ru-RU" sz="1600" dirty="0">
                          <a:effectLst/>
                          <a:latin typeface="Cambria" panose="02040503050406030204" pitchFamily="18" charset="0"/>
                          <a:ea typeface="Cambria" panose="02040503050406030204" pitchFamily="18" charset="0"/>
                        </a:rPr>
                        <a:t> </a:t>
                      </a:r>
                      <a:r>
                        <a:rPr lang="ru-RU" sz="1600" dirty="0" err="1">
                          <a:effectLst/>
                          <a:latin typeface="Cambria" panose="02040503050406030204" pitchFamily="18" charset="0"/>
                          <a:ea typeface="Cambria" panose="02040503050406030204" pitchFamily="18" charset="0"/>
                        </a:rPr>
                        <a:t>қауіптілігі</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58596" marR="58596" marT="0" marB="0"/>
                </a:tc>
                <a:tc>
                  <a:txBody>
                    <a:bodyPr/>
                    <a:lstStyle/>
                    <a:p>
                      <a:pPr fontAlgn="base">
                        <a:lnSpc>
                          <a:spcPct val="107000"/>
                        </a:lnSpc>
                      </a:pPr>
                      <a:r>
                        <a:rPr lang="ru-KZ" sz="1400" dirty="0" err="1">
                          <a:effectLst/>
                          <a:latin typeface="Cambria" panose="02040503050406030204" pitchFamily="18" charset="0"/>
                          <a:ea typeface="Cambria" panose="02040503050406030204" pitchFamily="18" charset="0"/>
                        </a:rPr>
                        <a:t>Жанғыш</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және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жануы</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қиын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сұйықтықтар</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қатты</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жанғыш</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және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жануы</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қиын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заттар</a:t>
                      </a:r>
                      <a:r>
                        <a:rPr lang="ru-KZ" sz="1400" dirty="0">
                          <a:effectLst/>
                          <a:latin typeface="Cambria" panose="02040503050406030204" pitchFamily="18" charset="0"/>
                          <a:ea typeface="Cambria" panose="02040503050406030204" pitchFamily="18" charset="0"/>
                        </a:rPr>
                        <a:t> мен </a:t>
                      </a:r>
                      <a:r>
                        <a:rPr lang="ru-KZ" sz="1400" dirty="0" err="1">
                          <a:effectLst/>
                          <a:latin typeface="Cambria" panose="02040503050406030204" pitchFamily="18" charset="0"/>
                          <a:ea typeface="Cambria" panose="02040503050406030204" pitchFamily="18" charset="0"/>
                        </a:rPr>
                        <a:t>материалдар</a:t>
                      </a:r>
                      <a:r>
                        <a:rPr lang="ru-KZ" sz="1400" dirty="0">
                          <a:effectLst/>
                          <a:latin typeface="Cambria" panose="02040503050406030204" pitchFamily="18" charset="0"/>
                          <a:ea typeface="Cambria" panose="02040503050406030204" pitchFamily="18" charset="0"/>
                        </a:rPr>
                        <a:t> (оның </a:t>
                      </a:r>
                      <a:r>
                        <a:rPr lang="ru-KZ" sz="1400" dirty="0" err="1">
                          <a:effectLst/>
                          <a:latin typeface="Cambria" panose="02040503050406030204" pitchFamily="18" charset="0"/>
                          <a:ea typeface="Cambria" panose="02040503050406030204" pitchFamily="18" charset="0"/>
                        </a:rPr>
                        <a:t>ішінде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шаң</a:t>
                      </a:r>
                      <a:r>
                        <a:rPr lang="ru-KZ" sz="1400" dirty="0">
                          <a:effectLst/>
                          <a:latin typeface="Cambria" panose="02040503050406030204" pitchFamily="18" charset="0"/>
                          <a:ea typeface="Cambria" panose="02040503050406030204" pitchFamily="18" charset="0"/>
                        </a:rPr>
                        <a:t> мен </a:t>
                      </a:r>
                      <a:r>
                        <a:rPr lang="ru-KZ" sz="1400" dirty="0" err="1">
                          <a:effectLst/>
                          <a:latin typeface="Cambria" panose="02040503050406030204" pitchFamily="18" charset="0"/>
                          <a:ea typeface="Cambria" panose="02040503050406030204" pitchFamily="18" charset="0"/>
                        </a:rPr>
                        <a:t>талшықтар</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сумен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ауа</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оттегімен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өзара</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әрекеттескенде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немесе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бір-бірімен</a:t>
                      </a:r>
                      <a:r>
                        <a:rPr lang="ru-KZ" sz="1400" dirty="0">
                          <a:effectLst/>
                          <a:latin typeface="Cambria" panose="02040503050406030204" pitchFamily="18" charset="0"/>
                          <a:ea typeface="Cambria" panose="02040503050406030204" pitchFamily="18" charset="0"/>
                        </a:rPr>
                        <a:t> тек </a:t>
                      </a:r>
                      <a:r>
                        <a:rPr lang="ru-KZ" sz="1400" dirty="0" err="1">
                          <a:effectLst/>
                          <a:latin typeface="Cambria" panose="02040503050406030204" pitchFamily="18" charset="0"/>
                          <a:ea typeface="Cambria" panose="02040503050406030204" pitchFamily="18" charset="0"/>
                        </a:rPr>
                        <a:t>қана</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жануға</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қабілетті</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заттар</a:t>
                      </a:r>
                      <a:r>
                        <a:rPr lang="ru-KZ" sz="1400" dirty="0">
                          <a:effectLst/>
                          <a:latin typeface="Cambria" panose="02040503050406030204" pitchFamily="18" charset="0"/>
                          <a:ea typeface="Cambria" panose="02040503050406030204" pitchFamily="18" charset="0"/>
                        </a:rPr>
                        <a:t> мен </a:t>
                      </a:r>
                      <a:r>
                        <a:rPr lang="ru-KZ" sz="1400" dirty="0" err="1">
                          <a:effectLst/>
                          <a:latin typeface="Cambria" panose="02040503050406030204" pitchFamily="18" charset="0"/>
                          <a:ea typeface="Cambria" panose="02040503050406030204" pitchFamily="18" charset="0"/>
                        </a:rPr>
                        <a:t>материалдар</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олар</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орналасқан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айналыста</a:t>
                      </a:r>
                      <a:r>
                        <a:rPr lang="kk-KZ" sz="1400" dirty="0">
                          <a:effectLst/>
                          <a:latin typeface="Cambria" panose="02040503050406030204" pitchFamily="18" charset="0"/>
                          <a:ea typeface="Cambria" panose="02040503050406030204" pitchFamily="18" charset="0"/>
                        </a:rPr>
                        <a:t>тағы</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үй-жайлар</a:t>
                      </a:r>
                      <a:r>
                        <a:rPr lang="ru-KZ" sz="1400" dirty="0">
                          <a:effectLst/>
                          <a:latin typeface="Cambria" panose="02040503050406030204" pitchFamily="18" charset="0"/>
                          <a:ea typeface="Cambria" panose="02040503050406030204" pitchFamily="18" charset="0"/>
                        </a:rPr>
                        <a:t> А </a:t>
                      </a:r>
                      <a:r>
                        <a:rPr lang="ru-KZ" sz="1400" dirty="0" err="1">
                          <a:effectLst/>
                          <a:latin typeface="Cambria" panose="02040503050406030204" pitchFamily="18" charset="0"/>
                          <a:ea typeface="Cambria" panose="02040503050406030204" pitchFamily="18" charset="0"/>
                        </a:rPr>
                        <a:t>немесе</a:t>
                      </a:r>
                      <a:r>
                        <a:rPr lang="ru-KZ" sz="1400" dirty="0">
                          <a:effectLst/>
                          <a:latin typeface="Cambria" panose="02040503050406030204" pitchFamily="18" charset="0"/>
                          <a:ea typeface="Cambria" panose="02040503050406030204" pitchFamily="18" charset="0"/>
                        </a:rPr>
                        <a:t> Б </a:t>
                      </a:r>
                      <a:r>
                        <a:rPr lang="ru-KZ" sz="1400" dirty="0" err="1">
                          <a:effectLst/>
                          <a:latin typeface="Cambria" panose="02040503050406030204" pitchFamily="18" charset="0"/>
                          <a:ea typeface="Cambria" panose="02040503050406030204" pitchFamily="18" charset="0"/>
                        </a:rPr>
                        <a:t>санаттарына</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жатпайтын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жағдайда</a:t>
                      </a:r>
                      <a:endParaRPr lang="ru-KZ" sz="1400" dirty="0">
                        <a:effectLst/>
                        <a:latin typeface="Cambria" panose="02040503050406030204" pitchFamily="18" charset="0"/>
                        <a:ea typeface="Cambria" panose="02040503050406030204" pitchFamily="18" charset="0"/>
                        <a:cs typeface="Times New Roman" panose="02020603050405020304" pitchFamily="18" charset="0"/>
                      </a:endParaRPr>
                    </a:p>
                  </a:txBody>
                  <a:tcPr marL="58596" marR="58596" marT="0" marB="0"/>
                </a:tc>
                <a:extLst>
                  <a:ext uri="{0D108BD9-81ED-4DB2-BD59-A6C34878D82A}">
                    <a16:rowId xmlns:a16="http://schemas.microsoft.com/office/drawing/2014/main" xmlns="" val="329756155"/>
                  </a:ext>
                </a:extLst>
              </a:tr>
              <a:tr h="974840">
                <a:tc>
                  <a:txBody>
                    <a:bodyPr/>
                    <a:lstStyle/>
                    <a:p>
                      <a:pPr algn="ctr">
                        <a:lnSpc>
                          <a:spcPct val="107000"/>
                        </a:lnSpc>
                        <a:spcAft>
                          <a:spcPts val="0"/>
                        </a:spcAft>
                        <a:tabLst>
                          <a:tab pos="3886200" algn="l"/>
                        </a:tabLst>
                      </a:pPr>
                      <a:r>
                        <a:rPr lang="ru-RU" sz="1600" dirty="0">
                          <a:effectLst/>
                          <a:latin typeface="Cambria" panose="02040503050406030204" pitchFamily="18" charset="0"/>
                          <a:ea typeface="Cambria" panose="02040503050406030204" pitchFamily="18" charset="0"/>
                        </a:rPr>
                        <a:t>Г</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p>
                      <a:pPr algn="ctr">
                        <a:lnSpc>
                          <a:spcPct val="107000"/>
                        </a:lnSpc>
                        <a:spcAft>
                          <a:spcPts val="0"/>
                        </a:spcAft>
                        <a:tabLst>
                          <a:tab pos="3886200" algn="l"/>
                        </a:tabLst>
                      </a:pPr>
                      <a:r>
                        <a:rPr lang="ru-RU" sz="1600" dirty="0" err="1">
                          <a:effectLst/>
                          <a:latin typeface="Cambria" panose="02040503050406030204" pitchFamily="18" charset="0"/>
                          <a:ea typeface="Cambria" panose="02040503050406030204" pitchFamily="18" charset="0"/>
                        </a:rPr>
                        <a:t>орташа</a:t>
                      </a:r>
                      <a:r>
                        <a:rPr lang="ru-RU" sz="1600" dirty="0">
                          <a:effectLst/>
                          <a:latin typeface="Cambria" panose="02040503050406030204" pitchFamily="18" charset="0"/>
                          <a:ea typeface="Cambria" panose="02040503050406030204" pitchFamily="18" charset="0"/>
                        </a:rPr>
                        <a:t> </a:t>
                      </a:r>
                      <a:r>
                        <a:rPr lang="kk-KZ" sz="1600" dirty="0">
                          <a:effectLst/>
                          <a:latin typeface="Cambria" panose="02040503050406030204" pitchFamily="18" charset="0"/>
                          <a:ea typeface="Cambria" panose="02040503050406030204" pitchFamily="18" charset="0"/>
                        </a:rPr>
                        <a:t>өрт </a:t>
                      </a:r>
                      <a:r>
                        <a:rPr lang="ru-RU" sz="1600" dirty="0" err="1">
                          <a:effectLst/>
                          <a:latin typeface="Cambria" panose="02040503050406030204" pitchFamily="18" charset="0"/>
                          <a:ea typeface="Cambria" panose="02040503050406030204" pitchFamily="18" charset="0"/>
                        </a:rPr>
                        <a:t>қауіптілігі</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58596" marR="58596" marT="0" marB="0"/>
                </a:tc>
                <a:tc>
                  <a:txBody>
                    <a:bodyPr/>
                    <a:lstStyle/>
                    <a:p>
                      <a:pPr algn="just" fontAlgn="base">
                        <a:lnSpc>
                          <a:spcPct val="107000"/>
                        </a:lnSpc>
                      </a:pPr>
                      <a:r>
                        <a:rPr lang="ru-KZ" sz="1400" dirty="0" err="1">
                          <a:effectLst/>
                          <a:latin typeface="Cambria" panose="02040503050406030204" pitchFamily="18" charset="0"/>
                          <a:ea typeface="Cambria" panose="02040503050406030204" pitchFamily="18" charset="0"/>
                        </a:rPr>
                        <a:t>Өңдеу</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процесі</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сәулелі</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жылу</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ұшқын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және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жалын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шығарумен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сүйемелденетін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ыстық</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қызған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немесе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балқытылған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күйдегі</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жанбайтын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заттар</a:t>
                      </a:r>
                      <a:r>
                        <a:rPr lang="ru-KZ" sz="1400" dirty="0">
                          <a:effectLst/>
                          <a:latin typeface="Cambria" panose="02040503050406030204" pitchFamily="18" charset="0"/>
                          <a:ea typeface="Cambria" panose="02040503050406030204" pitchFamily="18" charset="0"/>
                        </a:rPr>
                        <a:t> мен </a:t>
                      </a:r>
                      <a:r>
                        <a:rPr lang="ru-KZ" sz="1400" dirty="0" err="1">
                          <a:effectLst/>
                          <a:latin typeface="Cambria" panose="02040503050406030204" pitchFamily="18" charset="0"/>
                          <a:ea typeface="Cambria" panose="02040503050406030204" pitchFamily="18" charset="0"/>
                        </a:rPr>
                        <a:t>материалдар</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және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немесе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отын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ретінде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жағылатын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немесе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кәдеге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жаратылатын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жанғыш</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газдар</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сұйықтықтар</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және</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қатты</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заттар</a:t>
                      </a:r>
                      <a:endParaRPr lang="ru-KZ" sz="1400" dirty="0">
                        <a:effectLst/>
                        <a:latin typeface="Cambria" panose="02040503050406030204" pitchFamily="18" charset="0"/>
                        <a:ea typeface="Cambria" panose="02040503050406030204" pitchFamily="18" charset="0"/>
                        <a:cs typeface="Times New Roman" panose="02020603050405020304" pitchFamily="18" charset="0"/>
                      </a:endParaRPr>
                    </a:p>
                  </a:txBody>
                  <a:tcPr marL="58596" marR="58596" marT="0" marB="0"/>
                </a:tc>
                <a:extLst>
                  <a:ext uri="{0D108BD9-81ED-4DB2-BD59-A6C34878D82A}">
                    <a16:rowId xmlns:a16="http://schemas.microsoft.com/office/drawing/2014/main" xmlns="" val="2088629441"/>
                  </a:ext>
                </a:extLst>
              </a:tr>
              <a:tr h="750126">
                <a:tc>
                  <a:txBody>
                    <a:bodyPr/>
                    <a:lstStyle/>
                    <a:p>
                      <a:pPr algn="ctr">
                        <a:lnSpc>
                          <a:spcPct val="107000"/>
                        </a:lnSpc>
                        <a:spcAft>
                          <a:spcPts val="0"/>
                        </a:spcAft>
                        <a:tabLst>
                          <a:tab pos="3886200" algn="l"/>
                        </a:tabLst>
                      </a:pPr>
                      <a:r>
                        <a:rPr lang="ru-RU" sz="1600" dirty="0">
                          <a:effectLst/>
                          <a:latin typeface="Cambria" panose="02040503050406030204" pitchFamily="18" charset="0"/>
                          <a:ea typeface="Cambria" panose="02040503050406030204" pitchFamily="18" charset="0"/>
                        </a:rPr>
                        <a:t>Д</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p>
                      <a:pPr algn="ctr" fontAlgn="base">
                        <a:lnSpc>
                          <a:spcPct val="107000"/>
                        </a:lnSpc>
                      </a:pPr>
                      <a:r>
                        <a:rPr lang="kk-KZ" sz="1600" dirty="0">
                          <a:effectLst/>
                          <a:latin typeface="Cambria" panose="02040503050406030204" pitchFamily="18" charset="0"/>
                          <a:ea typeface="Cambria" panose="02040503050406030204" pitchFamily="18" charset="0"/>
                        </a:rPr>
                        <a:t>төмен өрт қауіптілігі</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58596" marR="58596" marT="0" marB="0"/>
                </a:tc>
                <a:tc>
                  <a:txBody>
                    <a:bodyPr/>
                    <a:lstStyle/>
                    <a:p>
                      <a:pPr fontAlgn="base">
                        <a:lnSpc>
                          <a:spcPct val="107000"/>
                        </a:lnSpc>
                      </a:pPr>
                      <a:r>
                        <a:rPr lang="ru-KZ" sz="1400" dirty="0" err="1">
                          <a:effectLst/>
                          <a:latin typeface="Cambria" panose="02040503050406030204" pitchFamily="18" charset="0"/>
                          <a:ea typeface="Cambria" panose="02040503050406030204" pitchFamily="18" charset="0"/>
                        </a:rPr>
                        <a:t>Суық</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күйдегі</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жанбайтын</a:t>
                      </a:r>
                      <a:r>
                        <a:rPr lang="ru-KZ" sz="1400" dirty="0">
                          <a:effectLst/>
                          <a:latin typeface="Cambria" panose="02040503050406030204" pitchFamily="18" charset="0"/>
                          <a:ea typeface="Cambria" panose="02040503050406030204" pitchFamily="18" charset="0"/>
                        </a:rPr>
                        <a:t> </a:t>
                      </a:r>
                      <a:r>
                        <a:rPr lang="ru-KZ" sz="1400" dirty="0" err="1">
                          <a:effectLst/>
                          <a:latin typeface="Cambria" panose="02040503050406030204" pitchFamily="18" charset="0"/>
                          <a:ea typeface="Cambria" panose="02040503050406030204" pitchFamily="18" charset="0"/>
                        </a:rPr>
                        <a:t>заттар</a:t>
                      </a:r>
                      <a:r>
                        <a:rPr lang="ru-KZ" sz="1400" dirty="0">
                          <a:effectLst/>
                          <a:latin typeface="Cambria" panose="02040503050406030204" pitchFamily="18" charset="0"/>
                          <a:ea typeface="Cambria" panose="02040503050406030204" pitchFamily="18" charset="0"/>
                        </a:rPr>
                        <a:t> мен </a:t>
                      </a:r>
                      <a:r>
                        <a:rPr lang="ru-KZ" sz="1400" dirty="0" err="1">
                          <a:effectLst/>
                          <a:latin typeface="Cambria" panose="02040503050406030204" pitchFamily="18" charset="0"/>
                          <a:ea typeface="Cambria" panose="02040503050406030204" pitchFamily="18" charset="0"/>
                        </a:rPr>
                        <a:t>материалдар</a:t>
                      </a:r>
                      <a:endParaRPr lang="ru-KZ" sz="1400" dirty="0">
                        <a:effectLst/>
                        <a:latin typeface="Cambria" panose="02040503050406030204" pitchFamily="18" charset="0"/>
                        <a:ea typeface="Cambria" panose="02040503050406030204" pitchFamily="18" charset="0"/>
                        <a:cs typeface="Times New Roman" panose="02020603050405020304" pitchFamily="18" charset="0"/>
                      </a:endParaRPr>
                    </a:p>
                  </a:txBody>
                  <a:tcPr marL="58596" marR="58596" marT="0" marB="0"/>
                </a:tc>
                <a:extLst>
                  <a:ext uri="{0D108BD9-81ED-4DB2-BD59-A6C34878D82A}">
                    <a16:rowId xmlns:a16="http://schemas.microsoft.com/office/drawing/2014/main" xmlns="" val="3844065768"/>
                  </a:ext>
                </a:extLst>
              </a:tr>
            </a:tbl>
          </a:graphicData>
        </a:graphic>
      </p:graphicFrame>
      <p:sp>
        <p:nvSpPr>
          <p:cNvPr id="3" name="Rectangle 1">
            <a:extLst>
              <a:ext uri="{FF2B5EF4-FFF2-40B4-BE49-F238E27FC236}">
                <a16:creationId xmlns:a16="http://schemas.microsoft.com/office/drawing/2014/main" xmlns="" id="{1FB2BB8B-4759-46A0-A86F-C93BE9114B42}"/>
              </a:ext>
            </a:extLst>
          </p:cNvPr>
          <p:cNvSpPr>
            <a:spLocks noChangeArrowheads="1"/>
          </p:cNvSpPr>
          <p:nvPr/>
        </p:nvSpPr>
        <p:spPr bwMode="auto">
          <a:xfrm>
            <a:off x="2556673" y="124351"/>
            <a:ext cx="7615098" cy="27186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25392" rIns="91440" bIns="0" numCol="1" anchor="ctr" anchorCtr="0" compatLnSpc="1">
            <a:prstTxWarp prst="textNoShape">
              <a:avLst/>
            </a:prstTxWarp>
            <a:spAutoFit/>
          </a:bodyPr>
          <a:lstStyle>
            <a:lvl1pPr eaLnBrk="0" fontAlgn="base" hangingPunct="0">
              <a:spcBef>
                <a:spcPct val="0"/>
              </a:spcBef>
              <a:spcAft>
                <a:spcPct val="0"/>
              </a:spcAft>
              <a:tabLst>
                <a:tab pos="3886200" algn="l"/>
              </a:tabLst>
              <a:defRPr>
                <a:solidFill>
                  <a:schemeClr val="tx1"/>
                </a:solidFill>
                <a:latin typeface="Arial" panose="020B0604020202020204" pitchFamily="34" charset="0"/>
              </a:defRPr>
            </a:lvl1pPr>
            <a:lvl2pPr eaLnBrk="0" fontAlgn="base" hangingPunct="0">
              <a:spcBef>
                <a:spcPct val="0"/>
              </a:spcBef>
              <a:spcAft>
                <a:spcPct val="0"/>
              </a:spcAft>
              <a:tabLst>
                <a:tab pos="3886200" algn="l"/>
              </a:tabLst>
              <a:defRPr>
                <a:solidFill>
                  <a:schemeClr val="tx1"/>
                </a:solidFill>
                <a:latin typeface="Arial" panose="020B0604020202020204" pitchFamily="34" charset="0"/>
              </a:defRPr>
            </a:lvl2pPr>
            <a:lvl3pPr eaLnBrk="0" fontAlgn="base" hangingPunct="0">
              <a:spcBef>
                <a:spcPct val="0"/>
              </a:spcBef>
              <a:spcAft>
                <a:spcPct val="0"/>
              </a:spcAft>
              <a:tabLst>
                <a:tab pos="3886200" algn="l"/>
              </a:tabLst>
              <a:defRPr>
                <a:solidFill>
                  <a:schemeClr val="tx1"/>
                </a:solidFill>
                <a:latin typeface="Arial" panose="020B0604020202020204" pitchFamily="34" charset="0"/>
              </a:defRPr>
            </a:lvl3pPr>
            <a:lvl4pPr eaLnBrk="0" fontAlgn="base" hangingPunct="0">
              <a:spcBef>
                <a:spcPct val="0"/>
              </a:spcBef>
              <a:spcAft>
                <a:spcPct val="0"/>
              </a:spcAft>
              <a:tabLst>
                <a:tab pos="3886200" algn="l"/>
              </a:tabLst>
              <a:defRPr>
                <a:solidFill>
                  <a:schemeClr val="tx1"/>
                </a:solidFill>
                <a:latin typeface="Arial" panose="020B0604020202020204" pitchFamily="34" charset="0"/>
              </a:defRPr>
            </a:lvl4pPr>
            <a:lvl5pPr eaLnBrk="0" fontAlgn="base" hangingPunct="0">
              <a:spcBef>
                <a:spcPct val="0"/>
              </a:spcBef>
              <a:spcAft>
                <a:spcPct val="0"/>
              </a:spcAft>
              <a:tabLst>
                <a:tab pos="3886200" algn="l"/>
              </a:tabLst>
              <a:defRPr>
                <a:solidFill>
                  <a:schemeClr val="tx1"/>
                </a:solidFill>
                <a:latin typeface="Arial" panose="020B0604020202020204" pitchFamily="34" charset="0"/>
              </a:defRPr>
            </a:lvl5pPr>
            <a:lvl6pPr eaLnBrk="0" fontAlgn="base" hangingPunct="0">
              <a:spcBef>
                <a:spcPct val="0"/>
              </a:spcBef>
              <a:spcAft>
                <a:spcPct val="0"/>
              </a:spcAft>
              <a:tabLst>
                <a:tab pos="3886200" algn="l"/>
              </a:tabLst>
              <a:defRPr>
                <a:solidFill>
                  <a:schemeClr val="tx1"/>
                </a:solidFill>
                <a:latin typeface="Arial" panose="020B0604020202020204" pitchFamily="34" charset="0"/>
              </a:defRPr>
            </a:lvl6pPr>
            <a:lvl7pPr eaLnBrk="0" fontAlgn="base" hangingPunct="0">
              <a:spcBef>
                <a:spcPct val="0"/>
              </a:spcBef>
              <a:spcAft>
                <a:spcPct val="0"/>
              </a:spcAft>
              <a:tabLst>
                <a:tab pos="3886200" algn="l"/>
              </a:tabLst>
              <a:defRPr>
                <a:solidFill>
                  <a:schemeClr val="tx1"/>
                </a:solidFill>
                <a:latin typeface="Arial" panose="020B0604020202020204" pitchFamily="34" charset="0"/>
              </a:defRPr>
            </a:lvl7pPr>
            <a:lvl8pPr eaLnBrk="0" fontAlgn="base" hangingPunct="0">
              <a:spcBef>
                <a:spcPct val="0"/>
              </a:spcBef>
              <a:spcAft>
                <a:spcPct val="0"/>
              </a:spcAft>
              <a:tabLst>
                <a:tab pos="3886200" algn="l"/>
              </a:tabLst>
              <a:defRPr>
                <a:solidFill>
                  <a:schemeClr val="tx1"/>
                </a:solidFill>
                <a:latin typeface="Arial" panose="020B0604020202020204" pitchFamily="34" charset="0"/>
              </a:defRPr>
            </a:lvl8pPr>
            <a:lvl9pPr eaLnBrk="0" fontAlgn="base" hangingPunct="0">
              <a:spcBef>
                <a:spcPct val="0"/>
              </a:spcBef>
              <a:spcAft>
                <a:spcPct val="0"/>
              </a:spcAft>
              <a:tabLst>
                <a:tab pos="3886200" algn="l"/>
              </a:tabLs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tab pos="3886200" algn="l"/>
              </a:tabLst>
            </a:pPr>
            <a:r>
              <a:rPr kumimoji="0" lang="kk-KZ" altLang="ru-KZ"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cs typeface="Times New Roman" panose="02020603050405020304" pitchFamily="18" charset="0"/>
              </a:rPr>
              <a:t>Кесте 1 - Жарылыс-өрт және өрт қауіптілігі бойынша үй-жайлардың санаттары</a:t>
            </a:r>
            <a:endParaRPr kumimoji="0" lang="kk-KZ" altLang="ru-KZ" sz="1600" b="0" i="0" u="none" strike="noStrike" cap="none" normalizeH="0" baseline="0" dirty="0">
              <a:ln>
                <a:noFill/>
              </a:ln>
              <a:solidFill>
                <a:schemeClr val="tx1"/>
              </a:solidFill>
              <a:effectLst/>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5737760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9532AB07-54EF-4AF0-9D5B-C298CD4CBCD1}"/>
              </a:ext>
            </a:extLst>
          </p:cNvPr>
          <p:cNvSpPr/>
          <p:nvPr/>
        </p:nvSpPr>
        <p:spPr>
          <a:xfrm>
            <a:off x="1382751" y="406118"/>
            <a:ext cx="9701561" cy="1477328"/>
          </a:xfrm>
          <a:prstGeom prst="rect">
            <a:avLst/>
          </a:prstGeom>
        </p:spPr>
        <p:txBody>
          <a:bodyPr wrap="square">
            <a:spAutoFit/>
          </a:bodyPr>
          <a:lstStyle/>
          <a:p>
            <a:pPr algn="just"/>
            <a:r>
              <a:rPr lang="kk-KZ" b="1" i="1" dirty="0">
                <a:latin typeface="Times New Roman" panose="02020603050405020304" pitchFamily="18" charset="0"/>
                <a:ea typeface="Calibri" panose="020F0502020204030204" pitchFamily="34" charset="0"/>
              </a:rPr>
              <a:t>От шары</a:t>
            </a:r>
            <a:r>
              <a:rPr lang="kk-KZ" dirty="0">
                <a:latin typeface="Times New Roman" panose="02020603050405020304" pitchFamily="18" charset="0"/>
                <a:ea typeface="Calibri" panose="020F0502020204030204" pitchFamily="34" charset="0"/>
              </a:rPr>
              <a:t> – қысыммен жанғыш сұйықтық немесе газы бар резервуар жарылғанда, резервуардағы заттардың тұтануы кезінде пайда болатын кең ауқымды диффузиялық жану. Дәлірек айтсақ, от шары бұл ауамен араласқан, бірақ отынға шамадан тыс байытылған, сондықтан кинетикалық жануға қабілетсіз, сыртқы қабықшасының айналасында жанып, созыла бастайтын отты шарды құрайтын бу бұлты.</a:t>
            </a:r>
            <a:endParaRPr lang="ru-KZ" dirty="0"/>
          </a:p>
        </p:txBody>
      </p:sp>
      <p:pic>
        <p:nvPicPr>
          <p:cNvPr id="3" name="Рисунок 2">
            <a:extLst>
              <a:ext uri="{FF2B5EF4-FFF2-40B4-BE49-F238E27FC236}">
                <a16:creationId xmlns:a16="http://schemas.microsoft.com/office/drawing/2014/main" xmlns="" id="{7069652F-A8FC-447A-97EC-1A1FF1C3FB39}"/>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098413" y="2101656"/>
            <a:ext cx="5889470" cy="1874515"/>
          </a:xfrm>
          <a:prstGeom prst="rect">
            <a:avLst/>
          </a:prstGeom>
          <a:noFill/>
          <a:ln>
            <a:noFill/>
          </a:ln>
        </p:spPr>
      </p:pic>
      <p:sp>
        <p:nvSpPr>
          <p:cNvPr id="4" name="Прямоугольник 3">
            <a:extLst>
              <a:ext uri="{FF2B5EF4-FFF2-40B4-BE49-F238E27FC236}">
                <a16:creationId xmlns:a16="http://schemas.microsoft.com/office/drawing/2014/main" xmlns="" id="{538B0E41-523F-490F-B08B-64DDE520E454}"/>
              </a:ext>
            </a:extLst>
          </p:cNvPr>
          <p:cNvSpPr/>
          <p:nvPr/>
        </p:nvSpPr>
        <p:spPr>
          <a:xfrm>
            <a:off x="3185531" y="3976171"/>
            <a:ext cx="6096000" cy="1560364"/>
          </a:xfrm>
          <a:prstGeom prst="rect">
            <a:avLst/>
          </a:prstGeom>
        </p:spPr>
        <p:txBody>
          <a:bodyPr>
            <a:spAutoFit/>
          </a:bodyPr>
          <a:lstStyle/>
          <a:p>
            <a:pPr algn="ctr" fontAlgn="t">
              <a:lnSpc>
                <a:spcPct val="106000"/>
              </a:lnSpc>
              <a:spcAft>
                <a:spcPts val="0"/>
              </a:spcAft>
            </a:pPr>
            <a:r>
              <a:rPr lang="kk-KZ" dirty="0">
                <a:latin typeface="Times New Roman" panose="02020603050405020304" pitchFamily="18" charset="0"/>
                <a:ea typeface="Calibri" panose="020F0502020204030204" pitchFamily="34" charset="0"/>
                <a:cs typeface="Times New Roman" panose="02020603050405020304" pitchFamily="18" charset="0"/>
              </a:rPr>
              <a:t>От шарының пайда болу кезеңдері</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algn="just" fontAlgn="t">
              <a:lnSpc>
                <a:spcPct val="106000"/>
              </a:lnSpc>
              <a:spcAft>
                <a:spcPts val="0"/>
              </a:spcAft>
            </a:pPr>
            <a:r>
              <a:rPr lang="kk-KZ" dirty="0">
                <a:latin typeface="Times New Roman" panose="02020603050405020304" pitchFamily="18" charset="0"/>
                <a:ea typeface="Calibri" panose="020F0502020204030204" pitchFamily="34" charset="0"/>
                <a:cs typeface="Times New Roman" panose="02020603050405020304" pitchFamily="18" charset="0"/>
              </a:rPr>
              <a:t>1 - жылу көзінің резервуарға (ыдысқа) әсері; </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algn="just" fontAlgn="t">
              <a:lnSpc>
                <a:spcPct val="106000"/>
              </a:lnSpc>
              <a:spcAft>
                <a:spcPts val="0"/>
              </a:spcAft>
            </a:pPr>
            <a:r>
              <a:rPr lang="kk-KZ" dirty="0">
                <a:latin typeface="Times New Roman" panose="02020603050405020304" pitchFamily="18" charset="0"/>
                <a:ea typeface="Calibri" panose="020F0502020204030204" pitchFamily="34" charset="0"/>
                <a:cs typeface="Times New Roman" panose="02020603050405020304" pitchFamily="18" charset="0"/>
              </a:rPr>
              <a:t>2 - резервуардағы (ыдыстағы)сұйықтықтың қайнауы; </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algn="just" fontAlgn="t">
              <a:lnSpc>
                <a:spcPct val="106000"/>
              </a:lnSpc>
              <a:spcAft>
                <a:spcPts val="0"/>
              </a:spcAft>
            </a:pPr>
            <a:r>
              <a:rPr lang="kk-KZ" dirty="0">
                <a:latin typeface="Times New Roman" panose="02020603050405020304" pitchFamily="18" charset="0"/>
                <a:ea typeface="Calibri" panose="020F0502020204030204" pitchFamily="34" charset="0"/>
                <a:cs typeface="Times New Roman" panose="02020603050405020304" pitchFamily="18" charset="0"/>
              </a:rPr>
              <a:t>3 - резервуардың (ыдыстың) қысымы төмендеуі; </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algn="just" fontAlgn="t">
              <a:lnSpc>
                <a:spcPct val="106000"/>
              </a:lnSpc>
              <a:spcAft>
                <a:spcPts val="0"/>
              </a:spcAft>
            </a:pPr>
            <a:r>
              <a:rPr lang="kk-KZ" dirty="0">
                <a:latin typeface="Times New Roman" panose="02020603050405020304" pitchFamily="18" charset="0"/>
                <a:ea typeface="Calibri" panose="020F0502020204030204" pitchFamily="34" charset="0"/>
                <a:cs typeface="Times New Roman" panose="02020603050405020304" pitchFamily="18" charset="0"/>
              </a:rPr>
              <a:t>4 - от шарының пайда болуы</a:t>
            </a:r>
            <a:endParaRPr lang="ru-KZ"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2530852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Таблица 1">
            <a:extLst>
              <a:ext uri="{FF2B5EF4-FFF2-40B4-BE49-F238E27FC236}">
                <a16:creationId xmlns:a16="http://schemas.microsoft.com/office/drawing/2014/main" xmlns="" id="{F0B87ED5-5EF5-4D6C-B04F-3172CA953D31}"/>
              </a:ext>
            </a:extLst>
          </p:cNvPr>
          <p:cNvGraphicFramePr>
            <a:graphicFrameLocks noGrp="1"/>
          </p:cNvGraphicFramePr>
          <p:nvPr>
            <p:extLst>
              <p:ext uri="{D42A27DB-BD31-4B8C-83A1-F6EECF244321}">
                <p14:modId xmlns:p14="http://schemas.microsoft.com/office/powerpoint/2010/main" val="1548304412"/>
              </p:ext>
            </p:extLst>
          </p:nvPr>
        </p:nvGraphicFramePr>
        <p:xfrm>
          <a:off x="2323333" y="692141"/>
          <a:ext cx="7437863" cy="1565529"/>
        </p:xfrm>
        <a:graphic>
          <a:graphicData uri="http://schemas.openxmlformats.org/drawingml/2006/table">
            <a:tbl>
              <a:tblPr firstRow="1" firstCol="1" bandRow="1">
                <a:tableStyleId>{5940675A-B579-460E-94D1-54222C63F5DA}</a:tableStyleId>
              </a:tblPr>
              <a:tblGrid>
                <a:gridCol w="4449336">
                  <a:extLst>
                    <a:ext uri="{9D8B030D-6E8A-4147-A177-3AD203B41FA5}">
                      <a16:colId xmlns:a16="http://schemas.microsoft.com/office/drawing/2014/main" xmlns="" val="3628119024"/>
                    </a:ext>
                  </a:extLst>
                </a:gridCol>
                <a:gridCol w="2988527">
                  <a:extLst>
                    <a:ext uri="{9D8B030D-6E8A-4147-A177-3AD203B41FA5}">
                      <a16:colId xmlns:a16="http://schemas.microsoft.com/office/drawing/2014/main" xmlns="" val="3473447068"/>
                    </a:ext>
                  </a:extLst>
                </a:gridCol>
              </a:tblGrid>
              <a:tr h="210996">
                <a:tc>
                  <a:txBody>
                    <a:bodyPr/>
                    <a:lstStyle/>
                    <a:p>
                      <a:pPr algn="just">
                        <a:lnSpc>
                          <a:spcPct val="107000"/>
                        </a:lnSpc>
                        <a:spcAft>
                          <a:spcPts val="0"/>
                        </a:spcAft>
                      </a:pPr>
                      <a:r>
                        <a:rPr lang="kk-KZ" sz="1600">
                          <a:effectLst/>
                          <a:latin typeface="Cambria" panose="02040503050406030204" pitchFamily="18" charset="0"/>
                          <a:ea typeface="Cambria" panose="02040503050406030204" pitchFamily="18" charset="0"/>
                        </a:rPr>
                        <a:t>Категория </a:t>
                      </a:r>
                      <a:endParaRPr lang="ru-KZ" sz="16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rgbClr val="FFFF00"/>
                    </a:solidFill>
                  </a:tcPr>
                </a:tc>
                <a:tc>
                  <a:txBody>
                    <a:bodyPr/>
                    <a:lstStyle/>
                    <a:p>
                      <a:pPr algn="just">
                        <a:lnSpc>
                          <a:spcPct val="107000"/>
                        </a:lnSpc>
                        <a:spcAft>
                          <a:spcPts val="0"/>
                        </a:spcAft>
                      </a:pPr>
                      <a:r>
                        <a:rPr lang="kk-KZ" sz="1600" dirty="0">
                          <a:effectLst/>
                          <a:latin typeface="Cambria" panose="02040503050406030204" pitchFamily="18" charset="0"/>
                          <a:ea typeface="Cambria" panose="02040503050406030204" pitchFamily="18" charset="0"/>
                        </a:rPr>
                        <a:t>Меншікті өрт жүктемесі, МДж/м</a:t>
                      </a:r>
                      <a:r>
                        <a:rPr lang="kk-KZ" sz="1600" baseline="30000" dirty="0">
                          <a:effectLst/>
                          <a:latin typeface="Cambria" panose="02040503050406030204" pitchFamily="18" charset="0"/>
                          <a:ea typeface="Cambria" panose="02040503050406030204" pitchFamily="18" charset="0"/>
                        </a:rPr>
                        <a:t>2</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rgbClr val="FFFF00"/>
                    </a:solidFill>
                  </a:tcPr>
                </a:tc>
                <a:extLst>
                  <a:ext uri="{0D108BD9-81ED-4DB2-BD59-A6C34878D82A}">
                    <a16:rowId xmlns:a16="http://schemas.microsoft.com/office/drawing/2014/main" xmlns="" val="743661427"/>
                  </a:ext>
                </a:extLst>
              </a:tr>
              <a:tr h="873275">
                <a:tc>
                  <a:txBody>
                    <a:bodyPr/>
                    <a:lstStyle/>
                    <a:p>
                      <a:pPr>
                        <a:lnSpc>
                          <a:spcPct val="107000"/>
                        </a:lnSpc>
                        <a:spcAft>
                          <a:spcPts val="0"/>
                        </a:spcAft>
                      </a:pPr>
                      <a:r>
                        <a:rPr lang="ru-RU" sz="1600" dirty="0">
                          <a:effectLst/>
                          <a:latin typeface="Cambria" panose="02040503050406030204" pitchFamily="18" charset="0"/>
                          <a:ea typeface="Cambria" panose="02040503050406030204" pitchFamily="18" charset="0"/>
                        </a:rPr>
                        <a:t>В</a:t>
                      </a:r>
                      <a:r>
                        <a:rPr lang="kk-KZ" sz="1600" dirty="0">
                          <a:effectLst/>
                          <a:latin typeface="Cambria" panose="02040503050406030204" pitchFamily="18" charset="0"/>
                          <a:ea typeface="Cambria" panose="02040503050406030204" pitchFamily="18" charset="0"/>
                        </a:rPr>
                        <a:t>1</a:t>
                      </a:r>
                      <a:endParaRPr lang="ru-KZ" sz="1600" dirty="0">
                        <a:effectLst/>
                        <a:latin typeface="Cambria" panose="02040503050406030204" pitchFamily="18" charset="0"/>
                        <a:ea typeface="Cambria" panose="02040503050406030204" pitchFamily="18" charset="0"/>
                      </a:endParaRPr>
                    </a:p>
                    <a:p>
                      <a:pPr>
                        <a:lnSpc>
                          <a:spcPct val="107000"/>
                        </a:lnSpc>
                        <a:spcAft>
                          <a:spcPts val="0"/>
                        </a:spcAft>
                      </a:pPr>
                      <a:r>
                        <a:rPr lang="ru-RU" sz="1600" dirty="0">
                          <a:effectLst/>
                          <a:latin typeface="Cambria" panose="02040503050406030204" pitchFamily="18" charset="0"/>
                          <a:ea typeface="Cambria" panose="02040503050406030204" pitchFamily="18" charset="0"/>
                        </a:rPr>
                        <a:t>В2 </a:t>
                      </a:r>
                      <a:endParaRPr lang="ru-KZ" sz="1600" dirty="0">
                        <a:effectLst/>
                        <a:latin typeface="Cambria" panose="02040503050406030204" pitchFamily="18" charset="0"/>
                        <a:ea typeface="Cambria" panose="02040503050406030204" pitchFamily="18" charset="0"/>
                      </a:endParaRPr>
                    </a:p>
                    <a:p>
                      <a:pPr>
                        <a:lnSpc>
                          <a:spcPct val="107000"/>
                        </a:lnSpc>
                        <a:spcAft>
                          <a:spcPts val="0"/>
                        </a:spcAft>
                      </a:pPr>
                      <a:r>
                        <a:rPr lang="ru-RU" sz="1600" dirty="0">
                          <a:effectLst/>
                          <a:latin typeface="Cambria" panose="02040503050406030204" pitchFamily="18" charset="0"/>
                          <a:ea typeface="Cambria" panose="02040503050406030204" pitchFamily="18" charset="0"/>
                        </a:rPr>
                        <a:t>В3 </a:t>
                      </a:r>
                      <a:endParaRPr lang="ru-KZ" sz="1600" dirty="0">
                        <a:effectLst/>
                        <a:latin typeface="Cambria" panose="02040503050406030204" pitchFamily="18" charset="0"/>
                        <a:ea typeface="Cambria" panose="02040503050406030204" pitchFamily="18" charset="0"/>
                      </a:endParaRPr>
                    </a:p>
                    <a:p>
                      <a:pPr algn="just">
                        <a:lnSpc>
                          <a:spcPct val="107000"/>
                        </a:lnSpc>
                        <a:spcAft>
                          <a:spcPts val="0"/>
                        </a:spcAft>
                      </a:pPr>
                      <a:r>
                        <a:rPr lang="ru-RU" sz="1600" dirty="0">
                          <a:effectLst/>
                          <a:latin typeface="Cambria" panose="02040503050406030204" pitchFamily="18" charset="0"/>
                          <a:ea typeface="Cambria" panose="02040503050406030204" pitchFamily="18" charset="0"/>
                        </a:rPr>
                        <a:t>В4</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ru-RU" sz="1600" dirty="0">
                          <a:effectLst/>
                          <a:latin typeface="Cambria" panose="02040503050406030204" pitchFamily="18" charset="0"/>
                          <a:ea typeface="Cambria" panose="02040503050406030204" pitchFamily="18" charset="0"/>
                        </a:rPr>
                        <a:t>2200</a:t>
                      </a:r>
                      <a:r>
                        <a:rPr lang="kk-KZ" sz="1600" dirty="0">
                          <a:effectLst/>
                          <a:latin typeface="Cambria" panose="02040503050406030204" pitchFamily="18" charset="0"/>
                          <a:ea typeface="Cambria" panose="02040503050406030204" pitchFamily="18" charset="0"/>
                        </a:rPr>
                        <a:t> жоғары</a:t>
                      </a:r>
                      <a:endParaRPr lang="ru-KZ" sz="1600" dirty="0">
                        <a:effectLst/>
                        <a:latin typeface="Cambria" panose="02040503050406030204" pitchFamily="18" charset="0"/>
                        <a:ea typeface="Cambria" panose="02040503050406030204" pitchFamily="18" charset="0"/>
                      </a:endParaRPr>
                    </a:p>
                    <a:p>
                      <a:pPr algn="just">
                        <a:lnSpc>
                          <a:spcPct val="107000"/>
                        </a:lnSpc>
                        <a:spcAft>
                          <a:spcPts val="0"/>
                        </a:spcAft>
                      </a:pPr>
                      <a:r>
                        <a:rPr lang="ru-RU" sz="1600" dirty="0">
                          <a:effectLst/>
                          <a:latin typeface="Cambria" panose="02040503050406030204" pitchFamily="18" charset="0"/>
                          <a:ea typeface="Cambria" panose="02040503050406030204" pitchFamily="18" charset="0"/>
                        </a:rPr>
                        <a:t>1401…2200</a:t>
                      </a:r>
                      <a:endParaRPr lang="ru-KZ" sz="1600" dirty="0">
                        <a:effectLst/>
                        <a:latin typeface="Cambria" panose="02040503050406030204" pitchFamily="18" charset="0"/>
                        <a:ea typeface="Cambria" panose="02040503050406030204" pitchFamily="18" charset="0"/>
                      </a:endParaRPr>
                    </a:p>
                    <a:p>
                      <a:pPr algn="just">
                        <a:lnSpc>
                          <a:spcPct val="107000"/>
                        </a:lnSpc>
                        <a:spcAft>
                          <a:spcPts val="0"/>
                        </a:spcAft>
                      </a:pPr>
                      <a:r>
                        <a:rPr lang="ru-RU" sz="1600" dirty="0">
                          <a:effectLst/>
                          <a:latin typeface="Cambria" panose="02040503050406030204" pitchFamily="18" charset="0"/>
                          <a:ea typeface="Cambria" panose="02040503050406030204" pitchFamily="18" charset="0"/>
                        </a:rPr>
                        <a:t>181…1400</a:t>
                      </a:r>
                      <a:endParaRPr lang="ru-KZ" sz="1600" dirty="0">
                        <a:effectLst/>
                        <a:latin typeface="Cambria" panose="02040503050406030204" pitchFamily="18" charset="0"/>
                        <a:ea typeface="Cambria" panose="02040503050406030204" pitchFamily="18" charset="0"/>
                      </a:endParaRPr>
                    </a:p>
                    <a:p>
                      <a:pPr algn="just">
                        <a:lnSpc>
                          <a:spcPct val="107000"/>
                        </a:lnSpc>
                        <a:spcAft>
                          <a:spcPts val="0"/>
                        </a:spcAft>
                      </a:pPr>
                      <a:r>
                        <a:rPr lang="ru-RU" sz="1600" dirty="0">
                          <a:effectLst/>
                          <a:latin typeface="Cambria" panose="02040503050406030204" pitchFamily="18" charset="0"/>
                          <a:ea typeface="Cambria" panose="02040503050406030204" pitchFamily="18" charset="0"/>
                        </a:rPr>
                        <a:t>1…180</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133330478"/>
                  </a:ext>
                </a:extLst>
              </a:tr>
            </a:tbl>
          </a:graphicData>
        </a:graphic>
      </p:graphicFrame>
      <p:sp>
        <p:nvSpPr>
          <p:cNvPr id="3" name="Rectangle 1">
            <a:extLst>
              <a:ext uri="{FF2B5EF4-FFF2-40B4-BE49-F238E27FC236}">
                <a16:creationId xmlns:a16="http://schemas.microsoft.com/office/drawing/2014/main" xmlns="" id="{691FBDE1-2753-4560-9566-73186F5E92FB}"/>
              </a:ext>
            </a:extLst>
          </p:cNvPr>
          <p:cNvSpPr>
            <a:spLocks noChangeArrowheads="1"/>
          </p:cNvSpPr>
          <p:nvPr/>
        </p:nvSpPr>
        <p:spPr bwMode="auto">
          <a:xfrm>
            <a:off x="3107864" y="375325"/>
            <a:ext cx="5037598"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kk-KZ" altLang="ru-KZ"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Кесте 2 - Өрт қауіпті үй-жайлар санатын анықтау</a:t>
            </a:r>
            <a:endParaRPr kumimoji="0" lang="kk-KZ" altLang="ru-KZ" b="0" i="0" u="none" strike="noStrike" cap="none" normalizeH="0" baseline="0" dirty="0">
              <a:ln>
                <a:noFill/>
              </a:ln>
              <a:solidFill>
                <a:schemeClr val="tx1"/>
              </a:solidFill>
              <a:effectLst/>
              <a:latin typeface="Arial" panose="020B0604020202020204" pitchFamily="34" charset="0"/>
            </a:endParaRPr>
          </a:p>
        </p:txBody>
      </p:sp>
      <p:graphicFrame>
        <p:nvGraphicFramePr>
          <p:cNvPr id="4" name="Таблица 3">
            <a:extLst>
              <a:ext uri="{FF2B5EF4-FFF2-40B4-BE49-F238E27FC236}">
                <a16:creationId xmlns:a16="http://schemas.microsoft.com/office/drawing/2014/main" xmlns="" id="{B790323E-2241-489E-B53B-8876483AE05E}"/>
              </a:ext>
            </a:extLst>
          </p:cNvPr>
          <p:cNvGraphicFramePr>
            <a:graphicFrameLocks noGrp="1"/>
          </p:cNvGraphicFramePr>
          <p:nvPr>
            <p:extLst>
              <p:ext uri="{D42A27DB-BD31-4B8C-83A1-F6EECF244321}">
                <p14:modId xmlns:p14="http://schemas.microsoft.com/office/powerpoint/2010/main" val="2534985802"/>
              </p:ext>
            </p:extLst>
          </p:nvPr>
        </p:nvGraphicFramePr>
        <p:xfrm>
          <a:off x="2561992" y="2920332"/>
          <a:ext cx="7180441" cy="2383605"/>
        </p:xfrm>
        <a:graphic>
          <a:graphicData uri="http://schemas.openxmlformats.org/drawingml/2006/table">
            <a:tbl>
              <a:tblPr firstRow="1" firstCol="1" bandRow="1">
                <a:tableStyleId>{5940675A-B579-460E-94D1-54222C63F5DA}</a:tableStyleId>
              </a:tblPr>
              <a:tblGrid>
                <a:gridCol w="3648841">
                  <a:extLst>
                    <a:ext uri="{9D8B030D-6E8A-4147-A177-3AD203B41FA5}">
                      <a16:colId xmlns:a16="http://schemas.microsoft.com/office/drawing/2014/main" xmlns="" val="4265827173"/>
                    </a:ext>
                  </a:extLst>
                </a:gridCol>
                <a:gridCol w="3531600">
                  <a:extLst>
                    <a:ext uri="{9D8B030D-6E8A-4147-A177-3AD203B41FA5}">
                      <a16:colId xmlns:a16="http://schemas.microsoft.com/office/drawing/2014/main" xmlns="" val="4136042001"/>
                    </a:ext>
                  </a:extLst>
                </a:gridCol>
              </a:tblGrid>
              <a:tr h="557151">
                <a:tc>
                  <a:txBody>
                    <a:bodyPr/>
                    <a:lstStyle/>
                    <a:p>
                      <a:pPr algn="just">
                        <a:lnSpc>
                          <a:spcPct val="107000"/>
                        </a:lnSpc>
                        <a:spcAft>
                          <a:spcPts val="0"/>
                        </a:spcAft>
                      </a:pPr>
                      <a:r>
                        <a:rPr lang="kk-KZ" sz="1600" dirty="0">
                          <a:effectLst/>
                          <a:latin typeface="Cambria" panose="02040503050406030204" pitchFamily="18" charset="0"/>
                          <a:ea typeface="Cambria" panose="02040503050406030204" pitchFamily="18" charset="0"/>
                        </a:rPr>
                        <a:t>Материал немесе заттар</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rgbClr val="FFFF00"/>
                    </a:solidFill>
                  </a:tcPr>
                </a:tc>
                <a:tc>
                  <a:txBody>
                    <a:bodyPr/>
                    <a:lstStyle/>
                    <a:p>
                      <a:pPr algn="just">
                        <a:lnSpc>
                          <a:spcPct val="107000"/>
                        </a:lnSpc>
                        <a:spcAft>
                          <a:spcPts val="0"/>
                        </a:spcAft>
                      </a:pPr>
                      <a:r>
                        <a:rPr lang="kk-KZ" sz="1600" dirty="0">
                          <a:effectLst/>
                          <a:latin typeface="Cambria" panose="02040503050406030204" pitchFamily="18" charset="0"/>
                          <a:ea typeface="Cambria" panose="02040503050406030204" pitchFamily="18" charset="0"/>
                        </a:rPr>
                        <a:t>Материалдың төмен калориялық құндылығы, кДж/кг</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solidFill>
                      <a:srgbClr val="FFFF00"/>
                    </a:solidFill>
                  </a:tcPr>
                </a:tc>
                <a:extLst>
                  <a:ext uri="{0D108BD9-81ED-4DB2-BD59-A6C34878D82A}">
                    <a16:rowId xmlns:a16="http://schemas.microsoft.com/office/drawing/2014/main" xmlns="" val="1357967239"/>
                  </a:ext>
                </a:extLst>
              </a:tr>
              <a:tr h="234908">
                <a:tc>
                  <a:txBody>
                    <a:bodyPr/>
                    <a:lstStyle/>
                    <a:p>
                      <a:pPr algn="just">
                        <a:lnSpc>
                          <a:spcPct val="107000"/>
                        </a:lnSpc>
                        <a:spcAft>
                          <a:spcPts val="0"/>
                        </a:spcAft>
                      </a:pPr>
                      <a:r>
                        <a:rPr lang="ru-RU" sz="1600">
                          <a:effectLst/>
                          <a:latin typeface="Cambria" panose="02040503050406030204" pitchFamily="18" charset="0"/>
                          <a:ea typeface="Cambria" panose="02040503050406030204" pitchFamily="18" charset="0"/>
                        </a:rPr>
                        <a:t>Алюминий</a:t>
                      </a:r>
                      <a:endParaRPr lang="ru-KZ" sz="16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ru-RU" sz="1600">
                          <a:effectLst/>
                          <a:latin typeface="Cambria" panose="02040503050406030204" pitchFamily="18" charset="0"/>
                          <a:ea typeface="Cambria" panose="02040503050406030204" pitchFamily="18" charset="0"/>
                        </a:rPr>
                        <a:t>31 087</a:t>
                      </a:r>
                      <a:endParaRPr lang="ru-KZ" sz="16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034613028"/>
                  </a:ext>
                </a:extLst>
              </a:tr>
              <a:tr h="234908">
                <a:tc>
                  <a:txBody>
                    <a:bodyPr/>
                    <a:lstStyle/>
                    <a:p>
                      <a:pPr algn="just">
                        <a:lnSpc>
                          <a:spcPct val="107000"/>
                        </a:lnSpc>
                        <a:spcAft>
                          <a:spcPts val="0"/>
                        </a:spcAft>
                      </a:pPr>
                      <a:r>
                        <a:rPr lang="ru-RU" sz="1600">
                          <a:effectLst/>
                          <a:latin typeface="Cambria" panose="02040503050406030204" pitchFamily="18" charset="0"/>
                          <a:ea typeface="Cambria" panose="02040503050406030204" pitchFamily="18" charset="0"/>
                        </a:rPr>
                        <a:t>Ацетон     </a:t>
                      </a:r>
                      <a:endParaRPr lang="ru-KZ" sz="16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ru-RU" sz="1600" dirty="0">
                          <a:effectLst/>
                          <a:latin typeface="Cambria" panose="02040503050406030204" pitchFamily="18" charset="0"/>
                          <a:ea typeface="Cambria" panose="02040503050406030204" pitchFamily="18" charset="0"/>
                        </a:rPr>
                        <a:t>31 360</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4121121763"/>
                  </a:ext>
                </a:extLst>
              </a:tr>
              <a:tr h="234908">
                <a:tc>
                  <a:txBody>
                    <a:bodyPr/>
                    <a:lstStyle/>
                    <a:p>
                      <a:pPr algn="just">
                        <a:lnSpc>
                          <a:spcPct val="107000"/>
                        </a:lnSpc>
                        <a:spcAft>
                          <a:spcPts val="0"/>
                        </a:spcAft>
                      </a:pPr>
                      <a:r>
                        <a:rPr lang="ru-RU" sz="1600">
                          <a:effectLst/>
                          <a:latin typeface="Cambria" panose="02040503050406030204" pitchFamily="18" charset="0"/>
                          <a:ea typeface="Cambria" panose="02040503050406030204" pitchFamily="18" charset="0"/>
                        </a:rPr>
                        <a:t>Бензин</a:t>
                      </a:r>
                      <a:endParaRPr lang="ru-KZ" sz="16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ru-RU" sz="1600">
                          <a:effectLst/>
                          <a:latin typeface="Cambria" panose="02040503050406030204" pitchFamily="18" charset="0"/>
                          <a:ea typeface="Cambria" panose="02040503050406030204" pitchFamily="18" charset="0"/>
                        </a:rPr>
                        <a:t>45 700</a:t>
                      </a:r>
                      <a:endParaRPr lang="ru-KZ" sz="16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588446609"/>
                  </a:ext>
                </a:extLst>
              </a:tr>
              <a:tr h="234908">
                <a:tc>
                  <a:txBody>
                    <a:bodyPr/>
                    <a:lstStyle/>
                    <a:p>
                      <a:pPr algn="just">
                        <a:lnSpc>
                          <a:spcPct val="107000"/>
                        </a:lnSpc>
                        <a:spcAft>
                          <a:spcPts val="0"/>
                        </a:spcAft>
                      </a:pPr>
                      <a:r>
                        <a:rPr lang="ru-RU" sz="1600">
                          <a:effectLst/>
                          <a:latin typeface="Cambria" panose="02040503050406030204" pitchFamily="18" charset="0"/>
                          <a:ea typeface="Cambria" panose="02040503050406030204" pitchFamily="18" charset="0"/>
                        </a:rPr>
                        <a:t>Бензол</a:t>
                      </a:r>
                      <a:endParaRPr lang="ru-KZ" sz="16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ru-RU" sz="1600">
                          <a:effectLst/>
                          <a:latin typeface="Cambria" panose="02040503050406030204" pitchFamily="18" charset="0"/>
                          <a:ea typeface="Cambria" panose="02040503050406030204" pitchFamily="18" charset="0"/>
                        </a:rPr>
                        <a:t>40 630</a:t>
                      </a:r>
                      <a:endParaRPr lang="ru-KZ" sz="16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836303325"/>
                  </a:ext>
                </a:extLst>
              </a:tr>
              <a:tr h="234908">
                <a:tc>
                  <a:txBody>
                    <a:bodyPr/>
                    <a:lstStyle/>
                    <a:p>
                      <a:pPr algn="just">
                        <a:lnSpc>
                          <a:spcPct val="107000"/>
                        </a:lnSpc>
                        <a:spcAft>
                          <a:spcPts val="0"/>
                        </a:spcAft>
                      </a:pPr>
                      <a:r>
                        <a:rPr lang="kk-KZ" sz="1600">
                          <a:effectLst/>
                          <a:latin typeface="Cambria" panose="02040503050406030204" pitchFamily="18" charset="0"/>
                          <a:ea typeface="Cambria" panose="02040503050406030204" pitchFamily="18" charset="0"/>
                        </a:rPr>
                        <a:t>Қағаз</a:t>
                      </a:r>
                      <a:endParaRPr lang="ru-KZ" sz="16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ru-RU" sz="1600">
                          <a:effectLst/>
                          <a:latin typeface="Cambria" panose="02040503050406030204" pitchFamily="18" charset="0"/>
                          <a:ea typeface="Cambria" panose="02040503050406030204" pitchFamily="18" charset="0"/>
                        </a:rPr>
                        <a:t>20 000</a:t>
                      </a:r>
                      <a:endParaRPr lang="ru-KZ" sz="16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2422496722"/>
                  </a:ext>
                </a:extLst>
              </a:tr>
              <a:tr h="234908">
                <a:tc>
                  <a:txBody>
                    <a:bodyPr/>
                    <a:lstStyle/>
                    <a:p>
                      <a:pPr algn="just">
                        <a:lnSpc>
                          <a:spcPct val="107000"/>
                        </a:lnSpc>
                        <a:spcAft>
                          <a:spcPts val="0"/>
                        </a:spcAft>
                      </a:pPr>
                      <a:r>
                        <a:rPr lang="kk-KZ" sz="1600">
                          <a:effectLst/>
                          <a:latin typeface="Cambria" panose="02040503050406030204" pitchFamily="18" charset="0"/>
                          <a:ea typeface="Cambria" panose="02040503050406030204" pitchFamily="18" charset="0"/>
                        </a:rPr>
                        <a:t>Ағаш</a:t>
                      </a:r>
                      <a:endParaRPr lang="ru-KZ" sz="16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ru-RU" sz="1600" dirty="0">
                          <a:effectLst/>
                          <a:latin typeface="Cambria" panose="02040503050406030204" pitchFamily="18" charset="0"/>
                          <a:ea typeface="Cambria" panose="02040503050406030204" pitchFamily="18" charset="0"/>
                        </a:rPr>
                        <a:t>19 000</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1122068923"/>
                  </a:ext>
                </a:extLst>
              </a:tr>
              <a:tr h="234908">
                <a:tc>
                  <a:txBody>
                    <a:bodyPr/>
                    <a:lstStyle/>
                    <a:p>
                      <a:pPr algn="just">
                        <a:lnSpc>
                          <a:spcPct val="107000"/>
                        </a:lnSpc>
                        <a:spcAft>
                          <a:spcPts val="0"/>
                        </a:spcAft>
                      </a:pPr>
                      <a:r>
                        <a:rPr lang="ru-RU" sz="1600">
                          <a:effectLst/>
                          <a:latin typeface="Cambria" panose="02040503050406030204" pitchFamily="18" charset="0"/>
                          <a:ea typeface="Cambria" panose="02040503050406030204" pitchFamily="18" charset="0"/>
                        </a:rPr>
                        <a:t>Керосин</a:t>
                      </a:r>
                      <a:endParaRPr lang="ru-KZ" sz="160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tc>
                  <a:txBody>
                    <a:bodyPr/>
                    <a:lstStyle/>
                    <a:p>
                      <a:pPr algn="just">
                        <a:lnSpc>
                          <a:spcPct val="107000"/>
                        </a:lnSpc>
                        <a:spcAft>
                          <a:spcPts val="0"/>
                        </a:spcAft>
                      </a:pPr>
                      <a:r>
                        <a:rPr lang="ru-RU" sz="1600" dirty="0">
                          <a:effectLst/>
                          <a:latin typeface="Cambria" panose="02040503050406030204" pitchFamily="18" charset="0"/>
                          <a:ea typeface="Cambria" panose="02040503050406030204" pitchFamily="18" charset="0"/>
                        </a:rPr>
                        <a:t>42 900</a:t>
                      </a:r>
                      <a:endParaRPr lang="ru-KZ" sz="1600" dirty="0">
                        <a:effectLst/>
                        <a:latin typeface="Cambria" panose="02040503050406030204" pitchFamily="18" charset="0"/>
                        <a:ea typeface="Cambria" panose="02040503050406030204" pitchFamily="18" charset="0"/>
                        <a:cs typeface="Times New Roman" panose="02020603050405020304" pitchFamily="18" charset="0"/>
                      </a:endParaRPr>
                    </a:p>
                  </a:txBody>
                  <a:tcPr marL="68580" marR="68580" marT="0" marB="0"/>
                </a:tc>
                <a:extLst>
                  <a:ext uri="{0D108BD9-81ED-4DB2-BD59-A6C34878D82A}">
                    <a16:rowId xmlns:a16="http://schemas.microsoft.com/office/drawing/2014/main" xmlns="" val="4156759166"/>
                  </a:ext>
                </a:extLst>
              </a:tr>
            </a:tbl>
          </a:graphicData>
        </a:graphic>
      </p:graphicFrame>
      <p:sp>
        <p:nvSpPr>
          <p:cNvPr id="5" name="Прямоугольник 4">
            <a:extLst>
              <a:ext uri="{FF2B5EF4-FFF2-40B4-BE49-F238E27FC236}">
                <a16:creationId xmlns:a16="http://schemas.microsoft.com/office/drawing/2014/main" xmlns="" id="{CFD72E12-8C5E-4DFB-B446-027E440691E5}"/>
              </a:ext>
            </a:extLst>
          </p:cNvPr>
          <p:cNvSpPr/>
          <p:nvPr/>
        </p:nvSpPr>
        <p:spPr>
          <a:xfrm>
            <a:off x="2710737" y="2617493"/>
            <a:ext cx="5831853" cy="374077"/>
          </a:xfrm>
          <a:prstGeom prst="rect">
            <a:avLst/>
          </a:prstGeom>
        </p:spPr>
        <p:txBody>
          <a:bodyPr wrap="none">
            <a:spAutoFit/>
          </a:bodyPr>
          <a:lstStyle/>
          <a:p>
            <a:pPr algn="just">
              <a:lnSpc>
                <a:spcPct val="107000"/>
              </a:lnSpc>
              <a:spcAft>
                <a:spcPts val="0"/>
              </a:spcAft>
            </a:pPr>
            <a:r>
              <a:rPr lang="kk-KZ" dirty="0">
                <a:latin typeface="Times New Roman" panose="02020603050405020304" pitchFamily="18" charset="0"/>
                <a:ea typeface="Calibri" panose="020F0502020204030204" pitchFamily="34" charset="0"/>
                <a:cs typeface="Times New Roman" panose="02020603050405020304" pitchFamily="18" charset="0"/>
              </a:rPr>
              <a:t>Кесте 3 - Жанғыш материалдардың жылулық құндылығы</a:t>
            </a:r>
            <a:endParaRPr lang="ru-KZ"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1366512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Таблица 2">
            <a:extLst>
              <a:ext uri="{FF2B5EF4-FFF2-40B4-BE49-F238E27FC236}">
                <a16:creationId xmlns:a16="http://schemas.microsoft.com/office/drawing/2014/main" xmlns="" id="{899D20C6-398E-4D63-9BB8-A99B1F29D485}"/>
              </a:ext>
            </a:extLst>
          </p:cNvPr>
          <p:cNvGraphicFramePr>
            <a:graphicFrameLocks noGrp="1"/>
          </p:cNvGraphicFramePr>
          <p:nvPr>
            <p:extLst>
              <p:ext uri="{D42A27DB-BD31-4B8C-83A1-F6EECF244321}">
                <p14:modId xmlns:p14="http://schemas.microsoft.com/office/powerpoint/2010/main" val="2946009598"/>
              </p:ext>
            </p:extLst>
          </p:nvPr>
        </p:nvGraphicFramePr>
        <p:xfrm>
          <a:off x="631499" y="1513524"/>
          <a:ext cx="10816683" cy="4231316"/>
        </p:xfrm>
        <a:graphic>
          <a:graphicData uri="http://schemas.openxmlformats.org/drawingml/2006/table">
            <a:tbl>
              <a:tblPr firstRow="1" firstCol="1" bandRow="1">
                <a:tableStyleId>{5940675A-B579-460E-94D1-54222C63F5DA}</a:tableStyleId>
              </a:tblPr>
              <a:tblGrid>
                <a:gridCol w="1646503">
                  <a:extLst>
                    <a:ext uri="{9D8B030D-6E8A-4147-A177-3AD203B41FA5}">
                      <a16:colId xmlns:a16="http://schemas.microsoft.com/office/drawing/2014/main" xmlns="" val="3911145439"/>
                    </a:ext>
                  </a:extLst>
                </a:gridCol>
                <a:gridCol w="1057045">
                  <a:extLst>
                    <a:ext uri="{9D8B030D-6E8A-4147-A177-3AD203B41FA5}">
                      <a16:colId xmlns:a16="http://schemas.microsoft.com/office/drawing/2014/main" xmlns="" val="2137962533"/>
                    </a:ext>
                  </a:extLst>
                </a:gridCol>
                <a:gridCol w="1175601">
                  <a:extLst>
                    <a:ext uri="{9D8B030D-6E8A-4147-A177-3AD203B41FA5}">
                      <a16:colId xmlns:a16="http://schemas.microsoft.com/office/drawing/2014/main" xmlns="" val="3042610632"/>
                    </a:ext>
                  </a:extLst>
                </a:gridCol>
                <a:gridCol w="1175601">
                  <a:extLst>
                    <a:ext uri="{9D8B030D-6E8A-4147-A177-3AD203B41FA5}">
                      <a16:colId xmlns:a16="http://schemas.microsoft.com/office/drawing/2014/main" xmlns="" val="2864755897"/>
                    </a:ext>
                  </a:extLst>
                </a:gridCol>
                <a:gridCol w="1468713">
                  <a:extLst>
                    <a:ext uri="{9D8B030D-6E8A-4147-A177-3AD203B41FA5}">
                      <a16:colId xmlns:a16="http://schemas.microsoft.com/office/drawing/2014/main" xmlns="" val="2871088383"/>
                    </a:ext>
                  </a:extLst>
                </a:gridCol>
                <a:gridCol w="1639230">
                  <a:extLst>
                    <a:ext uri="{9D8B030D-6E8A-4147-A177-3AD203B41FA5}">
                      <a16:colId xmlns:a16="http://schemas.microsoft.com/office/drawing/2014/main" xmlns="" val="2648375336"/>
                    </a:ext>
                  </a:extLst>
                </a:gridCol>
                <a:gridCol w="1009142">
                  <a:extLst>
                    <a:ext uri="{9D8B030D-6E8A-4147-A177-3AD203B41FA5}">
                      <a16:colId xmlns:a16="http://schemas.microsoft.com/office/drawing/2014/main" xmlns="" val="3508045536"/>
                    </a:ext>
                  </a:extLst>
                </a:gridCol>
                <a:gridCol w="822424">
                  <a:extLst>
                    <a:ext uri="{9D8B030D-6E8A-4147-A177-3AD203B41FA5}">
                      <a16:colId xmlns:a16="http://schemas.microsoft.com/office/drawing/2014/main" xmlns="" val="4189406496"/>
                    </a:ext>
                  </a:extLst>
                </a:gridCol>
                <a:gridCol w="822424">
                  <a:extLst>
                    <a:ext uri="{9D8B030D-6E8A-4147-A177-3AD203B41FA5}">
                      <a16:colId xmlns:a16="http://schemas.microsoft.com/office/drawing/2014/main" xmlns="" val="2521121333"/>
                    </a:ext>
                  </a:extLst>
                </a:gridCol>
              </a:tblGrid>
              <a:tr h="219057">
                <a:tc rowSpan="3">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Ғимараттардың</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құрылыстардың</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және</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өрт</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бөліктерінің</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отқа</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төзімділік</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дәрежесі</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solidFill>
                      <a:srgbClr val="FFFF00"/>
                    </a:solidFill>
                  </a:tcPr>
                </a:tc>
                <a:tc gridSpan="8">
                  <a:txBody>
                    <a:bodyPr/>
                    <a:lstStyle/>
                    <a:p>
                      <a:pPr algn="ctr" fontAlgn="base">
                        <a:lnSpc>
                          <a:spcPts val="1425"/>
                        </a:lnSpc>
                        <a:spcAft>
                          <a:spcPts val="1800"/>
                        </a:spcAft>
                      </a:pPr>
                      <a:r>
                        <a:rPr lang="ru-KZ" sz="1200" b="1" spc="10" dirty="0" err="1">
                          <a:solidFill>
                            <a:schemeClr val="tx1">
                              <a:lumMod val="95000"/>
                              <a:lumOff val="5000"/>
                            </a:schemeClr>
                          </a:solidFill>
                          <a:effectLst/>
                          <a:latin typeface="Cambria" panose="02040503050406030204" pitchFamily="18" charset="0"/>
                          <a:ea typeface="Cambria" panose="02040503050406030204" pitchFamily="18" charset="0"/>
                        </a:rPr>
                        <a:t>Құрылыс</a:t>
                      </a:r>
                      <a:r>
                        <a:rPr lang="ru-KZ" sz="1200" b="1"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b="1" spc="10" dirty="0" err="1">
                          <a:solidFill>
                            <a:schemeClr val="tx1">
                              <a:lumMod val="95000"/>
                              <a:lumOff val="5000"/>
                            </a:schemeClr>
                          </a:solidFill>
                          <a:effectLst/>
                          <a:latin typeface="Cambria" panose="02040503050406030204" pitchFamily="18" charset="0"/>
                          <a:ea typeface="Cambria" panose="02040503050406030204" pitchFamily="18" charset="0"/>
                        </a:rPr>
                        <a:t>конструкцияларының</a:t>
                      </a:r>
                      <a:r>
                        <a:rPr lang="ru-KZ" sz="1200" b="1"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b="1" spc="10" dirty="0" err="1">
                          <a:solidFill>
                            <a:schemeClr val="tx1">
                              <a:lumMod val="95000"/>
                              <a:lumOff val="5000"/>
                            </a:schemeClr>
                          </a:solidFill>
                          <a:effectLst/>
                          <a:latin typeface="Cambria" panose="02040503050406030204" pitchFamily="18" charset="0"/>
                          <a:ea typeface="Cambria" panose="02040503050406030204" pitchFamily="18" charset="0"/>
                        </a:rPr>
                        <a:t>отқа</a:t>
                      </a:r>
                      <a:r>
                        <a:rPr lang="ru-KZ" sz="1200" b="1"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b="1" spc="10" dirty="0" err="1">
                          <a:solidFill>
                            <a:schemeClr val="tx1">
                              <a:lumMod val="95000"/>
                              <a:lumOff val="5000"/>
                            </a:schemeClr>
                          </a:solidFill>
                          <a:effectLst/>
                          <a:latin typeface="Cambria" panose="02040503050406030204" pitchFamily="18" charset="0"/>
                          <a:ea typeface="Cambria" panose="02040503050406030204" pitchFamily="18" charset="0"/>
                        </a:rPr>
                        <a:t>төзімділік</a:t>
                      </a:r>
                      <a:r>
                        <a:rPr lang="ru-KZ" sz="1200" b="1"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b="1" spc="10" dirty="0" err="1">
                          <a:solidFill>
                            <a:schemeClr val="tx1">
                              <a:lumMod val="95000"/>
                              <a:lumOff val="5000"/>
                            </a:schemeClr>
                          </a:solidFill>
                          <a:effectLst/>
                          <a:latin typeface="Cambria" panose="02040503050406030204" pitchFamily="18" charset="0"/>
                          <a:ea typeface="Cambria" panose="02040503050406030204" pitchFamily="18" charset="0"/>
                        </a:rPr>
                        <a:t>шегі</a:t>
                      </a:r>
                      <a:endParaRPr lang="ru-KZ" sz="1200" b="1"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solidFill>
                      <a:srgbClr val="FFFF00"/>
                    </a:solidFill>
                  </a:tcPr>
                </a:tc>
                <a:tc hMerge="1">
                  <a:txBody>
                    <a:bodyPr/>
                    <a:lstStyle/>
                    <a:p>
                      <a:endParaRPr lang="ru-KZ"/>
                    </a:p>
                  </a:txBody>
                  <a:tcPr/>
                </a:tc>
                <a:tc hMerge="1">
                  <a:txBody>
                    <a:bodyPr/>
                    <a:lstStyle/>
                    <a:p>
                      <a:endParaRPr lang="ru-KZ"/>
                    </a:p>
                  </a:txBody>
                  <a:tcPr/>
                </a:tc>
                <a:tc hMerge="1">
                  <a:txBody>
                    <a:bodyPr/>
                    <a:lstStyle/>
                    <a:p>
                      <a:endParaRPr lang="ru-KZ"/>
                    </a:p>
                  </a:txBody>
                  <a:tcPr/>
                </a:tc>
                <a:tc hMerge="1">
                  <a:txBody>
                    <a:bodyPr/>
                    <a:lstStyle/>
                    <a:p>
                      <a:endParaRPr lang="ru-KZ"/>
                    </a:p>
                  </a:txBody>
                  <a:tcPr/>
                </a:tc>
                <a:tc hMerge="1">
                  <a:txBody>
                    <a:bodyPr/>
                    <a:lstStyle/>
                    <a:p>
                      <a:endParaRPr lang="ru-KZ"/>
                    </a:p>
                  </a:txBody>
                  <a:tcPr/>
                </a:tc>
                <a:tc hMerge="1">
                  <a:txBody>
                    <a:bodyPr/>
                    <a:lstStyle/>
                    <a:p>
                      <a:endParaRPr lang="ru-KZ"/>
                    </a:p>
                  </a:txBody>
                  <a:tcPr/>
                </a:tc>
                <a:tc hMerge="1">
                  <a:txBody>
                    <a:bodyPr/>
                    <a:lstStyle/>
                    <a:p>
                      <a:endParaRPr lang="ru-KZ"/>
                    </a:p>
                  </a:txBody>
                  <a:tcPr/>
                </a:tc>
                <a:extLst>
                  <a:ext uri="{0D108BD9-81ED-4DB2-BD59-A6C34878D82A}">
                    <a16:rowId xmlns:a16="http://schemas.microsoft.com/office/drawing/2014/main" xmlns="" val="1839100689"/>
                  </a:ext>
                </a:extLst>
              </a:tr>
              <a:tr h="723326">
                <a:tc vMerge="1">
                  <a:txBody>
                    <a:bodyPr/>
                    <a:lstStyle/>
                    <a:p>
                      <a:endParaRPr lang="ru-KZ"/>
                    </a:p>
                  </a:txBody>
                  <a:tcPr/>
                </a:tc>
                <a:tc rowSpan="2">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Аралық</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қабырғалар</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бағандар</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және</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өзге</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аралық</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элементтер</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solidFill>
                      <a:srgbClr val="FFFF00"/>
                    </a:solidFill>
                  </a:tcPr>
                </a:tc>
                <a:tc rowSpan="2">
                  <a:txBody>
                    <a:bodyPr/>
                    <a:lstStyle/>
                    <a:p>
                      <a:pPr marL="6985"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Сыртқы</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аралық</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қабырғалар</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solidFill>
                      <a:srgbClr val="FFFF00"/>
                    </a:solidFill>
                  </a:tcPr>
                </a:tc>
                <a:tc rowSpan="2">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Ішкі</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аралық</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қабырғалар</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тосқауылдар</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solidFill>
                      <a:srgbClr val="FFFF00"/>
                    </a:solidFill>
                  </a:tcPr>
                </a:tc>
                <a:tc rowSpan="2">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Қабаттардың</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арасындағы</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далдалар</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(оның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ішінде</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шатырлардың</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және</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жертөле</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үстіндегі</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solidFill>
                      <a:srgbClr val="FFFF00"/>
                    </a:solidFill>
                  </a:tcPr>
                </a:tc>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Шатырсыз</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жабындардың</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құрылыс</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конструкциялары</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solidFill>
                      <a:srgbClr val="FFFF00"/>
                    </a:solidFill>
                  </a:tcPr>
                </a:tc>
                <a:tc gridSpan="3">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Саты</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торларының</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құрылыс</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конструкциялары</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solidFill>
                      <a:srgbClr val="FFFF00"/>
                    </a:solidFill>
                  </a:tcPr>
                </a:tc>
                <a:tc hMerge="1">
                  <a:txBody>
                    <a:bodyPr/>
                    <a:lstStyle/>
                    <a:p>
                      <a:endParaRPr lang="ru-KZ"/>
                    </a:p>
                  </a:txBody>
                  <a:tcPr/>
                </a:tc>
                <a:tc hMerge="1">
                  <a:txBody>
                    <a:bodyPr/>
                    <a:lstStyle/>
                    <a:p>
                      <a:endParaRPr lang="ru-KZ"/>
                    </a:p>
                  </a:txBody>
                  <a:tcPr/>
                </a:tc>
                <a:extLst>
                  <a:ext uri="{0D108BD9-81ED-4DB2-BD59-A6C34878D82A}">
                    <a16:rowId xmlns:a16="http://schemas.microsoft.com/office/drawing/2014/main" xmlns="" val="4117075370"/>
                  </a:ext>
                </a:extLst>
              </a:tr>
              <a:tr h="953496">
                <a:tc vMerge="1">
                  <a:txBody>
                    <a:bodyPr/>
                    <a:lstStyle/>
                    <a:p>
                      <a:endParaRPr lang="ru-KZ"/>
                    </a:p>
                  </a:txBody>
                  <a:tcPr/>
                </a:tc>
                <a:tc vMerge="1">
                  <a:txBody>
                    <a:bodyPr/>
                    <a:lstStyle/>
                    <a:p>
                      <a:endParaRPr lang="ru-KZ"/>
                    </a:p>
                  </a:txBody>
                  <a:tcPr/>
                </a:tc>
                <a:tc vMerge="1">
                  <a:txBody>
                    <a:bodyPr/>
                    <a:lstStyle/>
                    <a:p>
                      <a:endParaRPr lang="ru-KZ"/>
                    </a:p>
                  </a:txBody>
                  <a:tcPr/>
                </a:tc>
                <a:tc vMerge="1">
                  <a:txBody>
                    <a:bodyPr/>
                    <a:lstStyle/>
                    <a:p>
                      <a:endParaRPr lang="ru-KZ"/>
                    </a:p>
                  </a:txBody>
                  <a:tcPr/>
                </a:tc>
                <a:tc vMerge="1">
                  <a:txBody>
                    <a:bodyPr/>
                    <a:lstStyle/>
                    <a:p>
                      <a:endParaRPr lang="ru-KZ"/>
                    </a:p>
                  </a:txBody>
                  <a:tcPr/>
                </a:tc>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төсемдер</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(оның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ішінде</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жылытқышы</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бар)</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solidFill>
                      <a:srgbClr val="FFFF00"/>
                    </a:solidFill>
                  </a:tcPr>
                </a:tc>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фермалар</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бөренелер</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өткіндер</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solidFill>
                      <a:srgbClr val="FFFF00"/>
                    </a:solidFill>
                  </a:tcPr>
                </a:tc>
                <a:tc>
                  <a:txBody>
                    <a:bodyPr/>
                    <a:lstStyle/>
                    <a:p>
                      <a:pPr algn="ctr" fontAlgn="base">
                        <a:lnSpc>
                          <a:spcPct val="100000"/>
                        </a:lnSpc>
                        <a:spcAft>
                          <a:spcPts val="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ішкі</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қабырға</a:t>
                      </a:r>
                      <a:endParaRPr lang="kk-KZ" sz="1200" spc="10" dirty="0">
                        <a:solidFill>
                          <a:schemeClr val="tx1">
                            <a:lumMod val="95000"/>
                            <a:lumOff val="5000"/>
                          </a:schemeClr>
                        </a:solidFill>
                        <a:effectLst/>
                        <a:latin typeface="Cambria" panose="02040503050406030204" pitchFamily="18" charset="0"/>
                        <a:ea typeface="Cambria" panose="02040503050406030204" pitchFamily="18" charset="0"/>
                      </a:endParaRPr>
                    </a:p>
                    <a:p>
                      <a:pPr algn="ctr" fontAlgn="base">
                        <a:lnSpc>
                          <a:spcPct val="100000"/>
                        </a:lnSpc>
                        <a:spcAft>
                          <a:spcPts val="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лар</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solidFill>
                      <a:srgbClr val="FFFF00"/>
                    </a:solidFill>
                  </a:tcPr>
                </a:tc>
                <a:tc>
                  <a:txBody>
                    <a:bodyPr/>
                    <a:lstStyle/>
                    <a:p>
                      <a:pP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біліктер</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саты</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баспалдақтары</a:t>
                      </a: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 мен </a:t>
                      </a: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алаңдары</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solidFill>
                      <a:srgbClr val="FFFF00"/>
                    </a:solidFill>
                  </a:tcPr>
                </a:tc>
                <a:extLst>
                  <a:ext uri="{0D108BD9-81ED-4DB2-BD59-A6C34878D82A}">
                    <a16:rowId xmlns:a16="http://schemas.microsoft.com/office/drawing/2014/main" xmlns="" val="4292870909"/>
                  </a:ext>
                </a:extLst>
              </a:tr>
              <a:tr h="219057">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I</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 150</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 30</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EI 30</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REI 60</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RE 30</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 30</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REI 150</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 60</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extLst>
                  <a:ext uri="{0D108BD9-81ED-4DB2-BD59-A6C34878D82A}">
                    <a16:rowId xmlns:a16="http://schemas.microsoft.com/office/drawing/2014/main" xmlns="" val="263622930"/>
                  </a:ext>
                </a:extLst>
              </a:tr>
              <a:tr h="219057">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II</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 120</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EI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REI 45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RE 15</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 15</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REI 120</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 60</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extLst>
                  <a:ext uri="{0D108BD9-81ED-4DB2-BD59-A6C34878D82A}">
                    <a16:rowId xmlns:a16="http://schemas.microsoft.com/office/drawing/2014/main" xmlns="" val="985823803"/>
                  </a:ext>
                </a:extLst>
              </a:tr>
              <a:tr h="395653">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III</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 120</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EI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REI 45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нормаланбайды</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нормаланбайды</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REI 120</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 60</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extLst>
                  <a:ext uri="{0D108BD9-81ED-4DB2-BD59-A6C34878D82A}">
                    <a16:rowId xmlns:a16="http://schemas.microsoft.com/office/drawing/2014/main" xmlns="" val="1631544631"/>
                  </a:ext>
                </a:extLst>
              </a:tr>
              <a:tr h="219057">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IIIа</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 15</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EI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REI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RE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REI 60</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 60</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extLst>
                  <a:ext uri="{0D108BD9-81ED-4DB2-BD59-A6C34878D82A}">
                    <a16:rowId xmlns:a16="http://schemas.microsoft.com/office/drawing/2014/main" xmlns="" val="2005120499"/>
                  </a:ext>
                </a:extLst>
              </a:tr>
              <a:tr h="219057">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IIIб</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 60</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EI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REI 45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RE 30</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 45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REI 60</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 45</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extLst>
                  <a:ext uri="{0D108BD9-81ED-4DB2-BD59-A6C34878D82A}">
                    <a16:rowId xmlns:a16="http://schemas.microsoft.com/office/drawing/2014/main" xmlns="" val="3823324556"/>
                  </a:ext>
                </a:extLst>
              </a:tr>
              <a:tr h="395653">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IV</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 15</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EI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REI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нормаланбайды</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нормаланбайды</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REI 30</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 15</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extLst>
                  <a:ext uri="{0D108BD9-81ED-4DB2-BD59-A6C34878D82A}">
                    <a16:rowId xmlns:a16="http://schemas.microsoft.com/office/drawing/2014/main" xmlns="" val="2320380974"/>
                  </a:ext>
                </a:extLst>
              </a:tr>
              <a:tr h="219057">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IVа</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 15</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EI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REI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RE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R 15</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REI 15</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R 15</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extLst>
                  <a:ext uri="{0D108BD9-81ED-4DB2-BD59-A6C34878D82A}">
                    <a16:rowId xmlns:a16="http://schemas.microsoft.com/office/drawing/2014/main" xmlns="" val="1788196485"/>
                  </a:ext>
                </a:extLst>
              </a:tr>
              <a:tr h="395653">
                <a:tc>
                  <a:txBody>
                    <a:bodyPr/>
                    <a:lstStyle/>
                    <a:p>
                      <a:pPr algn="ctr" fontAlgn="base">
                        <a:lnSpc>
                          <a:spcPts val="1425"/>
                        </a:lnSpc>
                        <a:spcAft>
                          <a:spcPts val="1800"/>
                        </a:spcAft>
                      </a:pPr>
                      <a:r>
                        <a:rPr lang="ru-KZ" sz="1200" spc="10" dirty="0">
                          <a:solidFill>
                            <a:schemeClr val="tx1">
                              <a:lumMod val="95000"/>
                              <a:lumOff val="5000"/>
                            </a:schemeClr>
                          </a:solidFill>
                          <a:effectLst/>
                          <a:latin typeface="Cambria" panose="02040503050406030204" pitchFamily="18" charset="0"/>
                          <a:ea typeface="Cambria" panose="02040503050406030204" pitchFamily="18" charset="0"/>
                        </a:rPr>
                        <a:t>V</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нормаланбайды</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Нормаланбайды</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нормаланбайды</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нормаланбайды</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нормаланбайды</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a:solidFill>
                            <a:schemeClr val="tx1">
                              <a:lumMod val="95000"/>
                              <a:lumOff val="5000"/>
                            </a:schemeClr>
                          </a:solidFill>
                          <a:effectLst/>
                          <a:latin typeface="Cambria" panose="02040503050406030204" pitchFamily="18" charset="0"/>
                          <a:ea typeface="Cambria" panose="02040503050406030204" pitchFamily="18" charset="0"/>
                        </a:rPr>
                        <a:t>нормаланбайды</a:t>
                      </a:r>
                      <a:endParaRPr lang="ru-KZ" sz="120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нормаланбайды</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tc>
                  <a:txBody>
                    <a:bodyPr/>
                    <a:lstStyle/>
                    <a:p>
                      <a:pPr algn="ctr" fontAlgn="base">
                        <a:lnSpc>
                          <a:spcPts val="1425"/>
                        </a:lnSpc>
                        <a:spcAft>
                          <a:spcPts val="1800"/>
                        </a:spcAft>
                      </a:pPr>
                      <a:r>
                        <a:rPr lang="ru-KZ" sz="1200" spc="10" dirty="0" err="1">
                          <a:solidFill>
                            <a:schemeClr val="tx1">
                              <a:lumMod val="95000"/>
                              <a:lumOff val="5000"/>
                            </a:schemeClr>
                          </a:solidFill>
                          <a:effectLst/>
                          <a:latin typeface="Cambria" panose="02040503050406030204" pitchFamily="18" charset="0"/>
                          <a:ea typeface="Cambria" panose="02040503050406030204" pitchFamily="18" charset="0"/>
                        </a:rPr>
                        <a:t>нормаланбайд</a:t>
                      </a:r>
                      <a:endParaRPr lang="ru-KZ" sz="1200" dirty="0">
                        <a:solidFill>
                          <a:schemeClr val="tx1">
                            <a:lumMod val="95000"/>
                            <a:lumOff val="5000"/>
                          </a:schemeClr>
                        </a:solidFill>
                        <a:effectLst/>
                        <a:latin typeface="Cambria" panose="02040503050406030204" pitchFamily="18" charset="0"/>
                        <a:ea typeface="Cambria" panose="02040503050406030204" pitchFamily="18" charset="0"/>
                        <a:cs typeface="Times New Roman" panose="02020603050405020304" pitchFamily="18" charset="0"/>
                      </a:endParaRPr>
                    </a:p>
                  </a:txBody>
                  <a:tcPr marL="36086" marR="36086" marT="21651" marB="21651"/>
                </a:tc>
                <a:extLst>
                  <a:ext uri="{0D108BD9-81ED-4DB2-BD59-A6C34878D82A}">
                    <a16:rowId xmlns:a16="http://schemas.microsoft.com/office/drawing/2014/main" xmlns="" val="2598721407"/>
                  </a:ext>
                </a:extLst>
              </a:tr>
            </a:tbl>
          </a:graphicData>
        </a:graphic>
      </p:graphicFrame>
      <p:sp>
        <p:nvSpPr>
          <p:cNvPr id="5" name="Rectangle 1">
            <a:extLst>
              <a:ext uri="{FF2B5EF4-FFF2-40B4-BE49-F238E27FC236}">
                <a16:creationId xmlns:a16="http://schemas.microsoft.com/office/drawing/2014/main" xmlns="" id="{44137415-289D-491D-9F2B-BCB004F48CE9}"/>
              </a:ext>
            </a:extLst>
          </p:cNvPr>
          <p:cNvSpPr>
            <a:spLocks noChangeArrowheads="1"/>
          </p:cNvSpPr>
          <p:nvPr/>
        </p:nvSpPr>
        <p:spPr bwMode="auto">
          <a:xfrm>
            <a:off x="531541" y="4525"/>
            <a:ext cx="10580408" cy="1508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133308" rIns="0" bIns="80937" numCol="1" anchor="ctr" anchorCtr="0" compatLnSpc="1">
            <a:prstTxWarp prst="textNoShape">
              <a:avLst/>
            </a:prstTxWarp>
            <a:spAutoFit/>
          </a:bodyPr>
          <a:lstStyle/>
          <a:p>
            <a:pPr algn="r" defTabSz="914400" eaLnBrk="0" fontAlgn="base" hangingPunct="0">
              <a:spcBef>
                <a:spcPct val="0"/>
              </a:spcBef>
              <a:spcAft>
                <a:spcPct val="0"/>
              </a:spcAft>
            </a:pPr>
            <a:r>
              <a:rPr kumimoji="0" lang="ru-KZ" altLang="ru-KZ" sz="1400" b="0" i="0" u="none" strike="noStrike" cap="none" normalizeH="0" baseline="0" dirty="0">
                <a:ln>
                  <a:noFill/>
                </a:ln>
                <a:solidFill>
                  <a:srgbClr val="000000"/>
                </a:solidFill>
                <a:effectLst/>
                <a:latin typeface="Cambria" panose="02040503050406030204" pitchFamily="18" charset="0"/>
                <a:ea typeface="Cambria" panose="02040503050406030204" pitchFamily="18" charset="0"/>
                <a:cs typeface="Courier New" panose="02070309020205020404" pitchFamily="49" charset="0"/>
              </a:rPr>
              <a:t>     </a:t>
            </a:r>
            <a:r>
              <a:rPr lang="ru-RU" sz="1200" dirty="0"/>
              <a:t> "</a:t>
            </a:r>
            <a:r>
              <a:rPr lang="ru-RU" sz="1400" dirty="0" err="1"/>
              <a:t>Өрт</a:t>
            </a:r>
            <a:r>
              <a:rPr lang="ru-RU" sz="1400" dirty="0"/>
              <a:t> </a:t>
            </a:r>
            <a:r>
              <a:rPr lang="ru-RU" sz="1400" dirty="0" err="1"/>
              <a:t>қауіпсіздігіне</a:t>
            </a:r>
            <a:r>
              <a:rPr lang="ru-RU" sz="1400" dirty="0"/>
              <a:t/>
            </a:r>
            <a:br>
              <a:rPr lang="ru-RU" sz="1400" dirty="0"/>
            </a:br>
            <a:r>
              <a:rPr lang="ru-RU" sz="1400" dirty="0" err="1"/>
              <a:t>қойылатын</a:t>
            </a:r>
            <a:r>
              <a:rPr lang="ru-RU" sz="1400" dirty="0"/>
              <a:t> </a:t>
            </a:r>
            <a:r>
              <a:rPr lang="ru-RU" sz="1400" dirty="0" err="1"/>
              <a:t>жалпы</a:t>
            </a:r>
            <a:r>
              <a:rPr lang="ru-RU" sz="1400" dirty="0"/>
              <a:t> </a:t>
            </a:r>
            <a:r>
              <a:rPr lang="ru-RU" sz="1400" dirty="0" err="1"/>
              <a:t>талаптар</a:t>
            </a:r>
            <a:r>
              <a:rPr lang="ru-RU" sz="1400" dirty="0"/>
              <a:t>"</a:t>
            </a:r>
            <a:br>
              <a:rPr lang="ru-RU" sz="1400" dirty="0"/>
            </a:br>
            <a:r>
              <a:rPr lang="ru-RU" sz="1400" dirty="0" err="1"/>
              <a:t>техникалық</a:t>
            </a:r>
            <a:r>
              <a:rPr lang="ru-RU" sz="1400" dirty="0"/>
              <a:t> </a:t>
            </a:r>
            <a:r>
              <a:rPr lang="ru-RU" sz="1400" dirty="0" err="1"/>
              <a:t>регламентіне</a:t>
            </a:r>
            <a:r>
              <a:rPr lang="ru-RU" sz="1400" dirty="0"/>
              <a:t/>
            </a:r>
            <a:br>
              <a:rPr lang="ru-RU" sz="1400" dirty="0"/>
            </a:br>
            <a:r>
              <a:rPr lang="ru-RU" sz="1400" dirty="0"/>
              <a:t>2-қосымша</a:t>
            </a:r>
            <a:endParaRPr lang="ru-KZ" altLang="ru-KZ" sz="1400" dirty="0">
              <a:solidFill>
                <a:srgbClr val="1E1E1E"/>
              </a:solidFill>
              <a:latin typeface="Cambria" panose="02040503050406030204" pitchFamily="18" charset="0"/>
              <a:ea typeface="Cambria" panose="02040503050406030204" pitchFamily="18" charset="0"/>
              <a:cs typeface="Courier New" panose="02070309020205020404" pitchFamily="49"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kk-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1-кесте-</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Ғимараттардың</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құрылыстардың</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және</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өрт</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бөліктерінің</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құрылыс</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конструкцияларының</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отқа</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lang="kk-KZ" altLang="ru-KZ" sz="1400" dirty="0">
                <a:solidFill>
                  <a:srgbClr val="1E1E1E"/>
                </a:solidFill>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төзімділік</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дәрежесінің</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және</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отқа</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төзімділік</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шегінің</a:t>
            </a:r>
            <a:r>
              <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 </a:t>
            </a:r>
            <a:r>
              <a:rPr kumimoji="0" lang="ru-KZ" altLang="ru-KZ" sz="1400" b="0" i="0" u="none" strike="noStrike" cap="none" normalizeH="0" baseline="0" dirty="0" err="1">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rPr>
              <a:t>сәйкестігі</a:t>
            </a:r>
            <a:endParaRPr kumimoji="0" lang="ru-KZ" altLang="ru-KZ" sz="1400" b="0" i="0" u="none" strike="noStrike" cap="none" normalizeH="0" baseline="0" dirty="0">
              <a:ln>
                <a:noFill/>
              </a:ln>
              <a:solidFill>
                <a:srgbClr val="1E1E1E"/>
              </a:solidFill>
              <a:effectLst/>
              <a:latin typeface="Cambria" panose="02040503050406030204" pitchFamily="18" charset="0"/>
              <a:ea typeface="Cambria" panose="02040503050406030204" pitchFamily="18" charset="0"/>
              <a:cs typeface="Courier New" panose="02070309020205020404" pitchFamily="49" charset="0"/>
            </a:endParaRPr>
          </a:p>
        </p:txBody>
      </p:sp>
    </p:spTree>
    <p:extLst>
      <p:ext uri="{BB962C8B-B14F-4D97-AF65-F5344CB8AC3E}">
        <p14:creationId xmlns:p14="http://schemas.microsoft.com/office/powerpoint/2010/main" val="33024000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8" name="Picture 4">
            <a:extLst>
              <a:ext uri="{FF2B5EF4-FFF2-40B4-BE49-F238E27FC236}">
                <a16:creationId xmlns:a16="http://schemas.microsoft.com/office/drawing/2014/main" xmlns="" id="{C9C5249D-B41F-4440-BBBD-F18A6AF43A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9990" y="284356"/>
            <a:ext cx="9753600" cy="5486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6014679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xmlns="" id="{A30E5FBA-1D41-4442-95B5-AB0736EAACB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8685" y="81660"/>
            <a:ext cx="10287000" cy="61817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2660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Рисунок 1">
            <a:extLst>
              <a:ext uri="{FF2B5EF4-FFF2-40B4-BE49-F238E27FC236}">
                <a16:creationId xmlns:a16="http://schemas.microsoft.com/office/drawing/2014/main" xmlns="" id="{F699BA57-FC0D-406B-9AE2-67F1B7ACD3D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189085" y="543195"/>
            <a:ext cx="8304213" cy="5021263"/>
          </a:xfrm>
          <a:prstGeom prst="rect">
            <a:avLst/>
          </a:prstGeom>
          <a:noFill/>
          <a:ln>
            <a:noFill/>
          </a:ln>
        </p:spPr>
      </p:pic>
      <p:sp>
        <p:nvSpPr>
          <p:cNvPr id="3" name="Прямоугольник 2">
            <a:extLst>
              <a:ext uri="{FF2B5EF4-FFF2-40B4-BE49-F238E27FC236}">
                <a16:creationId xmlns:a16="http://schemas.microsoft.com/office/drawing/2014/main" xmlns="" id="{A6768BF3-B94E-4C1A-86BD-40A433A4ED1B}"/>
              </a:ext>
            </a:extLst>
          </p:cNvPr>
          <p:cNvSpPr/>
          <p:nvPr/>
        </p:nvSpPr>
        <p:spPr>
          <a:xfrm>
            <a:off x="3683619" y="5564458"/>
            <a:ext cx="6096000" cy="665631"/>
          </a:xfrm>
          <a:prstGeom prst="rect">
            <a:avLst/>
          </a:prstGeom>
        </p:spPr>
        <p:txBody>
          <a:bodyPr>
            <a:spAutoFit/>
          </a:bodyPr>
          <a:lstStyle/>
          <a:p>
            <a:pPr algn="just">
              <a:lnSpc>
                <a:spcPct val="106000"/>
              </a:lnSpc>
              <a:spcAft>
                <a:spcPts val="0"/>
              </a:spcAft>
            </a:pPr>
            <a:r>
              <a:rPr lang="kk-KZ" b="1" spc="10" dirty="0">
                <a:solidFill>
                  <a:srgbClr val="0D0D0D"/>
                </a:solidFill>
                <a:latin typeface="Times New Roman" panose="02020603050405020304" pitchFamily="18" charset="0"/>
                <a:ea typeface="Calibri" panose="020F0502020204030204" pitchFamily="34" charset="0"/>
                <a:cs typeface="Times New Roman" panose="02020603050405020304" pitchFamily="18" charset="0"/>
              </a:rPr>
              <a:t>Жылу ағынының адамға физиологиялық әсері</a:t>
            </a:r>
            <a:endParaRPr lang="ru-KZ" sz="1400" dirty="0">
              <a:latin typeface="Calibri" panose="020F0502020204030204" pitchFamily="34" charset="0"/>
              <a:ea typeface="Calibri" panose="020F0502020204030204" pitchFamily="34" charset="0"/>
              <a:cs typeface="Times New Roman" panose="02020603050405020304" pitchFamily="18" charset="0"/>
            </a:endParaRPr>
          </a:p>
          <a:p>
            <a:pPr algn="just">
              <a:lnSpc>
                <a:spcPct val="106000"/>
              </a:lnSpc>
              <a:spcAft>
                <a:spcPts val="0"/>
              </a:spcAft>
            </a:pPr>
            <a:r>
              <a:rPr lang="kk-KZ" b="1" spc="10" dirty="0">
                <a:solidFill>
                  <a:srgbClr val="0D0D0D"/>
                </a:solidFill>
                <a:highlight>
                  <a:srgbClr val="FFFF00"/>
                </a:highlight>
                <a:latin typeface="Times New Roman" panose="02020603050405020304" pitchFamily="18" charset="0"/>
                <a:ea typeface="Calibri" panose="020F0502020204030204" pitchFamily="34" charset="0"/>
                <a:cs typeface="Times New Roman" panose="02020603050405020304" pitchFamily="18" charset="0"/>
              </a:rPr>
              <a:t> </a:t>
            </a:r>
            <a:endParaRPr lang="ru-KZ" sz="14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2038119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C5A0AC74-A35E-490E-AE0B-50CDFEA23B7B}"/>
              </a:ext>
            </a:extLst>
          </p:cNvPr>
          <p:cNvSpPr/>
          <p:nvPr/>
        </p:nvSpPr>
        <p:spPr>
          <a:xfrm>
            <a:off x="1524000" y="727897"/>
            <a:ext cx="9144000" cy="5016758"/>
          </a:xfrm>
          <a:prstGeom prst="rect">
            <a:avLst/>
          </a:prstGeom>
        </p:spPr>
        <p:txBody>
          <a:bodyPr wrap="square">
            <a:spAutoFit/>
          </a:bodyPr>
          <a:lstStyle/>
          <a:p>
            <a:pPr algn="ctr"/>
            <a:r>
              <a:rPr lang="ru-RU" sz="2200" b="1" dirty="0" err="1">
                <a:solidFill>
                  <a:srgbClr val="FF0000"/>
                </a:solidFill>
                <a:latin typeface="Cambria" panose="02040503050406030204" pitchFamily="18" charset="0"/>
                <a:ea typeface="Cambria" panose="02040503050406030204" pitchFamily="18" charset="0"/>
              </a:rPr>
              <a:t>Өрт</a:t>
            </a:r>
            <a:r>
              <a:rPr lang="ru-RU" sz="2200" b="1" dirty="0">
                <a:solidFill>
                  <a:srgbClr val="FF0000"/>
                </a:solidFill>
                <a:latin typeface="Cambria" panose="02040503050406030204" pitchFamily="18" charset="0"/>
                <a:ea typeface="Cambria" panose="02040503050406030204" pitchFamily="18" charset="0"/>
              </a:rPr>
              <a:t> </a:t>
            </a:r>
            <a:r>
              <a:rPr lang="ru-RU" sz="2200" b="1" dirty="0" err="1">
                <a:solidFill>
                  <a:srgbClr val="FF0000"/>
                </a:solidFill>
                <a:latin typeface="Cambria" panose="02040503050406030204" pitchFamily="18" charset="0"/>
                <a:ea typeface="Cambria" panose="02040503050406030204" pitchFamily="18" charset="0"/>
              </a:rPr>
              <a:t>салдарын</a:t>
            </a:r>
            <a:r>
              <a:rPr lang="ru-RU" sz="2200" b="1" dirty="0">
                <a:solidFill>
                  <a:srgbClr val="FF0000"/>
                </a:solidFill>
                <a:latin typeface="Cambria" panose="02040503050406030204" pitchFamily="18" charset="0"/>
                <a:ea typeface="Cambria" panose="02040503050406030204" pitchFamily="18" charset="0"/>
              </a:rPr>
              <a:t> </a:t>
            </a:r>
            <a:r>
              <a:rPr lang="ru-RU" sz="2200" b="1" dirty="0" err="1">
                <a:solidFill>
                  <a:srgbClr val="FF0000"/>
                </a:solidFill>
                <a:latin typeface="Cambria" panose="02040503050406030204" pitchFamily="18" charset="0"/>
                <a:ea typeface="Cambria" panose="02040503050406030204" pitchFamily="18" charset="0"/>
              </a:rPr>
              <a:t>шектеу</a:t>
            </a:r>
            <a:r>
              <a:rPr lang="ru-RU" sz="2200" b="1" dirty="0">
                <a:solidFill>
                  <a:srgbClr val="FF0000"/>
                </a:solidFill>
                <a:latin typeface="Cambria" panose="02040503050406030204" pitchFamily="18" charset="0"/>
                <a:ea typeface="Cambria" panose="02040503050406030204" pitchFamily="18" charset="0"/>
              </a:rPr>
              <a:t> </a:t>
            </a:r>
            <a:r>
              <a:rPr lang="ru-RU" sz="2200" b="1" dirty="0" err="1">
                <a:solidFill>
                  <a:srgbClr val="FF0000"/>
                </a:solidFill>
                <a:latin typeface="Cambria" panose="02040503050406030204" pitchFamily="18" charset="0"/>
                <a:ea typeface="Cambria" panose="02040503050406030204" pitchFamily="18" charset="0"/>
              </a:rPr>
              <a:t>жөніндегі</a:t>
            </a:r>
            <a:r>
              <a:rPr lang="ru-RU" sz="2200" b="1" dirty="0">
                <a:solidFill>
                  <a:srgbClr val="FF0000"/>
                </a:solidFill>
                <a:latin typeface="Cambria" panose="02040503050406030204" pitchFamily="18" charset="0"/>
                <a:ea typeface="Cambria" panose="02040503050406030204" pitchFamily="18" charset="0"/>
              </a:rPr>
              <a:t> </a:t>
            </a:r>
            <a:r>
              <a:rPr lang="ru-RU" sz="2200" b="1" dirty="0" err="1">
                <a:solidFill>
                  <a:srgbClr val="FF0000"/>
                </a:solidFill>
                <a:latin typeface="Cambria" panose="02040503050406030204" pitchFamily="18" charset="0"/>
                <a:ea typeface="Cambria" panose="02040503050406030204" pitchFamily="18" charset="0"/>
              </a:rPr>
              <a:t>іс-шаралар</a:t>
            </a:r>
            <a:r>
              <a:rPr lang="ru-RU" sz="2200" b="1" dirty="0">
                <a:solidFill>
                  <a:srgbClr val="FF0000"/>
                </a:solidFill>
                <a:latin typeface="Cambria" panose="02040503050406030204" pitchFamily="18" charset="0"/>
                <a:ea typeface="Cambria" panose="02040503050406030204" pitchFamily="18" charset="0"/>
              </a:rPr>
              <a:t> </a:t>
            </a:r>
          </a:p>
          <a:p>
            <a:pPr algn="just"/>
            <a:r>
              <a:rPr lang="ru-RU" sz="2000" dirty="0" err="1">
                <a:latin typeface="Cambria" panose="02040503050406030204" pitchFamily="18" charset="0"/>
                <a:ea typeface="Cambria" panose="02040503050406030204" pitchFamily="18" charset="0"/>
              </a:rPr>
              <a:t>Өндірістегі</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өрттер</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белгілі</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бір</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себептермен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пайда</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болады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оларды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жою</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барлық</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өрт</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қауіпсіздігі</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шараларының</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негізін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құрайды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Өрттің</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негізгі</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себептері</a:t>
            </a:r>
            <a:r>
              <a:rPr lang="ru-RU" sz="2000" dirty="0">
                <a:latin typeface="Cambria" panose="02040503050406030204" pitchFamily="18" charset="0"/>
                <a:ea typeface="Cambria" panose="02040503050406030204" pitchFamily="18" charset="0"/>
              </a:rPr>
              <a:t>: </a:t>
            </a:r>
          </a:p>
          <a:p>
            <a:pPr marL="342900" indent="-342900">
              <a:buFont typeface="Wingdings" panose="05000000000000000000" pitchFamily="2" charset="2"/>
              <a:buChar char="ü"/>
            </a:pPr>
            <a:r>
              <a:rPr lang="ru-RU" sz="2000" dirty="0" err="1">
                <a:latin typeface="Cambria" panose="02040503050406030204" pitchFamily="18" charset="0"/>
                <a:ea typeface="Cambria" panose="02040503050406030204" pitchFamily="18" charset="0"/>
              </a:rPr>
              <a:t>өрт</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қауіпті</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материалдарды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сақтау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тәртібін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бұзу</a:t>
            </a:r>
            <a:r>
              <a:rPr lang="ru-RU" sz="2000" dirty="0">
                <a:latin typeface="Cambria" panose="02040503050406030204" pitchFamily="18" charset="0"/>
                <a:ea typeface="Cambria" panose="02040503050406030204" pitchFamily="18" charset="0"/>
              </a:rPr>
              <a:t>; </a:t>
            </a:r>
          </a:p>
          <a:p>
            <a:pPr marL="342900" indent="-342900">
              <a:buFont typeface="Wingdings" panose="05000000000000000000" pitchFamily="2" charset="2"/>
              <a:buChar char="ü"/>
            </a:pPr>
            <a:r>
              <a:rPr lang="ru-RU" sz="2000" dirty="0" err="1">
                <a:latin typeface="Cambria" panose="02040503050406030204" pitchFamily="18" charset="0"/>
                <a:ea typeface="Cambria" panose="02040503050406030204" pitchFamily="18" charset="0"/>
              </a:rPr>
              <a:t>жанғыш</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булардың</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газдардың</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сұйықтықтардың</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шығарылуын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тудыратын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жабдық</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жұмысының</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технологиялық</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режимдерін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бұзу</a:t>
            </a:r>
            <a:r>
              <a:rPr lang="ru-RU" sz="2000" dirty="0">
                <a:latin typeface="Cambria" panose="02040503050406030204" pitchFamily="18" charset="0"/>
                <a:ea typeface="Cambria" panose="02040503050406030204" pitchFamily="18" charset="0"/>
              </a:rPr>
              <a:t>; </a:t>
            </a:r>
          </a:p>
          <a:p>
            <a:pPr marL="342900" indent="-342900">
              <a:buFont typeface="Wingdings" panose="05000000000000000000" pitchFamily="2" charset="2"/>
              <a:buChar char="ü"/>
            </a:pPr>
            <a:r>
              <a:rPr lang="ru-RU" sz="2000" dirty="0" err="1">
                <a:latin typeface="Cambria" panose="02040503050406030204" pitchFamily="18" charset="0"/>
                <a:ea typeface="Cambria" panose="02040503050406030204" pitchFamily="18" charset="0"/>
              </a:rPr>
              <a:t>электр</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жабдығын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пайдалану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қағидаларын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бұзу</a:t>
            </a:r>
            <a:r>
              <a:rPr lang="ru-RU" sz="2000" dirty="0">
                <a:latin typeface="Cambria" panose="02040503050406030204" pitchFamily="18" charset="0"/>
                <a:ea typeface="Cambria" panose="02040503050406030204" pitchFamily="18" charset="0"/>
              </a:rPr>
              <a:t>, оны </a:t>
            </a:r>
            <a:r>
              <a:rPr lang="ru-RU" sz="2000" dirty="0" err="1">
                <a:latin typeface="Cambria" panose="02040503050406030204" pitchFamily="18" charset="0"/>
                <a:ea typeface="Cambria" panose="02040503050406030204" pitchFamily="18" charset="0"/>
              </a:rPr>
              <a:t>ақаулы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жағдайда</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пайдалану</a:t>
            </a:r>
            <a:r>
              <a:rPr lang="ru-RU" sz="2000" dirty="0">
                <a:latin typeface="Cambria" panose="02040503050406030204" pitchFamily="18" charset="0"/>
                <a:ea typeface="Cambria" panose="02040503050406030204" pitchFamily="18" charset="0"/>
              </a:rPr>
              <a:t>; </a:t>
            </a:r>
          </a:p>
          <a:p>
            <a:pPr marL="342900" indent="-342900">
              <a:buFont typeface="Wingdings" panose="05000000000000000000" pitchFamily="2" charset="2"/>
              <a:buChar char="ü"/>
            </a:pPr>
            <a:r>
              <a:rPr lang="ru-RU" sz="2000" dirty="0" err="1">
                <a:latin typeface="Cambria" panose="02040503050406030204" pitchFamily="18" charset="0"/>
                <a:ea typeface="Cambria" panose="02040503050406030204" pitchFamily="18" charset="0"/>
              </a:rPr>
              <a:t>ашық</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отпен</a:t>
            </a:r>
            <a:r>
              <a:rPr lang="ru-RU" sz="2000" dirty="0">
                <a:latin typeface="Cambria" panose="02040503050406030204" pitchFamily="18" charset="0"/>
                <a:ea typeface="Cambria" panose="02040503050406030204" pitchFamily="18" charset="0"/>
              </a:rPr>
              <a:t>, газ </a:t>
            </a:r>
            <a:r>
              <a:rPr lang="ru-RU" sz="2000" dirty="0" err="1">
                <a:latin typeface="Cambria" panose="02040503050406030204" pitchFamily="18" charset="0"/>
                <a:ea typeface="Cambria" panose="02040503050406030204" pitchFamily="18" charset="0"/>
              </a:rPr>
              <a:t>аспаптарымен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абайсыз</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жұмыс</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істеу</a:t>
            </a:r>
            <a:r>
              <a:rPr lang="ru-RU" sz="2000" dirty="0">
                <a:latin typeface="Cambria" panose="02040503050406030204" pitchFamily="18" charset="0"/>
                <a:ea typeface="Cambria" panose="02040503050406030204" pitchFamily="18" charset="0"/>
              </a:rPr>
              <a:t>; </a:t>
            </a:r>
          </a:p>
          <a:p>
            <a:pPr marL="342900" indent="-342900">
              <a:buFont typeface="Wingdings" panose="05000000000000000000" pitchFamily="2" charset="2"/>
              <a:buChar char="ü"/>
            </a:pPr>
            <a:r>
              <a:rPr lang="ru-RU" sz="2000" dirty="0" err="1">
                <a:latin typeface="Cambria" panose="02040503050406030204" pitchFamily="18" charset="0"/>
                <a:ea typeface="Cambria" panose="02040503050406030204" pitchFamily="18" charset="0"/>
              </a:rPr>
              <a:t>ақаулы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жарықтандыру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құрылғыларын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электр</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сымдарын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және</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ұшқын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тұйықталу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және</a:t>
            </a:r>
            <a:r>
              <a:rPr lang="ru-RU" sz="2000" dirty="0">
                <a:latin typeface="Cambria" panose="02040503050406030204" pitchFamily="18" charset="0"/>
                <a:ea typeface="Cambria" panose="02040503050406030204" pitchFamily="18" charset="0"/>
              </a:rPr>
              <a:t> т. б. </a:t>
            </a:r>
            <a:r>
              <a:rPr lang="ru-RU" sz="2000" dirty="0" err="1">
                <a:latin typeface="Cambria" panose="02040503050406030204" pitchFamily="18" charset="0"/>
                <a:ea typeface="Cambria" panose="02040503050406030204" pitchFamily="18" charset="0"/>
              </a:rPr>
              <a:t>беретін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құрылғыларды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қолдану</a:t>
            </a:r>
            <a:r>
              <a:rPr lang="ru-RU" sz="2000" dirty="0">
                <a:latin typeface="Cambria" panose="02040503050406030204" pitchFamily="18" charset="0"/>
                <a:ea typeface="Cambria" panose="02040503050406030204" pitchFamily="18" charset="0"/>
              </a:rPr>
              <a:t>.; </a:t>
            </a:r>
          </a:p>
          <a:p>
            <a:pPr marL="342900" indent="-342900">
              <a:buFont typeface="Wingdings" panose="05000000000000000000" pitchFamily="2" charset="2"/>
              <a:buChar char="ü"/>
            </a:pPr>
            <a:r>
              <a:rPr lang="ru-RU" sz="2000" dirty="0" err="1">
                <a:latin typeface="Cambria" panose="02040503050406030204" pitchFamily="18" charset="0"/>
                <a:ea typeface="Cambria" panose="02040503050406030204" pitchFamily="18" charset="0"/>
              </a:rPr>
              <a:t>электр</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желілерінің</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шамадан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тыс</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жүктелуі</a:t>
            </a:r>
            <a:r>
              <a:rPr lang="ru-RU" sz="2000" dirty="0">
                <a:latin typeface="Cambria" panose="02040503050406030204" pitchFamily="18" charset="0"/>
                <a:ea typeface="Cambria" panose="02040503050406030204" pitchFamily="18" charset="0"/>
              </a:rPr>
              <a:t>; </a:t>
            </a:r>
          </a:p>
          <a:p>
            <a:pPr marL="342900" indent="-342900">
              <a:buFont typeface="Wingdings" panose="05000000000000000000" pitchFamily="2" charset="2"/>
              <a:buChar char="ü"/>
            </a:pPr>
            <a:r>
              <a:rPr lang="ru-RU" sz="2000" dirty="0" err="1">
                <a:latin typeface="Cambria" panose="02040503050406030204" pitchFamily="18" charset="0"/>
                <a:ea typeface="Cambria" panose="02040503050406030204" pitchFamily="18" charset="0"/>
              </a:rPr>
              <a:t>заттар</a:t>
            </a:r>
            <a:r>
              <a:rPr lang="ru-RU" sz="2000" dirty="0">
                <a:latin typeface="Cambria" panose="02040503050406030204" pitchFamily="18" charset="0"/>
                <a:ea typeface="Cambria" panose="02040503050406030204" pitchFamily="18" charset="0"/>
              </a:rPr>
              <a:t> мен </a:t>
            </a:r>
            <a:r>
              <a:rPr lang="ru-RU" sz="2000" dirty="0" err="1">
                <a:latin typeface="Cambria" panose="02040503050406030204" pitchFamily="18" charset="0"/>
                <a:ea typeface="Cambria" panose="02040503050406030204" pitchFamily="18" charset="0"/>
              </a:rPr>
              <a:t>материалдардың</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өздігінен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жануы</a:t>
            </a:r>
            <a:r>
              <a:rPr lang="ru-RU" sz="2000" dirty="0">
                <a:latin typeface="Cambria" panose="02040503050406030204" pitchFamily="18" charset="0"/>
                <a:ea typeface="Cambria" panose="02040503050406030204" pitchFamily="18" charset="0"/>
              </a:rPr>
              <a:t>; </a:t>
            </a:r>
          </a:p>
          <a:p>
            <a:pPr marL="342900" indent="-342900">
              <a:buFont typeface="Wingdings" panose="05000000000000000000" pitchFamily="2" charset="2"/>
              <a:buChar char="ü"/>
            </a:pPr>
            <a:r>
              <a:rPr lang="ru-RU" sz="2000" dirty="0" err="1">
                <a:latin typeface="Cambria" panose="02040503050406030204" pitchFamily="18" charset="0"/>
                <a:ea typeface="Cambria" panose="02040503050406030204" pitchFamily="18" charset="0"/>
              </a:rPr>
              <a:t>белгіленбеген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жерлерде</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темекі</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шегу</a:t>
            </a:r>
            <a:r>
              <a:rPr lang="ru-RU" sz="2000" dirty="0">
                <a:latin typeface="Cambria" panose="02040503050406030204" pitchFamily="18" charset="0"/>
                <a:ea typeface="Cambria" panose="02040503050406030204" pitchFamily="18" charset="0"/>
              </a:rPr>
              <a:t>; </a:t>
            </a:r>
          </a:p>
          <a:p>
            <a:pPr marL="342900" indent="-342900">
              <a:buFont typeface="Wingdings" panose="05000000000000000000" pitchFamily="2" charset="2"/>
              <a:buChar char="ü"/>
            </a:pPr>
            <a:r>
              <a:rPr lang="ru-RU" sz="2000" dirty="0" err="1">
                <a:latin typeface="Cambria" panose="02040503050406030204" pitchFamily="18" charset="0"/>
                <a:ea typeface="Cambria" panose="02040503050406030204" pitchFamily="18" charset="0"/>
              </a:rPr>
              <a:t>өрт</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қауіпсіздігін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жүргізу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кезінде</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өрт</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қауіпсіздігі</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ережелерін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бұзу</a:t>
            </a:r>
            <a:endParaRPr lang="ru-KZ"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71710167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0EA39ABA-1529-44CC-AF60-A4902DB12596}"/>
              </a:ext>
            </a:extLst>
          </p:cNvPr>
          <p:cNvSpPr/>
          <p:nvPr/>
        </p:nvSpPr>
        <p:spPr>
          <a:xfrm>
            <a:off x="1452281" y="751344"/>
            <a:ext cx="9157447" cy="5324535"/>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just"/>
            <a:r>
              <a:rPr lang="ru-RU" sz="2000" i="1" dirty="0" err="1">
                <a:latin typeface="Cambria" panose="02040503050406030204" pitchFamily="18" charset="0"/>
                <a:ea typeface="Cambria" panose="02040503050406030204" pitchFamily="18" charset="0"/>
              </a:rPr>
              <a:t>Өрт</a:t>
            </a:r>
            <a:r>
              <a:rPr lang="ru-RU" sz="2000" i="1" dirty="0">
                <a:latin typeface="Cambria" panose="02040503050406030204" pitchFamily="18" charset="0"/>
                <a:ea typeface="Cambria" panose="02040503050406030204" pitchFamily="18" charset="0"/>
              </a:rPr>
              <a:t> </a:t>
            </a:r>
            <a:r>
              <a:rPr lang="ru-RU" sz="2000" i="1" dirty="0" err="1">
                <a:latin typeface="Cambria" panose="02040503050406030204" pitchFamily="18" charset="0"/>
                <a:ea typeface="Cambria" panose="02040503050406030204" pitchFamily="18" charset="0"/>
              </a:rPr>
              <a:t>сөндіру</a:t>
            </a:r>
            <a:r>
              <a:rPr lang="ru-RU" sz="2000" i="1" dirty="0">
                <a:latin typeface="Cambria" panose="02040503050406030204" pitchFamily="18" charset="0"/>
                <a:ea typeface="Cambria" panose="02040503050406030204" pitchFamily="18" charset="0"/>
              </a:rPr>
              <a:t> </a:t>
            </a:r>
            <a:r>
              <a:rPr lang="ru-RU" sz="2000" i="1" dirty="0" err="1">
                <a:latin typeface="Cambria" panose="02040503050406030204" pitchFamily="18" charset="0"/>
                <a:ea typeface="Cambria" panose="02040503050406030204" pitchFamily="18" charset="0"/>
              </a:rPr>
              <a:t>құралдары</a:t>
            </a:r>
            <a:r>
              <a:rPr lang="ru-RU" sz="2000" i="1" dirty="0">
                <a:latin typeface="Cambria" panose="02040503050406030204" pitchFamily="18" charset="0"/>
                <a:ea typeface="Cambria" panose="02040503050406030204" pitchFamily="18" charset="0"/>
              </a:rPr>
              <a:t> </a:t>
            </a:r>
            <a:r>
              <a:rPr lang="ru-RU" sz="2000" i="1" dirty="0" err="1">
                <a:latin typeface="Cambria" panose="02040503050406030204" pitchFamily="18" charset="0"/>
                <a:ea typeface="Cambria" panose="02040503050406030204" pitchFamily="18" charset="0"/>
              </a:rPr>
              <a:t>ретінде</a:t>
            </a:r>
            <a:r>
              <a:rPr lang="ru-RU" sz="2000" i="1" dirty="0">
                <a:latin typeface="Cambria" panose="02040503050406030204" pitchFamily="18" charset="0"/>
                <a:ea typeface="Cambria" panose="02040503050406030204" pitchFamily="18" charset="0"/>
              </a:rPr>
              <a:t> </a:t>
            </a:r>
            <a:r>
              <a:rPr lang="ru-RU" sz="2000" i="1" dirty="0" err="1">
                <a:solidFill>
                  <a:srgbClr val="FF0000"/>
                </a:solidFill>
                <a:latin typeface="Cambria" panose="02040503050406030204" pitchFamily="18" charset="0"/>
                <a:ea typeface="Cambria" panose="02040503050406030204" pitchFamily="18" charset="0"/>
              </a:rPr>
              <a:t>алғашқы</a:t>
            </a:r>
            <a:r>
              <a:rPr lang="ru-RU" sz="2000" i="1" dirty="0">
                <a:solidFill>
                  <a:srgbClr val="FF0000"/>
                </a:solidFill>
                <a:latin typeface="Cambria" panose="02040503050406030204" pitchFamily="18" charset="0"/>
                <a:ea typeface="Cambria" panose="02040503050406030204" pitchFamily="18" charset="0"/>
              </a:rPr>
              <a:t> </a:t>
            </a:r>
            <a:r>
              <a:rPr lang="ru-RU" sz="2000" i="1" dirty="0" err="1">
                <a:solidFill>
                  <a:srgbClr val="FF0000"/>
                </a:solidFill>
                <a:latin typeface="Cambria" panose="02040503050406030204" pitchFamily="18" charset="0"/>
                <a:ea typeface="Cambria" panose="02040503050406030204" pitchFamily="18" charset="0"/>
              </a:rPr>
              <a:t>өрт</a:t>
            </a:r>
            <a:r>
              <a:rPr lang="ru-RU" sz="2000" i="1" dirty="0">
                <a:solidFill>
                  <a:srgbClr val="FF0000"/>
                </a:solidFill>
                <a:latin typeface="Cambria" panose="02040503050406030204" pitchFamily="18" charset="0"/>
                <a:ea typeface="Cambria" panose="02040503050406030204" pitchFamily="18" charset="0"/>
              </a:rPr>
              <a:t> </a:t>
            </a:r>
            <a:r>
              <a:rPr lang="ru-RU" sz="2000" i="1" dirty="0" err="1">
                <a:solidFill>
                  <a:srgbClr val="FF0000"/>
                </a:solidFill>
                <a:latin typeface="Cambria" panose="02040503050406030204" pitchFamily="18" charset="0"/>
                <a:ea typeface="Cambria" panose="02040503050406030204" pitchFamily="18" charset="0"/>
              </a:rPr>
              <a:t>сөндіру</a:t>
            </a:r>
            <a:r>
              <a:rPr lang="ru-RU" sz="2000" i="1" dirty="0">
                <a:solidFill>
                  <a:srgbClr val="FF0000"/>
                </a:solidFill>
                <a:latin typeface="Cambria" panose="02040503050406030204" pitchFamily="18" charset="0"/>
                <a:ea typeface="Cambria" panose="02040503050406030204" pitchFamily="18" charset="0"/>
              </a:rPr>
              <a:t> </a:t>
            </a:r>
            <a:r>
              <a:rPr lang="ru-RU" sz="2000" i="1" dirty="0" err="1">
                <a:solidFill>
                  <a:srgbClr val="FF0000"/>
                </a:solidFill>
                <a:latin typeface="Cambria" panose="02040503050406030204" pitchFamily="18" charset="0"/>
                <a:ea typeface="Cambria" panose="02040503050406030204" pitchFamily="18" charset="0"/>
              </a:rPr>
              <a:t>құралдары</a:t>
            </a:r>
            <a:r>
              <a:rPr lang="ru-RU" sz="2000" i="1" dirty="0">
                <a:solidFill>
                  <a:srgbClr val="FF0000"/>
                </a:solidFill>
                <a:latin typeface="Cambria" panose="02040503050406030204" pitchFamily="18" charset="0"/>
                <a:ea typeface="Cambria" panose="02040503050406030204" pitchFamily="18" charset="0"/>
              </a:rPr>
              <a:t> </a:t>
            </a:r>
            <a:r>
              <a:rPr lang="ru-RU" sz="2000" i="1" dirty="0">
                <a:latin typeface="Cambria" panose="02040503050406030204" pitchFamily="18" charset="0"/>
                <a:ea typeface="Cambria" panose="02040503050406030204" pitchFamily="18" charset="0"/>
              </a:rPr>
              <a:t>мен </a:t>
            </a:r>
            <a:r>
              <a:rPr lang="ru-RU" sz="2000" i="1" dirty="0" err="1">
                <a:latin typeface="Cambria" panose="02040503050406030204" pitchFamily="18" charset="0"/>
                <a:ea typeface="Cambria" panose="02040503050406030204" pitchFamily="18" charset="0"/>
              </a:rPr>
              <a:t>стационарлық</a:t>
            </a:r>
            <a:r>
              <a:rPr lang="ru-RU" sz="2000" i="1" dirty="0">
                <a:latin typeface="Cambria" panose="02040503050406030204" pitchFamily="18" charset="0"/>
                <a:ea typeface="Cambria" panose="02040503050406030204" pitchFamily="18" charset="0"/>
              </a:rPr>
              <a:t> </a:t>
            </a:r>
            <a:r>
              <a:rPr lang="ru-RU" sz="2000" i="1" dirty="0" err="1">
                <a:latin typeface="Cambria" panose="02040503050406030204" pitchFamily="18" charset="0"/>
                <a:ea typeface="Cambria" panose="02040503050406030204" pitchFamily="18" charset="0"/>
              </a:rPr>
              <a:t>өрт</a:t>
            </a:r>
            <a:r>
              <a:rPr lang="ru-RU" sz="2000" i="1" dirty="0">
                <a:latin typeface="Cambria" panose="02040503050406030204" pitchFamily="18" charset="0"/>
                <a:ea typeface="Cambria" panose="02040503050406030204" pitchFamily="18" charset="0"/>
              </a:rPr>
              <a:t> </a:t>
            </a:r>
            <a:r>
              <a:rPr lang="ru-RU" sz="2000" i="1" dirty="0" err="1">
                <a:latin typeface="Cambria" panose="02040503050406030204" pitchFamily="18" charset="0"/>
                <a:ea typeface="Cambria" panose="02040503050406030204" pitchFamily="18" charset="0"/>
              </a:rPr>
              <a:t>сөндіру</a:t>
            </a:r>
            <a:r>
              <a:rPr lang="ru-RU" sz="2000" i="1" dirty="0">
                <a:latin typeface="Cambria" panose="02040503050406030204" pitchFamily="18" charset="0"/>
                <a:ea typeface="Cambria" panose="02040503050406030204" pitchFamily="18" charset="0"/>
              </a:rPr>
              <a:t> </a:t>
            </a:r>
            <a:r>
              <a:rPr lang="ru-RU" sz="2000" i="1" dirty="0" err="1">
                <a:latin typeface="Cambria" panose="02040503050406030204" pitchFamily="18" charset="0"/>
                <a:ea typeface="Cambria" panose="02040503050406030204" pitchFamily="18" charset="0"/>
              </a:rPr>
              <a:t>қондырғылары</a:t>
            </a:r>
            <a:r>
              <a:rPr lang="ru-RU" sz="2000" i="1" dirty="0">
                <a:latin typeface="Cambria" panose="02040503050406030204" pitchFamily="18" charset="0"/>
                <a:ea typeface="Cambria" panose="02040503050406030204" pitchFamily="18" charset="0"/>
              </a:rPr>
              <a:t> </a:t>
            </a:r>
            <a:r>
              <a:rPr lang="ru-RU" sz="2000" i="1" dirty="0" err="1">
                <a:latin typeface="Cambria" panose="02040503050406030204" pitchFamily="18" charset="0"/>
                <a:ea typeface="Cambria" panose="02040503050406030204" pitchFamily="18" charset="0"/>
              </a:rPr>
              <a:t>қолданылады</a:t>
            </a:r>
            <a:r>
              <a:rPr lang="ru-RU" sz="2000" dirty="0">
                <a:latin typeface="Cambria" panose="02040503050406030204" pitchFamily="18" charset="0"/>
                <a:ea typeface="Cambria" panose="02040503050406030204" pitchFamily="18" charset="0"/>
              </a:rPr>
              <a:t>. </a:t>
            </a:r>
          </a:p>
          <a:p>
            <a:pPr algn="just"/>
            <a:r>
              <a:rPr lang="ru-RU" sz="2000" dirty="0" err="1">
                <a:latin typeface="Cambria" panose="02040503050406030204" pitchFamily="18" charset="0"/>
                <a:ea typeface="Cambria" panose="02040503050406030204" pitchFamily="18" charset="0"/>
              </a:rPr>
              <a:t>Өртті</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ерте</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кезеңде</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анықтау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немесе</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жою</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үшін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бастапқы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өрт</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сөндіргіштер</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қолданылады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Бастапқы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өрт</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сөндіргіштер</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әдетте</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өрт</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сөндіру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бригадасы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келгенге</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дейін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қолданылады</a:t>
            </a:r>
            <a:r>
              <a:rPr lang="ru-RU" sz="2000" dirty="0">
                <a:latin typeface="Cambria" panose="02040503050406030204" pitchFamily="18" charset="0"/>
                <a:ea typeface="Cambria" panose="02040503050406030204" pitchFamily="18" charset="0"/>
              </a:rPr>
              <a:t>.</a:t>
            </a:r>
          </a:p>
          <a:p>
            <a:pPr algn="just"/>
            <a:r>
              <a:rPr lang="ru-RU" sz="2000" b="1" dirty="0" err="1">
                <a:solidFill>
                  <a:srgbClr val="FF0000"/>
                </a:solidFill>
                <a:latin typeface="Cambria" panose="02040503050406030204" pitchFamily="18" charset="0"/>
                <a:ea typeface="Cambria" panose="02040503050406030204" pitchFamily="18" charset="0"/>
              </a:rPr>
              <a:t>Алғашқы</a:t>
            </a:r>
            <a:r>
              <a:rPr lang="ru-RU" sz="2000" b="1" dirty="0">
                <a:solidFill>
                  <a:srgbClr val="FF0000"/>
                </a:solidFill>
                <a:latin typeface="Cambria" panose="02040503050406030204" pitchFamily="18" charset="0"/>
                <a:ea typeface="Cambria" panose="02040503050406030204" pitchFamily="18" charset="0"/>
              </a:rPr>
              <a:t> </a:t>
            </a:r>
            <a:r>
              <a:rPr lang="ru-RU" sz="2000" b="1" dirty="0" err="1">
                <a:solidFill>
                  <a:srgbClr val="FF0000"/>
                </a:solidFill>
                <a:latin typeface="Cambria" panose="02040503050406030204" pitchFamily="18" charset="0"/>
                <a:ea typeface="Cambria" panose="02040503050406030204" pitchFamily="18" charset="0"/>
              </a:rPr>
              <a:t>өрт</a:t>
            </a:r>
            <a:r>
              <a:rPr lang="ru-RU" sz="2000" b="1" dirty="0">
                <a:solidFill>
                  <a:srgbClr val="FF0000"/>
                </a:solidFill>
                <a:latin typeface="Cambria" panose="02040503050406030204" pitchFamily="18" charset="0"/>
                <a:ea typeface="Cambria" panose="02040503050406030204" pitchFamily="18" charset="0"/>
              </a:rPr>
              <a:t> </a:t>
            </a:r>
            <a:r>
              <a:rPr lang="ru-RU" sz="2000" b="1" dirty="0" err="1">
                <a:solidFill>
                  <a:srgbClr val="FF0000"/>
                </a:solidFill>
                <a:latin typeface="Cambria" panose="02040503050406030204" pitchFamily="18" charset="0"/>
                <a:ea typeface="Cambria" panose="02040503050406030204" pitchFamily="18" charset="0"/>
              </a:rPr>
              <a:t>сөндіргіштер</a:t>
            </a:r>
            <a:r>
              <a:rPr lang="ru-RU" sz="2000" b="1" dirty="0">
                <a:solidFill>
                  <a:srgbClr val="FF0000"/>
                </a:solidFill>
                <a:latin typeface="Cambria" panose="02040503050406030204" pitchFamily="18" charset="0"/>
                <a:ea typeface="Cambria" panose="02040503050406030204" pitchFamily="18" charset="0"/>
              </a:rPr>
              <a:t> </a:t>
            </a:r>
            <a:r>
              <a:rPr lang="ru-RU" sz="2000" b="1" dirty="0" err="1">
                <a:solidFill>
                  <a:srgbClr val="FF0000"/>
                </a:solidFill>
                <a:latin typeface="Cambria" panose="02040503050406030204" pitchFamily="18" charset="0"/>
                <a:ea typeface="Cambria" panose="02040503050406030204" pitchFamily="18" charset="0"/>
              </a:rPr>
              <a:t>келесі</a:t>
            </a:r>
            <a:r>
              <a:rPr lang="ru-RU" sz="2000" b="1" dirty="0">
                <a:solidFill>
                  <a:srgbClr val="FF0000"/>
                </a:solidFill>
                <a:latin typeface="Cambria" panose="02040503050406030204" pitchFamily="18" charset="0"/>
                <a:ea typeface="Cambria" panose="02040503050406030204" pitchFamily="18" charset="0"/>
              </a:rPr>
              <a:t> </a:t>
            </a:r>
            <a:r>
              <a:rPr lang="ru-RU" sz="2000" b="1" dirty="0" err="1">
                <a:solidFill>
                  <a:srgbClr val="FF0000"/>
                </a:solidFill>
                <a:latin typeface="Cambria" panose="02040503050406030204" pitchFamily="18" charset="0"/>
                <a:ea typeface="Cambria" panose="02040503050406030204" pitchFamily="18" charset="0"/>
              </a:rPr>
              <a:t>түрлерге</a:t>
            </a:r>
            <a:r>
              <a:rPr lang="ru-RU" sz="2000" b="1" dirty="0">
                <a:solidFill>
                  <a:srgbClr val="FF0000"/>
                </a:solidFill>
                <a:latin typeface="Cambria" panose="02040503050406030204" pitchFamily="18" charset="0"/>
                <a:ea typeface="Cambria" panose="02040503050406030204" pitchFamily="18" charset="0"/>
              </a:rPr>
              <a:t> </a:t>
            </a:r>
            <a:r>
              <a:rPr lang="ru-RU" sz="2000" b="1" dirty="0" err="1">
                <a:solidFill>
                  <a:srgbClr val="FF0000"/>
                </a:solidFill>
                <a:latin typeface="Cambria" panose="02040503050406030204" pitchFamily="18" charset="0"/>
                <a:ea typeface="Cambria" panose="02040503050406030204" pitchFamily="18" charset="0"/>
              </a:rPr>
              <a:t>бөлінеді</a:t>
            </a:r>
            <a:r>
              <a:rPr lang="ru-RU" sz="2000" b="1" dirty="0">
                <a:solidFill>
                  <a:srgbClr val="FF0000"/>
                </a:solidFill>
                <a:latin typeface="Cambria" panose="02040503050406030204" pitchFamily="18" charset="0"/>
                <a:ea typeface="Cambria" panose="02040503050406030204" pitchFamily="18" charset="0"/>
              </a:rPr>
              <a:t>: </a:t>
            </a:r>
          </a:p>
          <a:p>
            <a:pPr marL="342900" indent="-342900" algn="just">
              <a:buFont typeface="Wingdings" panose="05000000000000000000" pitchFamily="2" charset="2"/>
              <a:buChar char="Ø"/>
            </a:pPr>
            <a:r>
              <a:rPr lang="ru-RU" sz="2000" dirty="0" err="1">
                <a:latin typeface="Cambria" panose="02040503050406030204" pitchFamily="18" charset="0"/>
                <a:ea typeface="Cambria" panose="02040503050406030204" pitchFamily="18" charset="0"/>
              </a:rPr>
              <a:t>тасымалданатын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және</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жылжымалы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өрт</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сөндіргіштер</a:t>
            </a:r>
            <a:r>
              <a:rPr lang="ru-RU" sz="2000" dirty="0">
                <a:latin typeface="Cambria" panose="02040503050406030204" pitchFamily="18" charset="0"/>
                <a:ea typeface="Cambria" panose="02040503050406030204" pitchFamily="18" charset="0"/>
              </a:rPr>
              <a:t>;</a:t>
            </a:r>
          </a:p>
          <a:p>
            <a:pPr marL="342900" indent="-342900" algn="just">
              <a:buFont typeface="Wingdings" panose="05000000000000000000" pitchFamily="2" charset="2"/>
              <a:buChar char="Ø"/>
            </a:pPr>
            <a:r>
              <a:rPr lang="ru-RU" sz="2000" dirty="0" err="1">
                <a:latin typeface="Cambria" panose="02040503050406030204" pitchFamily="18" charset="0"/>
                <a:ea typeface="Cambria" panose="02040503050406030204" pitchFamily="18" charset="0"/>
              </a:rPr>
              <a:t>өрт</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гидранттары</a:t>
            </a:r>
            <a:r>
              <a:rPr lang="ru-RU" sz="2000" dirty="0">
                <a:latin typeface="Cambria" panose="02040503050406030204" pitchFamily="18" charset="0"/>
                <a:ea typeface="Cambria" panose="02040503050406030204" pitchFamily="18" charset="0"/>
              </a:rPr>
              <a:t>;</a:t>
            </a:r>
          </a:p>
          <a:p>
            <a:pPr marL="342900" indent="-342900" algn="just">
              <a:buFont typeface="Wingdings" panose="05000000000000000000" pitchFamily="2" charset="2"/>
              <a:buChar char="Ø"/>
            </a:pPr>
            <a:r>
              <a:rPr lang="ru-RU" sz="2000" dirty="0" err="1">
                <a:latin typeface="Cambria" panose="02040503050406030204" pitchFamily="18" charset="0"/>
                <a:ea typeface="Cambria" panose="02040503050406030204" pitchFamily="18" charset="0"/>
              </a:rPr>
              <a:t>өрт</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сөндіру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құралдары</a:t>
            </a:r>
            <a:r>
              <a:rPr lang="ru-RU" sz="2000" dirty="0">
                <a:latin typeface="Cambria" panose="02040503050406030204" pitchFamily="18" charset="0"/>
                <a:ea typeface="Cambria" panose="02040503050406030204" pitchFamily="18" charset="0"/>
              </a:rPr>
              <a:t>;</a:t>
            </a:r>
          </a:p>
          <a:p>
            <a:pPr marL="342900" indent="-342900" algn="just">
              <a:buFont typeface="Wingdings" panose="05000000000000000000" pitchFamily="2" charset="2"/>
              <a:buChar char="Ø"/>
            </a:pPr>
            <a:r>
              <a:rPr lang="ru-RU" sz="2000" dirty="0">
                <a:latin typeface="Cambria" panose="02040503050406030204" pitchFamily="18" charset="0"/>
                <a:ea typeface="Cambria" panose="02040503050406030204" pitchFamily="18" charset="0"/>
              </a:rPr>
              <a:t>от </a:t>
            </a:r>
            <a:r>
              <a:rPr lang="ru-RU" sz="2000" dirty="0" err="1">
                <a:latin typeface="Cambria" panose="02040503050406030204" pitchFamily="18" charset="0"/>
                <a:ea typeface="Cambria" panose="02040503050406030204" pitchFamily="18" charset="0"/>
              </a:rPr>
              <a:t>көзін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оқшаулау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үшін</a:t>
            </a:r>
            <a:r>
              <a:rPr lang="ru-RU" sz="2000" dirty="0">
                <a:latin typeface="Cambria" panose="02040503050406030204" pitchFamily="18" charset="0"/>
                <a:ea typeface="Cambria" panose="02040503050406030204" pitchFamily="18" charset="0"/>
              </a:rPr>
              <a:t> асбест </a:t>
            </a:r>
            <a:r>
              <a:rPr lang="ru-RU" sz="2000" dirty="0" err="1">
                <a:latin typeface="Cambria" panose="02040503050406030204" pitchFamily="18" charset="0"/>
                <a:ea typeface="Cambria" panose="02040503050406030204" pitchFamily="18" charset="0"/>
              </a:rPr>
              <a:t>және</a:t>
            </a:r>
            <a:r>
              <a:rPr lang="ru-RU" sz="2000" dirty="0">
                <a:latin typeface="Cambria" panose="02040503050406030204" pitchFamily="18" charset="0"/>
                <a:ea typeface="Cambria" panose="02040503050406030204" pitchFamily="18" charset="0"/>
              </a:rPr>
              <a:t> брезент </a:t>
            </a:r>
            <a:r>
              <a:rPr lang="ru-RU" sz="2000" dirty="0" err="1">
                <a:latin typeface="Cambria" panose="02040503050406030204" pitchFamily="18" charset="0"/>
                <a:ea typeface="Cambria" panose="02040503050406030204" pitchFamily="18" charset="0"/>
              </a:rPr>
              <a:t>көрпе</a:t>
            </a:r>
            <a:r>
              <a:rPr lang="ru-RU" sz="2000" dirty="0">
                <a:latin typeface="Cambria" panose="02040503050406030204" pitchFamily="18" charset="0"/>
                <a:ea typeface="Cambria" panose="02040503050406030204" pitchFamily="18" charset="0"/>
              </a:rPr>
              <a:t>.</a:t>
            </a:r>
          </a:p>
          <a:p>
            <a:pPr algn="just"/>
            <a:r>
              <a:rPr lang="ru-RU" sz="2000" dirty="0" err="1">
                <a:solidFill>
                  <a:srgbClr val="FF0000"/>
                </a:solidFill>
                <a:latin typeface="Cambria" panose="02040503050406030204" pitchFamily="18" charset="0"/>
                <a:ea typeface="Cambria" panose="02040503050406030204" pitchFamily="18" charset="0"/>
              </a:rPr>
              <a:t>Өрттің</a:t>
            </a:r>
            <a:r>
              <a:rPr lang="ru-RU" sz="2000" dirty="0">
                <a:solidFill>
                  <a:srgbClr val="FF0000"/>
                </a:solidFill>
                <a:latin typeface="Cambria" panose="02040503050406030204" pitchFamily="18" charset="0"/>
                <a:ea typeface="Cambria" panose="02040503050406030204" pitchFamily="18" charset="0"/>
              </a:rPr>
              <a:t> даму </a:t>
            </a:r>
            <a:r>
              <a:rPr lang="ru-RU" sz="2000" dirty="0" err="1">
                <a:solidFill>
                  <a:srgbClr val="FF0000"/>
                </a:solidFill>
                <a:latin typeface="Cambria" panose="02040503050406030204" pitchFamily="18" charset="0"/>
                <a:ea typeface="Cambria" panose="02040503050406030204" pitchFamily="18" charset="0"/>
              </a:rPr>
              <a:t>сатысында</a:t>
            </a:r>
            <a:r>
              <a:rPr lang="ru-RU" sz="2000" dirty="0">
                <a:solidFill>
                  <a:srgbClr val="FF0000"/>
                </a:solidFill>
                <a:latin typeface="Cambria" panose="02040503050406030204" pitchFamily="18" charset="0"/>
                <a:ea typeface="Cambria" panose="02040503050406030204" pitchFamily="18" charset="0"/>
              </a:rPr>
              <a:t> </a:t>
            </a:r>
            <a:r>
              <a:rPr lang="ru-RU" sz="2000" dirty="0" err="1">
                <a:solidFill>
                  <a:srgbClr val="FF0000"/>
                </a:solidFill>
                <a:latin typeface="Cambria" panose="02040503050406030204" pitchFamily="18" charset="0"/>
                <a:ea typeface="Cambria" panose="02040503050406030204" pitchFamily="18" charset="0"/>
              </a:rPr>
              <a:t>өрт</a:t>
            </a:r>
            <a:r>
              <a:rPr lang="ru-RU" sz="2000" dirty="0">
                <a:solidFill>
                  <a:srgbClr val="FF0000"/>
                </a:solidFill>
                <a:latin typeface="Cambria" panose="02040503050406030204" pitchFamily="18" charset="0"/>
                <a:ea typeface="Cambria" panose="02040503050406030204" pitchFamily="18" charset="0"/>
              </a:rPr>
              <a:t> </a:t>
            </a:r>
            <a:r>
              <a:rPr lang="ru-RU" sz="2000" dirty="0" err="1">
                <a:solidFill>
                  <a:srgbClr val="FF0000"/>
                </a:solidFill>
                <a:latin typeface="Cambria" panose="02040503050406030204" pitchFamily="18" charset="0"/>
                <a:ea typeface="Cambria" panose="02040503050406030204" pitchFamily="18" charset="0"/>
              </a:rPr>
              <a:t>сөндіру</a:t>
            </a:r>
            <a:r>
              <a:rPr lang="ru-RU" sz="2000" dirty="0">
                <a:solidFill>
                  <a:srgbClr val="FF0000"/>
                </a:solidFill>
                <a:latin typeface="Cambria" panose="02040503050406030204" pitchFamily="18" charset="0"/>
                <a:ea typeface="Cambria" panose="02040503050406030204" pitchFamily="18" charset="0"/>
              </a:rPr>
              <a:t> </a:t>
            </a:r>
            <a:r>
              <a:rPr lang="ru-RU" sz="2000" dirty="0" err="1">
                <a:solidFill>
                  <a:srgbClr val="FF0000"/>
                </a:solidFill>
                <a:latin typeface="Cambria" panose="02040503050406030204" pitchFamily="18" charset="0"/>
                <a:ea typeface="Cambria" panose="02040503050406030204" pitchFamily="18" charset="0"/>
              </a:rPr>
              <a:t>техникасы</a:t>
            </a:r>
            <a:r>
              <a:rPr lang="ru-RU" sz="2000" dirty="0">
                <a:solidFill>
                  <a:srgbClr val="FF0000"/>
                </a:solidFill>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қолданылады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Жанып</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жатқан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құрылыстарды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жою</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және</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қашу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жолдарын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ашу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үшін</a:t>
            </a:r>
            <a:r>
              <a:rPr lang="ru-RU" sz="2000" dirty="0">
                <a:latin typeface="Cambria" panose="02040503050406030204" pitchFamily="18" charset="0"/>
                <a:ea typeface="Cambria" panose="02040503050406030204" pitchFamily="18" charset="0"/>
              </a:rPr>
              <a:t> лом, </a:t>
            </a:r>
            <a:r>
              <a:rPr lang="ru-RU" sz="2000" dirty="0" err="1">
                <a:latin typeface="Cambria" panose="02040503050406030204" pitchFamily="18" charset="0"/>
                <a:ea typeface="Cambria" panose="02040503050406030204" pitchFamily="18" charset="0"/>
              </a:rPr>
              <a:t>балта</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және</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әмбебап</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ілмек</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қолданылады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Ілмекті</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жану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аймағынан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ең</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құнды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заттарды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алып</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тастау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және</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одан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жанып</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жатқан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заттарды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шығару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үшін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қолданылады</a:t>
            </a:r>
            <a:r>
              <a:rPr lang="ru-RU" sz="2000" dirty="0">
                <a:latin typeface="Cambria" panose="02040503050406030204" pitchFamily="18" charset="0"/>
                <a:ea typeface="Cambria" panose="02040503050406030204" pitchFamily="18" charset="0"/>
              </a:rPr>
              <a:t>. Асбест </a:t>
            </a:r>
            <a:r>
              <a:rPr lang="ru-RU" sz="2000" dirty="0" err="1">
                <a:latin typeface="Cambria" panose="02040503050406030204" pitchFamily="18" charset="0"/>
                <a:ea typeface="Cambria" panose="02040503050406030204" pitchFamily="18" charset="0"/>
              </a:rPr>
              <a:t>және</a:t>
            </a:r>
            <a:r>
              <a:rPr lang="ru-RU" sz="2000" dirty="0">
                <a:latin typeface="Cambria" panose="02040503050406030204" pitchFamily="18" charset="0"/>
                <a:ea typeface="Cambria" panose="02040503050406030204" pitchFamily="18" charset="0"/>
              </a:rPr>
              <a:t> брезент </a:t>
            </a:r>
            <a:r>
              <a:rPr lang="ru-RU" sz="2000" dirty="0" err="1">
                <a:latin typeface="Cambria" panose="02040503050406030204" pitchFamily="18" charset="0"/>
                <a:ea typeface="Cambria" panose="02040503050406030204" pitchFamily="18" charset="0"/>
              </a:rPr>
              <a:t>көрпелер</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жану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көзін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ауадан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оқшаулауға</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арналған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бірақ</a:t>
            </a:r>
            <a:r>
              <a:rPr lang="ru-RU" sz="2000" dirty="0">
                <a:latin typeface="Cambria" panose="02040503050406030204" pitchFamily="18" charset="0"/>
                <a:ea typeface="Cambria" panose="02040503050406030204" pitchFamily="18" charset="0"/>
              </a:rPr>
              <a:t> тек </a:t>
            </a:r>
            <a:r>
              <a:rPr lang="ru-RU" sz="2000" dirty="0" err="1">
                <a:latin typeface="Cambria" panose="02040503050406030204" pitchFamily="18" charset="0"/>
                <a:ea typeface="Cambria" panose="02040503050406030204" pitchFamily="18" charset="0"/>
              </a:rPr>
              <a:t>шағын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жану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көздері</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үшін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қолданылады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Өртті</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сумен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сөндіру</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үшін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шелек</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қолданылады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Күрек</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отты</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құммен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жермен</a:t>
            </a:r>
            <a:r>
              <a:rPr lang="ru-RU" sz="2000" dirty="0">
                <a:latin typeface="Cambria" panose="02040503050406030204" pitchFamily="18" charset="0"/>
                <a:ea typeface="Cambria" panose="02040503050406030204" pitchFamily="18" charset="0"/>
              </a:rPr>
              <a:t> жабу </a:t>
            </a:r>
            <a:r>
              <a:rPr lang="ru-RU" sz="2000" dirty="0" err="1">
                <a:latin typeface="Cambria" panose="02040503050406030204" pitchFamily="18" charset="0"/>
                <a:ea typeface="Cambria" panose="02040503050406030204" pitchFamily="18" charset="0"/>
              </a:rPr>
              <a:t>үшін</a:t>
            </a:r>
            <a:r>
              <a:rPr lang="ru-RU" sz="2000" dirty="0">
                <a:latin typeface="Cambria" panose="02040503050406030204" pitchFamily="18" charset="0"/>
                <a:ea typeface="Cambria" panose="02040503050406030204" pitchFamily="18" charset="0"/>
              </a:rPr>
              <a:t> </a:t>
            </a:r>
            <a:r>
              <a:rPr lang="ru-RU" sz="2000" dirty="0" err="1">
                <a:latin typeface="Cambria" panose="02040503050406030204" pitchFamily="18" charset="0"/>
                <a:ea typeface="Cambria" panose="02040503050406030204" pitchFamily="18" charset="0"/>
              </a:rPr>
              <a:t>қолданылады</a:t>
            </a:r>
            <a:r>
              <a:rPr lang="ru-RU" sz="2000" dirty="0">
                <a:latin typeface="Cambria" panose="02040503050406030204" pitchFamily="18" charset="0"/>
                <a:ea typeface="Cambria" panose="02040503050406030204" pitchFamily="18" charset="0"/>
              </a:rPr>
              <a:t>.</a:t>
            </a:r>
            <a:endParaRPr lang="ru-KZ" sz="20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090424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19A30414-0A03-412C-AB5C-FCE71B175F4A}"/>
              </a:ext>
            </a:extLst>
          </p:cNvPr>
          <p:cNvSpPr/>
          <p:nvPr/>
        </p:nvSpPr>
        <p:spPr>
          <a:xfrm>
            <a:off x="1759323" y="677360"/>
            <a:ext cx="8673353" cy="483209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pPr marL="342900" indent="-342900" algn="just">
              <a:buFont typeface="Wingdings" panose="05000000000000000000" pitchFamily="2" charset="2"/>
              <a:buChar char="§"/>
            </a:pPr>
            <a:r>
              <a:rPr lang="ru-RU" sz="2200" b="1" dirty="0" err="1">
                <a:solidFill>
                  <a:srgbClr val="FF0000"/>
                </a:solidFill>
                <a:latin typeface="Cambria" panose="02040503050406030204" pitchFamily="18" charset="0"/>
                <a:ea typeface="Cambria" panose="02040503050406030204" pitchFamily="18" charset="0"/>
              </a:rPr>
              <a:t>Өрт</a:t>
            </a:r>
            <a:r>
              <a:rPr lang="ru-RU" sz="2200" b="1" dirty="0">
                <a:solidFill>
                  <a:srgbClr val="FF0000"/>
                </a:solidFill>
                <a:latin typeface="Cambria" panose="02040503050406030204" pitchFamily="18" charset="0"/>
                <a:ea typeface="Cambria" panose="02040503050406030204" pitchFamily="18" charset="0"/>
              </a:rPr>
              <a:t> </a:t>
            </a:r>
            <a:r>
              <a:rPr lang="ru-RU" sz="2200" b="1" dirty="0" err="1">
                <a:solidFill>
                  <a:srgbClr val="FF0000"/>
                </a:solidFill>
                <a:latin typeface="Cambria" panose="02040503050406030204" pitchFamily="18" charset="0"/>
                <a:ea typeface="Cambria" panose="02040503050406030204" pitchFamily="18" charset="0"/>
              </a:rPr>
              <a:t>қалқаны</a:t>
            </a:r>
            <a:r>
              <a:rPr lang="ru-RU" sz="2200" b="1" dirty="0">
                <a:solidFill>
                  <a:srgbClr val="FF0000"/>
                </a:solidFill>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Ғимараттар</a:t>
            </a:r>
            <a:r>
              <a:rPr lang="ru-RU" sz="2200" dirty="0">
                <a:latin typeface="Cambria" panose="02040503050406030204" pitchFamily="18" charset="0"/>
                <a:ea typeface="Cambria" panose="02040503050406030204" pitchFamily="18" charset="0"/>
              </a:rPr>
              <a:t> мен </a:t>
            </a:r>
            <a:r>
              <a:rPr lang="ru-RU" sz="2200" dirty="0" err="1">
                <a:latin typeface="Cambria" panose="02040503050406030204" pitchFamily="18" charset="0"/>
                <a:ea typeface="Cambria" panose="02040503050406030204" pitchFamily="18" charset="0"/>
              </a:rPr>
              <a:t>үй-жайларда</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бастапқы</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өрт</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сөндіру</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құралдарын</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орналастыру</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үшін</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өрт</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сөндіргіштер</a:t>
            </a:r>
            <a:r>
              <a:rPr lang="ru-RU" sz="2200" dirty="0">
                <a:latin typeface="Cambria" panose="02040503050406030204" pitchFamily="18" charset="0"/>
                <a:ea typeface="Cambria" panose="02040503050406030204" pitchFamily="18" charset="0"/>
              </a:rPr>
              <a:t> мен </a:t>
            </a:r>
            <a:r>
              <a:rPr lang="ru-RU" sz="2200" dirty="0" err="1">
                <a:latin typeface="Cambria" panose="02040503050406030204" pitchFamily="18" charset="0"/>
                <a:ea typeface="Cambria" panose="02040503050406030204" pitchFamily="18" charset="0"/>
              </a:rPr>
              <a:t>өрт</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сөндіру</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құралдары</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ломдар</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ілгектер</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балталар</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шелектер</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көрпелер</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орналастырылған</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өрт</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қалқандары</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орнатылады</a:t>
            </a:r>
            <a:r>
              <a:rPr lang="ru-RU" sz="2200" dirty="0">
                <a:latin typeface="Cambria" panose="02040503050406030204" pitchFamily="18" charset="0"/>
                <a:ea typeface="Cambria" panose="02040503050406030204" pitchFamily="18" charset="0"/>
              </a:rPr>
              <a:t>.</a:t>
            </a:r>
          </a:p>
          <a:p>
            <a:pPr marL="342900" indent="-342900" algn="just">
              <a:buFont typeface="Wingdings" panose="05000000000000000000" pitchFamily="2" charset="2"/>
              <a:buChar char="§"/>
            </a:pPr>
            <a:r>
              <a:rPr lang="ru-RU" sz="2200" dirty="0" err="1">
                <a:latin typeface="Cambria" panose="02040503050406030204" pitchFamily="18" charset="0"/>
                <a:ea typeface="Cambria" panose="02040503050406030204" pitchFamily="18" charset="0"/>
              </a:rPr>
              <a:t>Қалқанның</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жанында</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құм</a:t>
            </a:r>
            <a:r>
              <a:rPr lang="ru-RU" sz="2200" dirty="0">
                <a:latin typeface="Cambria" panose="02040503050406030204" pitchFamily="18" charset="0"/>
                <a:ea typeface="Cambria" panose="02040503050406030204" pitchFamily="18" charset="0"/>
              </a:rPr>
              <a:t> мен </a:t>
            </a:r>
            <a:r>
              <a:rPr lang="ru-RU" sz="2200" dirty="0" err="1">
                <a:latin typeface="Cambria" panose="02040503050406030204" pitchFamily="18" charset="0"/>
                <a:ea typeface="Cambria" panose="02040503050406030204" pitchFamily="18" charset="0"/>
              </a:rPr>
              <a:t>күректері</a:t>
            </a:r>
            <a:r>
              <a:rPr lang="ru-RU" sz="2200" dirty="0">
                <a:latin typeface="Cambria" panose="02040503050406030204" pitchFamily="18" charset="0"/>
                <a:ea typeface="Cambria" panose="02040503050406030204" pitchFamily="18" charset="0"/>
              </a:rPr>
              <a:t> бар </a:t>
            </a:r>
            <a:r>
              <a:rPr lang="ru-RU" sz="2200" dirty="0" err="1">
                <a:latin typeface="Cambria" panose="02040503050406030204" pitchFamily="18" charset="0"/>
                <a:ea typeface="Cambria" panose="02040503050406030204" pitchFamily="18" charset="0"/>
              </a:rPr>
              <a:t>қорап</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сондай-ақ</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сыйымдылығы</a:t>
            </a:r>
            <a:r>
              <a:rPr lang="ru-RU" sz="2200" dirty="0">
                <a:latin typeface="Cambria" panose="02040503050406030204" pitchFamily="18" charset="0"/>
                <a:ea typeface="Cambria" panose="02040503050406030204" pitchFamily="18" charset="0"/>
              </a:rPr>
              <a:t> 200-250 литр </a:t>
            </a:r>
            <a:r>
              <a:rPr lang="ru-RU" sz="2200" dirty="0" err="1">
                <a:latin typeface="Cambria" panose="02040503050406030204" pitchFamily="18" charset="0"/>
                <a:ea typeface="Cambria" panose="02040503050406030204" pitchFamily="18" charset="0"/>
              </a:rPr>
              <a:t>суы</a:t>
            </a:r>
            <a:r>
              <a:rPr lang="ru-RU" sz="2200" dirty="0">
                <a:latin typeface="Cambria" panose="02040503050406030204" pitchFamily="18" charset="0"/>
                <a:ea typeface="Cambria" panose="02040503050406030204" pitchFamily="18" charset="0"/>
              </a:rPr>
              <a:t> бар </a:t>
            </a:r>
            <a:r>
              <a:rPr lang="ru-RU" sz="2200" dirty="0" err="1">
                <a:latin typeface="Cambria" panose="02040503050406030204" pitchFamily="18" charset="0"/>
                <a:ea typeface="Cambria" panose="02040503050406030204" pitchFamily="18" charset="0"/>
              </a:rPr>
              <a:t>бөшке</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орнатылған</a:t>
            </a:r>
            <a:r>
              <a:rPr lang="ru-RU" sz="2200" dirty="0">
                <a:latin typeface="Cambria" panose="02040503050406030204" pitchFamily="18" charset="0"/>
                <a:ea typeface="Cambria" panose="02040503050406030204" pitchFamily="18" charset="0"/>
              </a:rPr>
              <a:t>.</a:t>
            </a:r>
          </a:p>
          <a:p>
            <a:pPr marL="342900" indent="-342900" algn="just">
              <a:buFont typeface="Wingdings" panose="05000000000000000000" pitchFamily="2" charset="2"/>
              <a:buChar char="§"/>
            </a:pPr>
            <a:r>
              <a:rPr lang="ru-RU" sz="2200" b="1" dirty="0" err="1">
                <a:solidFill>
                  <a:srgbClr val="FF0000"/>
                </a:solidFill>
                <a:latin typeface="Cambria" panose="02040503050406030204" pitchFamily="18" charset="0"/>
                <a:ea typeface="Cambria" panose="02040503050406030204" pitchFamily="18" charset="0"/>
              </a:rPr>
              <a:t>Өртке</a:t>
            </a:r>
            <a:r>
              <a:rPr lang="ru-RU" sz="2200" b="1" dirty="0">
                <a:solidFill>
                  <a:srgbClr val="FF0000"/>
                </a:solidFill>
                <a:latin typeface="Cambria" panose="02040503050406030204" pitchFamily="18" charset="0"/>
                <a:ea typeface="Cambria" panose="02040503050406030204" pitchFamily="18" charset="0"/>
              </a:rPr>
              <a:t> </a:t>
            </a:r>
            <a:r>
              <a:rPr lang="ru-RU" sz="2200" b="1" dirty="0" err="1">
                <a:solidFill>
                  <a:srgbClr val="FF0000"/>
                </a:solidFill>
                <a:latin typeface="Cambria" panose="02040503050406030204" pitchFamily="18" charset="0"/>
                <a:ea typeface="Cambria" panose="02040503050406030204" pitchFamily="18" charset="0"/>
              </a:rPr>
              <a:t>қарсы</a:t>
            </a:r>
            <a:r>
              <a:rPr lang="ru-RU" sz="2200" b="1" dirty="0">
                <a:solidFill>
                  <a:srgbClr val="FF0000"/>
                </a:solidFill>
                <a:latin typeface="Cambria" panose="02040503050406030204" pitchFamily="18" charset="0"/>
                <a:ea typeface="Cambria" panose="02040503050406030204" pitchFamily="18" charset="0"/>
              </a:rPr>
              <a:t> </a:t>
            </a:r>
            <a:r>
              <a:rPr lang="ru-RU" sz="2200" b="1" dirty="0" err="1">
                <a:solidFill>
                  <a:srgbClr val="FF0000"/>
                </a:solidFill>
                <a:latin typeface="Cambria" panose="02040503050406030204" pitchFamily="18" charset="0"/>
                <a:ea typeface="Cambria" panose="02040503050406030204" pitchFamily="18" charset="0"/>
              </a:rPr>
              <a:t>қалқандар</a:t>
            </a:r>
            <a:r>
              <a:rPr lang="ru-RU" sz="2200" b="1" dirty="0">
                <a:solidFill>
                  <a:srgbClr val="FF0000"/>
                </a:solidFill>
                <a:latin typeface="Cambria" panose="02040503050406030204" pitchFamily="18" charset="0"/>
                <a:ea typeface="Cambria" panose="02040503050406030204" pitchFamily="18" charset="0"/>
              </a:rPr>
              <a:t> </a:t>
            </a:r>
            <a:r>
              <a:rPr lang="ru-RU" sz="2200" b="1" dirty="0" err="1">
                <a:solidFill>
                  <a:srgbClr val="FF0000"/>
                </a:solidFill>
                <a:latin typeface="Cambria" panose="02040503050406030204" pitchFamily="18" charset="0"/>
                <a:ea typeface="Cambria" panose="02040503050406030204" pitchFamily="18" charset="0"/>
              </a:rPr>
              <a:t>мынадай</a:t>
            </a:r>
            <a:r>
              <a:rPr lang="ru-RU" sz="2200" b="1" dirty="0">
                <a:solidFill>
                  <a:srgbClr val="FF0000"/>
                </a:solidFill>
                <a:latin typeface="Cambria" panose="02040503050406030204" pitchFamily="18" charset="0"/>
                <a:ea typeface="Cambria" panose="02040503050406030204" pitchFamily="18" charset="0"/>
              </a:rPr>
              <a:t> </a:t>
            </a:r>
            <a:r>
              <a:rPr lang="ru-RU" sz="2200" b="1" dirty="0" err="1">
                <a:solidFill>
                  <a:srgbClr val="FF0000"/>
                </a:solidFill>
                <a:latin typeface="Cambria" panose="02040503050406030204" pitchFamily="18" charset="0"/>
                <a:ea typeface="Cambria" panose="02040503050406030204" pitchFamily="18" charset="0"/>
              </a:rPr>
              <a:t>жағдайларда</a:t>
            </a:r>
            <a:r>
              <a:rPr lang="ru-RU" sz="2200" b="1" dirty="0">
                <a:solidFill>
                  <a:srgbClr val="FF0000"/>
                </a:solidFill>
                <a:latin typeface="Cambria" panose="02040503050406030204" pitchFamily="18" charset="0"/>
                <a:ea typeface="Cambria" panose="02040503050406030204" pitchFamily="18" charset="0"/>
              </a:rPr>
              <a:t> </a:t>
            </a:r>
            <a:r>
              <a:rPr lang="ru-RU" sz="2200" b="1" dirty="0" err="1">
                <a:solidFill>
                  <a:srgbClr val="FF0000"/>
                </a:solidFill>
                <a:latin typeface="Cambria" panose="02040503050406030204" pitchFamily="18" charset="0"/>
                <a:ea typeface="Cambria" panose="02040503050406030204" pitchFamily="18" charset="0"/>
              </a:rPr>
              <a:t>қойылады</a:t>
            </a:r>
            <a:r>
              <a:rPr lang="ru-RU" sz="2200" b="1" dirty="0">
                <a:solidFill>
                  <a:srgbClr val="FF0000"/>
                </a:solidFill>
                <a:latin typeface="Cambria" panose="02040503050406030204" pitchFamily="18" charset="0"/>
                <a:ea typeface="Cambria" panose="02040503050406030204" pitchFamily="18" charset="0"/>
              </a:rPr>
              <a:t>: </a:t>
            </a:r>
          </a:p>
          <a:p>
            <a:pPr marL="342900" indent="-342900" algn="just">
              <a:buFont typeface="Wingdings" panose="05000000000000000000" pitchFamily="2" charset="2"/>
              <a:buChar char="ü"/>
            </a:pPr>
            <a:r>
              <a:rPr lang="ru-RU" sz="2200" dirty="0" err="1">
                <a:latin typeface="Cambria" panose="02040503050406030204" pitchFamily="18" charset="0"/>
                <a:ea typeface="Cambria" panose="02040503050406030204" pitchFamily="18" charset="0"/>
              </a:rPr>
              <a:t>үй-жайлар</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ішкі</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өртке</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қарсы</a:t>
            </a:r>
            <a:r>
              <a:rPr lang="ru-RU" sz="2200" dirty="0">
                <a:latin typeface="Cambria" panose="02040503050406030204" pitchFamily="18" charset="0"/>
                <a:ea typeface="Cambria" panose="02040503050406030204" pitchFamily="18" charset="0"/>
              </a:rPr>
              <a:t> су </a:t>
            </a:r>
            <a:r>
              <a:rPr lang="ru-RU" sz="2200" dirty="0" err="1">
                <a:latin typeface="Cambria" panose="02040503050406030204" pitchFamily="18" charset="0"/>
                <a:ea typeface="Cambria" panose="02040503050406030204" pitchFamily="18" charset="0"/>
              </a:rPr>
              <a:t>құбырымен</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және</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автоматты</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өрт</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сөндіру</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жүйелерімен</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жабдықталмаған</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жағдайда</a:t>
            </a:r>
            <a:r>
              <a:rPr lang="ru-RU" sz="2200" dirty="0">
                <a:latin typeface="Cambria" panose="02040503050406030204" pitchFamily="18" charset="0"/>
                <a:ea typeface="Cambria" panose="02040503050406030204" pitchFamily="18" charset="0"/>
              </a:rPr>
              <a:t>;  </a:t>
            </a:r>
          </a:p>
          <a:p>
            <a:pPr marL="342900" indent="-342900" algn="just">
              <a:buFont typeface="Wingdings" panose="05000000000000000000" pitchFamily="2" charset="2"/>
              <a:buChar char="ü"/>
            </a:pPr>
            <a:r>
              <a:rPr lang="ru-RU" sz="2200" dirty="0" err="1">
                <a:latin typeface="Cambria" panose="02040503050406030204" pitchFamily="18" charset="0"/>
                <a:ea typeface="Cambria" panose="02040503050406030204" pitchFamily="18" charset="0"/>
              </a:rPr>
              <a:t>кәсіпорынның</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аумағында</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сыртқы</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өртке</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қарсы</a:t>
            </a:r>
            <a:r>
              <a:rPr lang="ru-RU" sz="2200" dirty="0">
                <a:latin typeface="Cambria" panose="02040503050406030204" pitchFamily="18" charset="0"/>
                <a:ea typeface="Cambria" panose="02040503050406030204" pitchFamily="18" charset="0"/>
              </a:rPr>
              <a:t> су </a:t>
            </a:r>
            <a:r>
              <a:rPr lang="ru-RU" sz="2200" dirty="0" err="1">
                <a:latin typeface="Cambria" panose="02040503050406030204" pitchFamily="18" charset="0"/>
                <a:ea typeface="Cambria" panose="02040503050406030204" pitchFamily="18" charset="0"/>
              </a:rPr>
              <a:t>құбыры</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болмаса</a:t>
            </a:r>
            <a:r>
              <a:rPr lang="ru-RU" sz="2200" dirty="0">
                <a:latin typeface="Cambria" panose="02040503050406030204" pitchFamily="18" charset="0"/>
                <a:ea typeface="Cambria" panose="02040503050406030204" pitchFamily="18" charset="0"/>
              </a:rPr>
              <a:t>;  </a:t>
            </a:r>
          </a:p>
          <a:p>
            <a:pPr marL="342900" indent="-342900" algn="just">
              <a:buFont typeface="Wingdings" panose="05000000000000000000" pitchFamily="2" charset="2"/>
              <a:buChar char="ü"/>
            </a:pPr>
            <a:r>
              <a:rPr lang="ru-RU" sz="2200" dirty="0" err="1">
                <a:latin typeface="Cambria" panose="02040503050406030204" pitchFamily="18" charset="0"/>
                <a:ea typeface="Cambria" panose="02040503050406030204" pitchFamily="18" charset="0"/>
              </a:rPr>
              <a:t>егер</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сыртқы</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өртке</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қарсы</a:t>
            </a:r>
            <a:r>
              <a:rPr lang="ru-RU" sz="2200" dirty="0">
                <a:latin typeface="Cambria" panose="02040503050406030204" pitchFamily="18" charset="0"/>
                <a:ea typeface="Cambria" panose="02040503050406030204" pitchFamily="18" charset="0"/>
              </a:rPr>
              <a:t> су </a:t>
            </a:r>
            <a:r>
              <a:rPr lang="ru-RU" sz="2200" dirty="0" err="1">
                <a:latin typeface="Cambria" panose="02040503050406030204" pitchFamily="18" charset="0"/>
                <a:ea typeface="Cambria" panose="02040503050406030204" pitchFamily="18" charset="0"/>
              </a:rPr>
              <a:t>көздері</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кәсіпорындардың</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ғимараттары</a:t>
            </a:r>
            <a:r>
              <a:rPr lang="ru-RU" sz="2200" dirty="0">
                <a:latin typeface="Cambria" panose="02040503050406030204" pitchFamily="18" charset="0"/>
                <a:ea typeface="Cambria" panose="02040503050406030204" pitchFamily="18" charset="0"/>
              </a:rPr>
              <a:t> мен </a:t>
            </a:r>
            <a:r>
              <a:rPr lang="ru-RU" sz="2200" dirty="0" err="1">
                <a:latin typeface="Cambria" panose="02040503050406030204" pitchFamily="18" charset="0"/>
                <a:ea typeface="Cambria" panose="02040503050406030204" pitchFamily="18" charset="0"/>
              </a:rPr>
              <a:t>сыртқы</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технологиялық</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қондырғыларынан</a:t>
            </a:r>
            <a:r>
              <a:rPr lang="ru-RU" sz="2200" dirty="0">
                <a:latin typeface="Cambria" panose="02040503050406030204" pitchFamily="18" charset="0"/>
                <a:ea typeface="Cambria" panose="02040503050406030204" pitchFamily="18" charset="0"/>
              </a:rPr>
              <a:t> 100 м-</a:t>
            </a:r>
            <a:r>
              <a:rPr lang="ru-RU" sz="2200" dirty="0" err="1">
                <a:latin typeface="Cambria" panose="02040503050406030204" pitchFamily="18" charset="0"/>
                <a:ea typeface="Cambria" panose="02040503050406030204" pitchFamily="18" charset="0"/>
              </a:rPr>
              <a:t>ден</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астам</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қашықтықта</a:t>
            </a:r>
            <a:r>
              <a:rPr lang="ru-RU" sz="2200" dirty="0">
                <a:latin typeface="Cambria" panose="02040503050406030204" pitchFamily="18" charset="0"/>
                <a:ea typeface="Cambria" panose="02040503050406030204" pitchFamily="18" charset="0"/>
              </a:rPr>
              <a:t> </a:t>
            </a:r>
            <a:r>
              <a:rPr lang="ru-RU" sz="2200" dirty="0" err="1">
                <a:latin typeface="Cambria" panose="02040503050406030204" pitchFamily="18" charset="0"/>
                <a:ea typeface="Cambria" panose="02040503050406030204" pitchFamily="18" charset="0"/>
              </a:rPr>
              <a:t>орналасса</a:t>
            </a:r>
            <a:r>
              <a:rPr lang="ru-RU" sz="2200" dirty="0">
                <a:latin typeface="Cambria" panose="02040503050406030204" pitchFamily="18" charset="0"/>
                <a:ea typeface="Cambria" panose="02040503050406030204" pitchFamily="18" charset="0"/>
              </a:rPr>
              <a:t>.</a:t>
            </a:r>
            <a:endParaRPr lang="ru-KZ" sz="2200"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052884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Прямоугольник 1">
            <a:extLst>
              <a:ext uri="{FF2B5EF4-FFF2-40B4-BE49-F238E27FC236}">
                <a16:creationId xmlns:a16="http://schemas.microsoft.com/office/drawing/2014/main" xmlns="" id="{E5946117-C036-4298-BBA3-429EFA4BBE0D}"/>
              </a:ext>
            </a:extLst>
          </p:cNvPr>
          <p:cNvSpPr/>
          <p:nvPr/>
        </p:nvSpPr>
        <p:spPr>
          <a:xfrm>
            <a:off x="1594624" y="574693"/>
            <a:ext cx="9497446" cy="5337487"/>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lnSpc>
                <a:spcPct val="107000"/>
              </a:lnSpc>
              <a:spcAft>
                <a:spcPts val="0"/>
              </a:spcAft>
            </a:pPr>
            <a:r>
              <a:rPr lang="kk-KZ" sz="2000" b="1" dirty="0">
                <a:solidFill>
                  <a:srgbClr val="000000"/>
                </a:solidFill>
                <a:latin typeface="Cambria" panose="02040503050406030204" pitchFamily="18" charset="0"/>
                <a:ea typeface="Cambria" panose="02040503050406030204" pitchFamily="18" charset="0"/>
                <a:cs typeface="Times New Roman" panose="02020603050405020304" pitchFamily="18" charset="0"/>
              </a:rPr>
              <a:t>Өрттен сақтандыру  және оның залалдарын  төмендету  жөніндегі                          шаралар</a:t>
            </a:r>
            <a:endParaRPr lang="ru-KZ" sz="2000" dirty="0">
              <a:latin typeface="Cambria" panose="02040503050406030204" pitchFamily="18" charset="0"/>
              <a:ea typeface="Cambria" panose="02040503050406030204" pitchFamily="18" charset="0"/>
              <a:cs typeface="Times New Roman" panose="02020603050405020304" pitchFamily="18" charset="0"/>
            </a:endParaRPr>
          </a:p>
          <a:p>
            <a:pPr indent="323850" algn="just">
              <a:lnSpc>
                <a:spcPct val="107000"/>
              </a:lnSpc>
              <a:spcAft>
                <a:spcPts val="0"/>
              </a:spcAft>
            </a:pPr>
            <a:r>
              <a:rPr lang="kk-KZ" sz="2000" dirty="0">
                <a:latin typeface="Cambria" panose="02040503050406030204" pitchFamily="18" charset="0"/>
                <a:ea typeface="Cambria" panose="02040503050406030204" pitchFamily="18" charset="0"/>
                <a:cs typeface="Times New Roman" panose="02020603050405020304" pitchFamily="18" charset="0"/>
              </a:rPr>
              <a:t>Өрттен сақтандыру өндірістің, қала құрылыстың, ауылдық елді мекендерді жоспарлау және салудың  технологиялық процесінің  құрамдас бөлігі  болып  табылады.  Оның шаралары ғимаратты  жобалау, салу, жаңғырту, көлік құралдарын пайдалануда  және тұрмыста ескеріледі. Өрттен сақтандыруды ұйымдастырумен  Мемлекеттік өртті қадағалау органдары шұғылданады.</a:t>
            </a:r>
            <a:endParaRPr lang="ru-KZ" sz="2000" dirty="0">
              <a:latin typeface="Cambria" panose="02040503050406030204" pitchFamily="18" charset="0"/>
              <a:ea typeface="Cambria" panose="02040503050406030204" pitchFamily="18" charset="0"/>
              <a:cs typeface="Times New Roman" panose="02020603050405020304" pitchFamily="18" charset="0"/>
            </a:endParaRPr>
          </a:p>
          <a:p>
            <a:pPr indent="323850" algn="just">
              <a:lnSpc>
                <a:spcPct val="107000"/>
              </a:lnSpc>
              <a:spcAft>
                <a:spcPts val="0"/>
              </a:spcAft>
            </a:pPr>
            <a:r>
              <a:rPr lang="kk-KZ" sz="2000" b="1" dirty="0">
                <a:solidFill>
                  <a:srgbClr val="FF0000"/>
                </a:solidFill>
                <a:latin typeface="Cambria" panose="02040503050406030204" pitchFamily="18" charset="0"/>
                <a:ea typeface="Cambria" panose="02040503050406030204" pitchFamily="18" charset="0"/>
                <a:cs typeface="Times New Roman" panose="02020603050405020304" pitchFamily="18" charset="0"/>
              </a:rPr>
              <a:t>Өрттен сақтандыруға  былайша қол жеткізіледі: </a:t>
            </a:r>
            <a:endParaRPr lang="ru-KZ" sz="2000" b="1" dirty="0">
              <a:solidFill>
                <a:srgbClr val="FF0000"/>
              </a:solidFill>
              <a:latin typeface="Cambria" panose="02040503050406030204" pitchFamily="18" charset="0"/>
              <a:ea typeface="Cambria" panose="02040503050406030204" pitchFamily="18" charset="0"/>
              <a:cs typeface="Times New Roman" panose="02020603050405020304" pitchFamily="18" charset="0"/>
            </a:endParaRPr>
          </a:p>
          <a:p>
            <a:pPr marL="285750" indent="-285750" algn="just">
              <a:lnSpc>
                <a:spcPct val="107000"/>
              </a:lnSpc>
              <a:spcAft>
                <a:spcPts val="0"/>
              </a:spcAft>
              <a:buFont typeface="Wingdings" panose="05000000000000000000" pitchFamily="2" charset="2"/>
              <a:buChar char="v"/>
            </a:pPr>
            <a:r>
              <a:rPr lang="kk-KZ" sz="2000" dirty="0">
                <a:latin typeface="Cambria" panose="02040503050406030204" pitchFamily="18" charset="0"/>
                <a:ea typeface="Cambria" panose="02040503050406030204" pitchFamily="18" charset="0"/>
                <a:cs typeface="Times New Roman" panose="02020603050405020304" pitchFamily="18" charset="0"/>
              </a:rPr>
              <a:t>-  өрт нормалары мен ережелерін әзірлеу, енгізу және бақылау;</a:t>
            </a:r>
            <a:endParaRPr lang="ru-KZ" sz="2000" dirty="0">
              <a:latin typeface="Cambria" panose="02040503050406030204" pitchFamily="18" charset="0"/>
              <a:ea typeface="Cambria" panose="02040503050406030204" pitchFamily="18" charset="0"/>
              <a:cs typeface="Times New Roman" panose="02020603050405020304" pitchFamily="18" charset="0"/>
            </a:endParaRPr>
          </a:p>
          <a:p>
            <a:pPr marL="285750" indent="-285750" algn="just">
              <a:lnSpc>
                <a:spcPct val="107000"/>
              </a:lnSpc>
              <a:spcAft>
                <a:spcPts val="0"/>
              </a:spcAft>
              <a:buFont typeface="Wingdings" panose="05000000000000000000" pitchFamily="2" charset="2"/>
              <a:buChar char="v"/>
            </a:pPr>
            <a:r>
              <a:rPr lang="kk-KZ" sz="2000" dirty="0">
                <a:latin typeface="Cambria" panose="02040503050406030204" pitchFamily="18" charset="0"/>
                <a:ea typeface="Cambria" panose="02040503050406030204" pitchFamily="18" charset="0"/>
                <a:cs typeface="Times New Roman" panose="02020603050405020304" pitchFamily="18" charset="0"/>
              </a:rPr>
              <a:t>- жасалған обьектілердің өрт қауіпсіздігін  ескере отырып құрастыру  мен жобалауды   енгізу;</a:t>
            </a:r>
            <a:endParaRPr lang="ru-KZ" sz="2000" dirty="0">
              <a:latin typeface="Cambria" panose="02040503050406030204" pitchFamily="18" charset="0"/>
              <a:ea typeface="Cambria" panose="02040503050406030204" pitchFamily="18" charset="0"/>
              <a:cs typeface="Times New Roman" panose="02020603050405020304" pitchFamily="18" charset="0"/>
            </a:endParaRPr>
          </a:p>
          <a:p>
            <a:pPr marL="285750" indent="-285750" algn="just">
              <a:lnSpc>
                <a:spcPct val="107000"/>
              </a:lnSpc>
              <a:spcAft>
                <a:spcPts val="0"/>
              </a:spcAft>
              <a:buFont typeface="Wingdings" panose="05000000000000000000" pitchFamily="2" charset="2"/>
              <a:buChar char="v"/>
            </a:pPr>
            <a:r>
              <a:rPr lang="kk-KZ" sz="2000" dirty="0">
                <a:latin typeface="Cambria" panose="02040503050406030204" pitchFamily="18" charset="0"/>
                <a:ea typeface="Cambria" panose="02040503050406030204" pitchFamily="18" charset="0"/>
                <a:cs typeface="Times New Roman" panose="02020603050405020304" pitchFamily="18" charset="0"/>
              </a:rPr>
              <a:t>-  өртке қарсы құралдарды  жетілдіру және әзірлікте ұстау;</a:t>
            </a:r>
            <a:endParaRPr lang="ru-KZ" sz="2000" dirty="0">
              <a:latin typeface="Cambria" panose="02040503050406030204" pitchFamily="18" charset="0"/>
              <a:ea typeface="Cambria" panose="02040503050406030204" pitchFamily="18" charset="0"/>
              <a:cs typeface="Times New Roman" panose="02020603050405020304" pitchFamily="18" charset="0"/>
            </a:endParaRPr>
          </a:p>
          <a:p>
            <a:pPr marL="285750" indent="-285750" algn="just">
              <a:lnSpc>
                <a:spcPct val="107000"/>
              </a:lnSpc>
              <a:spcAft>
                <a:spcPts val="0"/>
              </a:spcAft>
              <a:buFont typeface="Wingdings" panose="05000000000000000000" pitchFamily="2" charset="2"/>
              <a:buChar char="v"/>
            </a:pPr>
            <a:r>
              <a:rPr lang="kk-KZ" sz="2000" dirty="0">
                <a:latin typeface="Cambria" panose="02040503050406030204" pitchFamily="18" charset="0"/>
                <a:ea typeface="Cambria" panose="02040503050406030204" pitchFamily="18" charset="0"/>
                <a:cs typeface="Times New Roman" panose="02020603050405020304" pitchFamily="18" charset="0"/>
              </a:rPr>
              <a:t>-  өнеркәсіп және ауылшаруашылық  кәсіпорындарын, ұйымдарды, тұрғын және қоғамдық ғимараттарды, техникалық өрт  тексерістерінен  тұрақты өткізу,</a:t>
            </a:r>
            <a:endParaRPr lang="ru-KZ" sz="2000" dirty="0">
              <a:latin typeface="Cambria" panose="02040503050406030204" pitchFamily="18" charset="0"/>
              <a:ea typeface="Cambria" panose="02040503050406030204" pitchFamily="18" charset="0"/>
              <a:cs typeface="Times New Roman" panose="02020603050405020304" pitchFamily="18" charset="0"/>
            </a:endParaRPr>
          </a:p>
          <a:p>
            <a:pPr marL="285750" indent="-285750" algn="just">
              <a:lnSpc>
                <a:spcPct val="107000"/>
              </a:lnSpc>
              <a:spcAft>
                <a:spcPts val="0"/>
              </a:spcAft>
              <a:buFont typeface="Wingdings" panose="05000000000000000000" pitchFamily="2" charset="2"/>
              <a:buChar char="v"/>
            </a:pPr>
            <a:r>
              <a:rPr lang="ru-RU" sz="2000" dirty="0">
                <a:latin typeface="Cambria" panose="02040503050406030204" pitchFamily="18" charset="0"/>
                <a:ea typeface="Cambria" panose="02040503050406030204" pitchFamily="18" charset="0"/>
                <a:cs typeface="Times New Roman" panose="02020603050405020304" pitchFamily="18" charset="0"/>
              </a:rPr>
              <a:t>-  </a:t>
            </a:r>
            <a:r>
              <a:rPr lang="ru-RU" sz="2000" dirty="0" err="1">
                <a:latin typeface="Cambria" panose="02040503050406030204" pitchFamily="18" charset="0"/>
                <a:ea typeface="Cambria" panose="02040503050406030204" pitchFamily="18" charset="0"/>
                <a:cs typeface="Times New Roman" panose="02020603050405020304" pitchFamily="18" charset="0"/>
              </a:rPr>
              <a:t>халық</a:t>
            </a:r>
            <a:r>
              <a:rPr lang="ru-RU" sz="2000" dirty="0">
                <a:latin typeface="Cambria" panose="02040503050406030204" pitchFamily="18" charset="0"/>
                <a:ea typeface="Cambria" panose="02040503050406030204" pitchFamily="18" charset="0"/>
                <a:cs typeface="Times New Roman" panose="02020603050405020304" pitchFamily="18" charset="0"/>
              </a:rPr>
              <a:t> </a:t>
            </a:r>
            <a:r>
              <a:rPr lang="ru-RU" sz="2000" dirty="0" err="1">
                <a:latin typeface="Cambria" panose="02040503050406030204" pitchFamily="18" charset="0"/>
                <a:ea typeface="Cambria" panose="02040503050406030204" pitchFamily="18" charset="0"/>
                <a:cs typeface="Times New Roman" panose="02020603050405020304" pitchFamily="18" charset="0"/>
              </a:rPr>
              <a:t>арасында</a:t>
            </a:r>
            <a:r>
              <a:rPr lang="ru-RU" sz="2000" dirty="0">
                <a:latin typeface="Cambria" panose="02040503050406030204" pitchFamily="18" charset="0"/>
                <a:ea typeface="Cambria" panose="02040503050406030204" pitchFamily="18" charset="0"/>
                <a:cs typeface="Times New Roman" panose="02020603050405020304" pitchFamily="18" charset="0"/>
              </a:rPr>
              <a:t> </a:t>
            </a:r>
            <a:r>
              <a:rPr lang="ru-RU" sz="2000" dirty="0" err="1">
                <a:latin typeface="Cambria" panose="02040503050406030204" pitchFamily="18" charset="0"/>
                <a:ea typeface="Cambria" panose="02040503050406030204" pitchFamily="18" charset="0"/>
                <a:cs typeface="Times New Roman" panose="02020603050405020304" pitchFamily="18" charset="0"/>
              </a:rPr>
              <a:t>техникалық</a:t>
            </a:r>
            <a:r>
              <a:rPr lang="ru-RU" sz="2000" dirty="0">
                <a:latin typeface="Cambria" panose="02040503050406030204" pitchFamily="18" charset="0"/>
                <a:ea typeface="Cambria" panose="02040503050406030204" pitchFamily="18" charset="0"/>
                <a:cs typeface="Times New Roman" panose="02020603050405020304" pitchFamily="18" charset="0"/>
              </a:rPr>
              <a:t>  </a:t>
            </a:r>
            <a:r>
              <a:rPr lang="ru-RU" sz="2000" dirty="0" err="1">
                <a:latin typeface="Cambria" panose="02040503050406030204" pitchFamily="18" charset="0"/>
                <a:ea typeface="Cambria" panose="02040503050406030204" pitchFamily="18" charset="0"/>
                <a:cs typeface="Times New Roman" panose="02020603050405020304" pitchFamily="18" charset="0"/>
              </a:rPr>
              <a:t>өрт</a:t>
            </a:r>
            <a:r>
              <a:rPr lang="ru-RU" sz="2000" dirty="0">
                <a:latin typeface="Cambria" panose="02040503050406030204" pitchFamily="18" charset="0"/>
                <a:ea typeface="Cambria" panose="02040503050406030204" pitchFamily="18" charset="0"/>
                <a:cs typeface="Times New Roman" panose="02020603050405020304" pitchFamily="18" charset="0"/>
              </a:rPr>
              <a:t> </a:t>
            </a:r>
            <a:r>
              <a:rPr lang="ru-RU" sz="2000" dirty="0" err="1">
                <a:latin typeface="Cambria" panose="02040503050406030204" pitchFamily="18" charset="0"/>
                <a:ea typeface="Cambria" panose="02040503050406030204" pitchFamily="18" charset="0"/>
                <a:cs typeface="Times New Roman" panose="02020603050405020304" pitchFamily="18" charset="0"/>
              </a:rPr>
              <a:t>білімін</a:t>
            </a:r>
            <a:r>
              <a:rPr lang="ru-RU" sz="2000" dirty="0">
                <a:latin typeface="Cambria" panose="02040503050406030204" pitchFamily="18" charset="0"/>
                <a:ea typeface="Cambria" panose="02040503050406030204" pitchFamily="18" charset="0"/>
                <a:cs typeface="Times New Roman" panose="02020603050405020304" pitchFamily="18" charset="0"/>
              </a:rPr>
              <a:t> </a:t>
            </a:r>
            <a:r>
              <a:rPr lang="ru-RU" sz="2000" dirty="0" err="1">
                <a:latin typeface="Cambria" panose="02040503050406030204" pitchFamily="18" charset="0"/>
                <a:ea typeface="Cambria" panose="02040503050406030204" pitchFamily="18" charset="0"/>
                <a:cs typeface="Times New Roman" panose="02020603050405020304" pitchFamily="18" charset="0"/>
              </a:rPr>
              <a:t>насихаттау</a:t>
            </a:r>
            <a:r>
              <a:rPr lang="ru-RU" sz="2000" dirty="0">
                <a:latin typeface="Cambria" panose="02040503050406030204" pitchFamily="18" charset="0"/>
                <a:ea typeface="Cambria" panose="02040503050406030204" pitchFamily="18" charset="0"/>
                <a:cs typeface="Times New Roman" panose="02020603050405020304" pitchFamily="18" charset="0"/>
              </a:rPr>
              <a:t>.</a:t>
            </a:r>
            <a:endParaRPr lang="ru-KZ" sz="2000" dirty="0">
              <a:effectLst/>
              <a:latin typeface="Cambria" panose="02040503050406030204" pitchFamily="18" charset="0"/>
              <a:ea typeface="Cambria" panose="02040503050406030204" pitchFamily="18" charset="0"/>
              <a:cs typeface="Times New Roman" panose="02020603050405020304" pitchFamily="18" charset="0"/>
            </a:endParaRPr>
          </a:p>
        </p:txBody>
      </p:sp>
    </p:spTree>
    <p:extLst>
      <p:ext uri="{BB962C8B-B14F-4D97-AF65-F5344CB8AC3E}">
        <p14:creationId xmlns:p14="http://schemas.microsoft.com/office/powerpoint/2010/main" val="1828648866"/>
      </p:ext>
    </p:extLst>
  </p:cSld>
  <p:clrMapOvr>
    <a:masterClrMapping/>
  </p:clrMapOvr>
</p:sld>
</file>

<file path=ppt/theme/theme1.xml><?xml version="1.0" encoding="utf-8"?>
<a:theme xmlns:a="http://schemas.openxmlformats.org/drawingml/2006/main" name="Ретро">
  <a:themeElements>
    <a:clrScheme name="Ретро">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Ретро">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Ретро">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docProps/app.xml><?xml version="1.0" encoding="utf-8"?>
<Properties xmlns="http://schemas.openxmlformats.org/officeDocument/2006/extended-properties" xmlns:vt="http://schemas.openxmlformats.org/officeDocument/2006/docPropsVTypes">
  <Template>Retrospect</Template>
  <TotalTime>248</TotalTime>
  <Words>1713</Words>
  <Application>Microsoft Office PowerPoint</Application>
  <PresentationFormat>Широкоэкранный</PresentationFormat>
  <Paragraphs>231</Paragraphs>
  <Slides>20</Slides>
  <Notes>0</Notes>
  <HiddenSlides>0</HiddenSlides>
  <MMClips>0</MMClips>
  <ScaleCrop>false</ScaleCrop>
  <HeadingPairs>
    <vt:vector size="6" baseType="variant">
      <vt:variant>
        <vt:lpstr>Использованные шрифты</vt:lpstr>
      </vt:variant>
      <vt:variant>
        <vt:i4>7</vt:i4>
      </vt:variant>
      <vt:variant>
        <vt:lpstr>Тема</vt:lpstr>
      </vt:variant>
      <vt:variant>
        <vt:i4>1</vt:i4>
      </vt:variant>
      <vt:variant>
        <vt:lpstr>Заголовки слайдов</vt:lpstr>
      </vt:variant>
      <vt:variant>
        <vt:i4>20</vt:i4>
      </vt:variant>
    </vt:vector>
  </HeadingPairs>
  <TitlesOfParts>
    <vt:vector size="28" baseType="lpstr">
      <vt:lpstr>Arial</vt:lpstr>
      <vt:lpstr>Calibri</vt:lpstr>
      <vt:lpstr>Calibri Light</vt:lpstr>
      <vt:lpstr>Cambria</vt:lpstr>
      <vt:lpstr>Courier New</vt:lpstr>
      <vt:lpstr>Times New Roman</vt:lpstr>
      <vt:lpstr>Wingdings</vt:lpstr>
      <vt:lpstr>Ретро</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Презентация PowerPoint</dc:title>
  <dc:creator>User</dc:creator>
  <cp:lastModifiedBy>admin</cp:lastModifiedBy>
  <cp:revision>28</cp:revision>
  <dcterms:created xsi:type="dcterms:W3CDTF">2025-04-01T14:14:46Z</dcterms:created>
  <dcterms:modified xsi:type="dcterms:W3CDTF">2026-03-08T05:08:36Z</dcterms:modified>
</cp:coreProperties>
</file>