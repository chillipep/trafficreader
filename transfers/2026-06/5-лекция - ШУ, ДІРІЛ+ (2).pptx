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8"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6" r:id="rId18"/>
    <p:sldId id="273" r:id="rId19"/>
    <p:sldId id="274" r:id="rId20"/>
    <p:sldId id="275" r:id="rId21"/>
  </p:sldIdLst>
  <p:sldSz cx="12192000" cy="6858000"/>
  <p:notesSz cx="6858000" cy="9144000"/>
  <p:defaultTextStyle>
    <a:defPPr>
      <a:defRPr lang="ru-K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2" d="100"/>
          <a:sy n="42" d="100"/>
        </p:scale>
        <p:origin x="78" y="7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KZ"/>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733B9E-0D2A-4843-9CF8-420AB81634B5}" type="datetimeFigureOut">
              <a:rPr lang="ru-KZ" smtClean="0"/>
              <a:t>07.02.2026</a:t>
            </a:fld>
            <a:endParaRPr lang="ru-KZ"/>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KZ"/>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KZ"/>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B2868C-D903-4392-8B79-AC082D9B3BD1}" type="slidenum">
              <a:rPr lang="ru-KZ" smtClean="0"/>
              <a:t>‹#›</a:t>
            </a:fld>
            <a:endParaRPr lang="ru-KZ"/>
          </a:p>
        </p:txBody>
      </p:sp>
    </p:spTree>
    <p:extLst>
      <p:ext uri="{BB962C8B-B14F-4D97-AF65-F5344CB8AC3E}">
        <p14:creationId xmlns:p14="http://schemas.microsoft.com/office/powerpoint/2010/main" val="1630217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KZ" dirty="0"/>
          </a:p>
        </p:txBody>
      </p:sp>
      <p:sp>
        <p:nvSpPr>
          <p:cNvPr id="4" name="Номер слайда 3"/>
          <p:cNvSpPr>
            <a:spLocks noGrp="1"/>
          </p:cNvSpPr>
          <p:nvPr>
            <p:ph type="sldNum" sz="quarter" idx="5"/>
          </p:nvPr>
        </p:nvSpPr>
        <p:spPr/>
        <p:txBody>
          <a:bodyPr/>
          <a:lstStyle/>
          <a:p>
            <a:fld id="{06B2868C-D903-4392-8B79-AC082D9B3BD1}" type="slidenum">
              <a:rPr lang="ru-KZ" smtClean="0"/>
              <a:t>7</a:t>
            </a:fld>
            <a:endParaRPr lang="ru-KZ"/>
          </a:p>
        </p:txBody>
      </p:sp>
    </p:spTree>
    <p:extLst>
      <p:ext uri="{BB962C8B-B14F-4D97-AF65-F5344CB8AC3E}">
        <p14:creationId xmlns:p14="http://schemas.microsoft.com/office/powerpoint/2010/main" val="77226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9D5200C-47E8-42DC-A31E-7F9E2023FCE9}"/>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ru-KZ"/>
          </a:p>
        </p:txBody>
      </p:sp>
      <p:sp>
        <p:nvSpPr>
          <p:cNvPr id="3" name="Подзаголовок 2">
            <a:extLst>
              <a:ext uri="{FF2B5EF4-FFF2-40B4-BE49-F238E27FC236}">
                <a16:creationId xmlns:a16="http://schemas.microsoft.com/office/drawing/2014/main" xmlns="" id="{81C846A2-E626-49C0-BAB6-A0465C6395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ru-KZ"/>
          </a:p>
        </p:txBody>
      </p:sp>
      <p:sp>
        <p:nvSpPr>
          <p:cNvPr id="4" name="Дата 3">
            <a:extLst>
              <a:ext uri="{FF2B5EF4-FFF2-40B4-BE49-F238E27FC236}">
                <a16:creationId xmlns:a16="http://schemas.microsoft.com/office/drawing/2014/main" xmlns="" id="{BBBC9F9F-8C5B-4962-8CA4-D3206E097CA0}"/>
              </a:ext>
            </a:extLst>
          </p:cNvPr>
          <p:cNvSpPr>
            <a:spLocks noGrp="1"/>
          </p:cNvSpPr>
          <p:nvPr>
            <p:ph type="dt" sz="half" idx="10"/>
          </p:nvPr>
        </p:nvSpPr>
        <p:spPr/>
        <p:txBody>
          <a:bodyPr/>
          <a:lstStyle/>
          <a:p>
            <a:fld id="{190FE9E0-10F7-43CC-8C5E-ABF84BD18749}" type="datetimeFigureOut">
              <a:rPr lang="ru-KZ" smtClean="0"/>
              <a:t>07.02.2026</a:t>
            </a:fld>
            <a:endParaRPr lang="ru-KZ"/>
          </a:p>
        </p:txBody>
      </p:sp>
      <p:sp>
        <p:nvSpPr>
          <p:cNvPr id="5" name="Нижний колонтитул 4">
            <a:extLst>
              <a:ext uri="{FF2B5EF4-FFF2-40B4-BE49-F238E27FC236}">
                <a16:creationId xmlns:a16="http://schemas.microsoft.com/office/drawing/2014/main" xmlns="" id="{4944AC68-AD95-467F-BF75-0F4C392F92B7}"/>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xmlns="" id="{CF4C0D71-6EDE-46B3-9C28-C51E42C6316E}"/>
              </a:ext>
            </a:extLst>
          </p:cNvPr>
          <p:cNvSpPr>
            <a:spLocks noGrp="1"/>
          </p:cNvSpPr>
          <p:nvPr>
            <p:ph type="sldNum" sz="quarter" idx="12"/>
          </p:nvPr>
        </p:nvSpPr>
        <p:spPr/>
        <p:txBody>
          <a:bodyPr/>
          <a:lstStyle/>
          <a:p>
            <a:fld id="{8C395328-960B-4ED8-B38E-77BE9D557962}" type="slidenum">
              <a:rPr lang="ru-KZ" smtClean="0"/>
              <a:t>‹#›</a:t>
            </a:fld>
            <a:endParaRPr lang="ru-KZ"/>
          </a:p>
        </p:txBody>
      </p:sp>
    </p:spTree>
    <p:extLst>
      <p:ext uri="{BB962C8B-B14F-4D97-AF65-F5344CB8AC3E}">
        <p14:creationId xmlns:p14="http://schemas.microsoft.com/office/powerpoint/2010/main" val="1863179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CBCEEFD-0B08-4AAE-B284-2C127C6152EB}"/>
              </a:ext>
            </a:extLst>
          </p:cNvPr>
          <p:cNvSpPr>
            <a:spLocks noGrp="1"/>
          </p:cNvSpPr>
          <p:nvPr>
            <p:ph type="title"/>
          </p:nvPr>
        </p:nvSpPr>
        <p:spPr/>
        <p:txBody>
          <a:bodyPr/>
          <a:lstStyle/>
          <a:p>
            <a:r>
              <a:rPr lang="ru-RU"/>
              <a:t>Образец заголовка</a:t>
            </a:r>
            <a:endParaRPr lang="ru-KZ"/>
          </a:p>
        </p:txBody>
      </p:sp>
      <p:sp>
        <p:nvSpPr>
          <p:cNvPr id="3" name="Объект 2">
            <a:extLst>
              <a:ext uri="{FF2B5EF4-FFF2-40B4-BE49-F238E27FC236}">
                <a16:creationId xmlns:a16="http://schemas.microsoft.com/office/drawing/2014/main" xmlns="" id="{D30840BB-4F91-4C2F-8DDA-2B66D11EE27D}"/>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Дата 3">
            <a:extLst>
              <a:ext uri="{FF2B5EF4-FFF2-40B4-BE49-F238E27FC236}">
                <a16:creationId xmlns:a16="http://schemas.microsoft.com/office/drawing/2014/main" xmlns="" id="{B68AE45B-4376-4CC6-B42A-A1FB4665D5C1}"/>
              </a:ext>
            </a:extLst>
          </p:cNvPr>
          <p:cNvSpPr>
            <a:spLocks noGrp="1"/>
          </p:cNvSpPr>
          <p:nvPr>
            <p:ph type="dt" sz="half" idx="10"/>
          </p:nvPr>
        </p:nvSpPr>
        <p:spPr/>
        <p:txBody>
          <a:bodyPr/>
          <a:lstStyle/>
          <a:p>
            <a:fld id="{190FE9E0-10F7-43CC-8C5E-ABF84BD18749}" type="datetimeFigureOut">
              <a:rPr lang="ru-KZ" smtClean="0"/>
              <a:t>07.02.2026</a:t>
            </a:fld>
            <a:endParaRPr lang="ru-KZ"/>
          </a:p>
        </p:txBody>
      </p:sp>
      <p:sp>
        <p:nvSpPr>
          <p:cNvPr id="5" name="Нижний колонтитул 4">
            <a:extLst>
              <a:ext uri="{FF2B5EF4-FFF2-40B4-BE49-F238E27FC236}">
                <a16:creationId xmlns:a16="http://schemas.microsoft.com/office/drawing/2014/main" xmlns="" id="{F12F4EA9-C63E-457B-8EEE-3E1D21962869}"/>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xmlns="" id="{94E2C05F-7936-4B47-829C-9A74F121F6AE}"/>
              </a:ext>
            </a:extLst>
          </p:cNvPr>
          <p:cNvSpPr>
            <a:spLocks noGrp="1"/>
          </p:cNvSpPr>
          <p:nvPr>
            <p:ph type="sldNum" sz="quarter" idx="12"/>
          </p:nvPr>
        </p:nvSpPr>
        <p:spPr/>
        <p:txBody>
          <a:bodyPr/>
          <a:lstStyle/>
          <a:p>
            <a:fld id="{8C395328-960B-4ED8-B38E-77BE9D557962}" type="slidenum">
              <a:rPr lang="ru-KZ" smtClean="0"/>
              <a:t>‹#›</a:t>
            </a:fld>
            <a:endParaRPr lang="ru-KZ"/>
          </a:p>
        </p:txBody>
      </p:sp>
    </p:spTree>
    <p:extLst>
      <p:ext uri="{BB962C8B-B14F-4D97-AF65-F5344CB8AC3E}">
        <p14:creationId xmlns:p14="http://schemas.microsoft.com/office/powerpoint/2010/main" val="4136553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3D63B7A8-CED2-4924-95B6-BFEDABF059E4}"/>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ru-KZ"/>
          </a:p>
        </p:txBody>
      </p:sp>
      <p:sp>
        <p:nvSpPr>
          <p:cNvPr id="3" name="Текст 2">
            <a:extLst>
              <a:ext uri="{FF2B5EF4-FFF2-40B4-BE49-F238E27FC236}">
                <a16:creationId xmlns:a16="http://schemas.microsoft.com/office/drawing/2014/main" xmlns="" id="{EC14D45D-166D-4F42-BB76-9DF4A85CF2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xmlns="" id="{EDA40F21-A2C8-4B7C-BDA6-62970E0E9A63}"/>
              </a:ext>
            </a:extLst>
          </p:cNvPr>
          <p:cNvSpPr>
            <a:spLocks noGrp="1"/>
          </p:cNvSpPr>
          <p:nvPr>
            <p:ph type="dt" sz="half" idx="10"/>
          </p:nvPr>
        </p:nvSpPr>
        <p:spPr/>
        <p:txBody>
          <a:bodyPr/>
          <a:lstStyle/>
          <a:p>
            <a:fld id="{190FE9E0-10F7-43CC-8C5E-ABF84BD18749}" type="datetimeFigureOut">
              <a:rPr lang="ru-KZ" smtClean="0"/>
              <a:t>07.02.2026</a:t>
            </a:fld>
            <a:endParaRPr lang="ru-KZ"/>
          </a:p>
        </p:txBody>
      </p:sp>
      <p:sp>
        <p:nvSpPr>
          <p:cNvPr id="5" name="Нижний колонтитул 4">
            <a:extLst>
              <a:ext uri="{FF2B5EF4-FFF2-40B4-BE49-F238E27FC236}">
                <a16:creationId xmlns:a16="http://schemas.microsoft.com/office/drawing/2014/main" xmlns="" id="{64B55448-7143-4512-9765-568C6DE60B4B}"/>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xmlns="" id="{39CE92C8-CDDD-48B6-9C45-3BA55273DFCC}"/>
              </a:ext>
            </a:extLst>
          </p:cNvPr>
          <p:cNvSpPr>
            <a:spLocks noGrp="1"/>
          </p:cNvSpPr>
          <p:nvPr>
            <p:ph type="sldNum" sz="quarter" idx="12"/>
          </p:nvPr>
        </p:nvSpPr>
        <p:spPr/>
        <p:txBody>
          <a:bodyPr/>
          <a:lstStyle/>
          <a:p>
            <a:fld id="{8C395328-960B-4ED8-B38E-77BE9D557962}" type="slidenum">
              <a:rPr lang="ru-KZ" smtClean="0"/>
              <a:t>‹#›</a:t>
            </a:fld>
            <a:endParaRPr lang="ru-KZ"/>
          </a:p>
        </p:txBody>
      </p:sp>
    </p:spTree>
    <p:extLst>
      <p:ext uri="{BB962C8B-B14F-4D97-AF65-F5344CB8AC3E}">
        <p14:creationId xmlns:p14="http://schemas.microsoft.com/office/powerpoint/2010/main" val="3928727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849D4DFB-C4D8-44DE-9250-7B9B43B7D505}"/>
              </a:ext>
            </a:extLst>
          </p:cNvPr>
          <p:cNvSpPr>
            <a:spLocks noGrp="1"/>
          </p:cNvSpPr>
          <p:nvPr>
            <p:ph type="title"/>
          </p:nvPr>
        </p:nvSpPr>
        <p:spPr/>
        <p:txBody>
          <a:bodyPr/>
          <a:lstStyle/>
          <a:p>
            <a:r>
              <a:rPr lang="ru-RU"/>
              <a:t>Образец заголовка</a:t>
            </a:r>
            <a:endParaRPr lang="ru-KZ"/>
          </a:p>
        </p:txBody>
      </p:sp>
      <p:sp>
        <p:nvSpPr>
          <p:cNvPr id="3" name="Объект 2">
            <a:extLst>
              <a:ext uri="{FF2B5EF4-FFF2-40B4-BE49-F238E27FC236}">
                <a16:creationId xmlns:a16="http://schemas.microsoft.com/office/drawing/2014/main" xmlns="" id="{4A1E75E2-6670-4A6D-A41A-4E466221CB6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Объект 3">
            <a:extLst>
              <a:ext uri="{FF2B5EF4-FFF2-40B4-BE49-F238E27FC236}">
                <a16:creationId xmlns:a16="http://schemas.microsoft.com/office/drawing/2014/main" xmlns="" id="{CD8AA123-BD53-452B-8A1E-69B4A4620C70}"/>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5" name="Дата 4">
            <a:extLst>
              <a:ext uri="{FF2B5EF4-FFF2-40B4-BE49-F238E27FC236}">
                <a16:creationId xmlns:a16="http://schemas.microsoft.com/office/drawing/2014/main" xmlns="" id="{2BE868C0-9BF6-4510-BC2D-FD260372CC3D}"/>
              </a:ext>
            </a:extLst>
          </p:cNvPr>
          <p:cNvSpPr>
            <a:spLocks noGrp="1"/>
          </p:cNvSpPr>
          <p:nvPr>
            <p:ph type="dt" sz="half" idx="10"/>
          </p:nvPr>
        </p:nvSpPr>
        <p:spPr/>
        <p:txBody>
          <a:bodyPr/>
          <a:lstStyle/>
          <a:p>
            <a:fld id="{190FE9E0-10F7-43CC-8C5E-ABF84BD18749}" type="datetimeFigureOut">
              <a:rPr lang="ru-KZ" smtClean="0"/>
              <a:t>07.02.2026</a:t>
            </a:fld>
            <a:endParaRPr lang="ru-KZ"/>
          </a:p>
        </p:txBody>
      </p:sp>
      <p:sp>
        <p:nvSpPr>
          <p:cNvPr id="6" name="Нижний колонтитул 5">
            <a:extLst>
              <a:ext uri="{FF2B5EF4-FFF2-40B4-BE49-F238E27FC236}">
                <a16:creationId xmlns:a16="http://schemas.microsoft.com/office/drawing/2014/main" xmlns="" id="{FF1611CA-BC28-4F5F-99A5-DF21B2BF9910}"/>
              </a:ext>
            </a:extLst>
          </p:cNvPr>
          <p:cNvSpPr>
            <a:spLocks noGrp="1"/>
          </p:cNvSpPr>
          <p:nvPr>
            <p:ph type="ftr" sz="quarter" idx="11"/>
          </p:nvPr>
        </p:nvSpPr>
        <p:spPr/>
        <p:txBody>
          <a:bodyPr/>
          <a:lstStyle/>
          <a:p>
            <a:endParaRPr lang="ru-KZ"/>
          </a:p>
        </p:txBody>
      </p:sp>
      <p:sp>
        <p:nvSpPr>
          <p:cNvPr id="7" name="Номер слайда 6">
            <a:extLst>
              <a:ext uri="{FF2B5EF4-FFF2-40B4-BE49-F238E27FC236}">
                <a16:creationId xmlns:a16="http://schemas.microsoft.com/office/drawing/2014/main" xmlns="" id="{0A23593E-9165-4B40-BCE4-8950FD9396C7}"/>
              </a:ext>
            </a:extLst>
          </p:cNvPr>
          <p:cNvSpPr>
            <a:spLocks noGrp="1"/>
          </p:cNvSpPr>
          <p:nvPr>
            <p:ph type="sldNum" sz="quarter" idx="12"/>
          </p:nvPr>
        </p:nvSpPr>
        <p:spPr/>
        <p:txBody>
          <a:bodyPr/>
          <a:lstStyle/>
          <a:p>
            <a:fld id="{8C395328-960B-4ED8-B38E-77BE9D557962}" type="slidenum">
              <a:rPr lang="ru-KZ" smtClean="0"/>
              <a:t>‹#›</a:t>
            </a:fld>
            <a:endParaRPr lang="ru-KZ"/>
          </a:p>
        </p:txBody>
      </p:sp>
    </p:spTree>
    <p:extLst>
      <p:ext uri="{BB962C8B-B14F-4D97-AF65-F5344CB8AC3E}">
        <p14:creationId xmlns:p14="http://schemas.microsoft.com/office/powerpoint/2010/main" val="323302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7E390E33-A9C8-47B8-BD60-BBB63BFDE2A7}"/>
              </a:ext>
            </a:extLst>
          </p:cNvPr>
          <p:cNvSpPr>
            <a:spLocks noGrp="1"/>
          </p:cNvSpPr>
          <p:nvPr>
            <p:ph type="title"/>
          </p:nvPr>
        </p:nvSpPr>
        <p:spPr>
          <a:xfrm>
            <a:off x="839788" y="365125"/>
            <a:ext cx="10515600" cy="1325563"/>
          </a:xfrm>
        </p:spPr>
        <p:txBody>
          <a:bodyPr/>
          <a:lstStyle/>
          <a:p>
            <a:r>
              <a:rPr lang="ru-RU"/>
              <a:t>Образец заголовка</a:t>
            </a:r>
            <a:endParaRPr lang="ru-KZ"/>
          </a:p>
        </p:txBody>
      </p:sp>
      <p:sp>
        <p:nvSpPr>
          <p:cNvPr id="3" name="Текст 2">
            <a:extLst>
              <a:ext uri="{FF2B5EF4-FFF2-40B4-BE49-F238E27FC236}">
                <a16:creationId xmlns:a16="http://schemas.microsoft.com/office/drawing/2014/main" xmlns="" id="{569B5BFF-9E55-4D00-BBEB-5A91475562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xmlns="" id="{6E3ABAEB-33B8-4BA5-8BDD-C85030C35852}"/>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5" name="Текст 4">
            <a:extLst>
              <a:ext uri="{FF2B5EF4-FFF2-40B4-BE49-F238E27FC236}">
                <a16:creationId xmlns:a16="http://schemas.microsoft.com/office/drawing/2014/main" xmlns="" id="{1E3B325C-66E5-41E3-8F7F-6A85195CA0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xmlns="" id="{BFDD0CAB-DD74-4CA8-A36E-E8D93A531386}"/>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7" name="Дата 6">
            <a:extLst>
              <a:ext uri="{FF2B5EF4-FFF2-40B4-BE49-F238E27FC236}">
                <a16:creationId xmlns:a16="http://schemas.microsoft.com/office/drawing/2014/main" xmlns="" id="{5613D079-50C3-4F0B-9D94-4906271FDEF6}"/>
              </a:ext>
            </a:extLst>
          </p:cNvPr>
          <p:cNvSpPr>
            <a:spLocks noGrp="1"/>
          </p:cNvSpPr>
          <p:nvPr>
            <p:ph type="dt" sz="half" idx="10"/>
          </p:nvPr>
        </p:nvSpPr>
        <p:spPr/>
        <p:txBody>
          <a:bodyPr/>
          <a:lstStyle/>
          <a:p>
            <a:fld id="{190FE9E0-10F7-43CC-8C5E-ABF84BD18749}" type="datetimeFigureOut">
              <a:rPr lang="ru-KZ" smtClean="0"/>
              <a:t>07.02.2026</a:t>
            </a:fld>
            <a:endParaRPr lang="ru-KZ"/>
          </a:p>
        </p:txBody>
      </p:sp>
      <p:sp>
        <p:nvSpPr>
          <p:cNvPr id="8" name="Нижний колонтитул 7">
            <a:extLst>
              <a:ext uri="{FF2B5EF4-FFF2-40B4-BE49-F238E27FC236}">
                <a16:creationId xmlns:a16="http://schemas.microsoft.com/office/drawing/2014/main" xmlns="" id="{B1E073FB-A885-4EFF-A93F-E42647D35210}"/>
              </a:ext>
            </a:extLst>
          </p:cNvPr>
          <p:cNvSpPr>
            <a:spLocks noGrp="1"/>
          </p:cNvSpPr>
          <p:nvPr>
            <p:ph type="ftr" sz="quarter" idx="11"/>
          </p:nvPr>
        </p:nvSpPr>
        <p:spPr/>
        <p:txBody>
          <a:bodyPr/>
          <a:lstStyle/>
          <a:p>
            <a:endParaRPr lang="ru-KZ"/>
          </a:p>
        </p:txBody>
      </p:sp>
      <p:sp>
        <p:nvSpPr>
          <p:cNvPr id="9" name="Номер слайда 8">
            <a:extLst>
              <a:ext uri="{FF2B5EF4-FFF2-40B4-BE49-F238E27FC236}">
                <a16:creationId xmlns:a16="http://schemas.microsoft.com/office/drawing/2014/main" xmlns="" id="{5C6E5B24-0A49-4923-A97C-0ACA9C9B2280}"/>
              </a:ext>
            </a:extLst>
          </p:cNvPr>
          <p:cNvSpPr>
            <a:spLocks noGrp="1"/>
          </p:cNvSpPr>
          <p:nvPr>
            <p:ph type="sldNum" sz="quarter" idx="12"/>
          </p:nvPr>
        </p:nvSpPr>
        <p:spPr/>
        <p:txBody>
          <a:bodyPr/>
          <a:lstStyle/>
          <a:p>
            <a:fld id="{8C395328-960B-4ED8-B38E-77BE9D557962}" type="slidenum">
              <a:rPr lang="ru-KZ" smtClean="0"/>
              <a:t>‹#›</a:t>
            </a:fld>
            <a:endParaRPr lang="ru-KZ"/>
          </a:p>
        </p:txBody>
      </p:sp>
    </p:spTree>
    <p:extLst>
      <p:ext uri="{BB962C8B-B14F-4D97-AF65-F5344CB8AC3E}">
        <p14:creationId xmlns:p14="http://schemas.microsoft.com/office/powerpoint/2010/main" val="2881807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6CB0384-3D96-4052-964B-D217558A85A4}"/>
              </a:ext>
            </a:extLst>
          </p:cNvPr>
          <p:cNvSpPr>
            <a:spLocks noGrp="1"/>
          </p:cNvSpPr>
          <p:nvPr>
            <p:ph type="title"/>
          </p:nvPr>
        </p:nvSpPr>
        <p:spPr/>
        <p:txBody>
          <a:bodyPr/>
          <a:lstStyle/>
          <a:p>
            <a:r>
              <a:rPr lang="ru-RU"/>
              <a:t>Образец заголовка</a:t>
            </a:r>
            <a:endParaRPr lang="ru-KZ"/>
          </a:p>
        </p:txBody>
      </p:sp>
      <p:sp>
        <p:nvSpPr>
          <p:cNvPr id="3" name="Дата 2">
            <a:extLst>
              <a:ext uri="{FF2B5EF4-FFF2-40B4-BE49-F238E27FC236}">
                <a16:creationId xmlns:a16="http://schemas.microsoft.com/office/drawing/2014/main" xmlns="" id="{6429AA53-8574-4621-AC46-6C630E095C32}"/>
              </a:ext>
            </a:extLst>
          </p:cNvPr>
          <p:cNvSpPr>
            <a:spLocks noGrp="1"/>
          </p:cNvSpPr>
          <p:nvPr>
            <p:ph type="dt" sz="half" idx="10"/>
          </p:nvPr>
        </p:nvSpPr>
        <p:spPr/>
        <p:txBody>
          <a:bodyPr/>
          <a:lstStyle/>
          <a:p>
            <a:fld id="{190FE9E0-10F7-43CC-8C5E-ABF84BD18749}" type="datetimeFigureOut">
              <a:rPr lang="ru-KZ" smtClean="0"/>
              <a:t>07.02.2026</a:t>
            </a:fld>
            <a:endParaRPr lang="ru-KZ"/>
          </a:p>
        </p:txBody>
      </p:sp>
      <p:sp>
        <p:nvSpPr>
          <p:cNvPr id="4" name="Нижний колонтитул 3">
            <a:extLst>
              <a:ext uri="{FF2B5EF4-FFF2-40B4-BE49-F238E27FC236}">
                <a16:creationId xmlns:a16="http://schemas.microsoft.com/office/drawing/2014/main" xmlns="" id="{70C4F36F-F6C0-41DC-8AF5-416FBA110880}"/>
              </a:ext>
            </a:extLst>
          </p:cNvPr>
          <p:cNvSpPr>
            <a:spLocks noGrp="1"/>
          </p:cNvSpPr>
          <p:nvPr>
            <p:ph type="ftr" sz="quarter" idx="11"/>
          </p:nvPr>
        </p:nvSpPr>
        <p:spPr/>
        <p:txBody>
          <a:bodyPr/>
          <a:lstStyle/>
          <a:p>
            <a:endParaRPr lang="ru-KZ"/>
          </a:p>
        </p:txBody>
      </p:sp>
      <p:sp>
        <p:nvSpPr>
          <p:cNvPr id="5" name="Номер слайда 4">
            <a:extLst>
              <a:ext uri="{FF2B5EF4-FFF2-40B4-BE49-F238E27FC236}">
                <a16:creationId xmlns:a16="http://schemas.microsoft.com/office/drawing/2014/main" xmlns="" id="{E5063101-67CF-4741-9477-A0620EF26A22}"/>
              </a:ext>
            </a:extLst>
          </p:cNvPr>
          <p:cNvSpPr>
            <a:spLocks noGrp="1"/>
          </p:cNvSpPr>
          <p:nvPr>
            <p:ph type="sldNum" sz="quarter" idx="12"/>
          </p:nvPr>
        </p:nvSpPr>
        <p:spPr/>
        <p:txBody>
          <a:bodyPr/>
          <a:lstStyle/>
          <a:p>
            <a:fld id="{8C395328-960B-4ED8-B38E-77BE9D557962}" type="slidenum">
              <a:rPr lang="ru-KZ" smtClean="0"/>
              <a:t>‹#›</a:t>
            </a:fld>
            <a:endParaRPr lang="ru-KZ"/>
          </a:p>
        </p:txBody>
      </p:sp>
    </p:spTree>
    <p:extLst>
      <p:ext uri="{BB962C8B-B14F-4D97-AF65-F5344CB8AC3E}">
        <p14:creationId xmlns:p14="http://schemas.microsoft.com/office/powerpoint/2010/main" val="3221131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xmlns="" id="{C9AA6BA4-5C28-40D8-BD72-231464EF7E79}"/>
              </a:ext>
            </a:extLst>
          </p:cNvPr>
          <p:cNvSpPr>
            <a:spLocks noGrp="1"/>
          </p:cNvSpPr>
          <p:nvPr>
            <p:ph type="dt" sz="half" idx="10"/>
          </p:nvPr>
        </p:nvSpPr>
        <p:spPr/>
        <p:txBody>
          <a:bodyPr/>
          <a:lstStyle/>
          <a:p>
            <a:fld id="{190FE9E0-10F7-43CC-8C5E-ABF84BD18749}" type="datetimeFigureOut">
              <a:rPr lang="ru-KZ" smtClean="0"/>
              <a:t>07.02.2026</a:t>
            </a:fld>
            <a:endParaRPr lang="ru-KZ"/>
          </a:p>
        </p:txBody>
      </p:sp>
      <p:sp>
        <p:nvSpPr>
          <p:cNvPr id="3" name="Нижний колонтитул 2">
            <a:extLst>
              <a:ext uri="{FF2B5EF4-FFF2-40B4-BE49-F238E27FC236}">
                <a16:creationId xmlns:a16="http://schemas.microsoft.com/office/drawing/2014/main" xmlns="" id="{AA4BBB09-1625-4419-968E-BE739D80500F}"/>
              </a:ext>
            </a:extLst>
          </p:cNvPr>
          <p:cNvSpPr>
            <a:spLocks noGrp="1"/>
          </p:cNvSpPr>
          <p:nvPr>
            <p:ph type="ftr" sz="quarter" idx="11"/>
          </p:nvPr>
        </p:nvSpPr>
        <p:spPr/>
        <p:txBody>
          <a:bodyPr/>
          <a:lstStyle/>
          <a:p>
            <a:endParaRPr lang="ru-KZ"/>
          </a:p>
        </p:txBody>
      </p:sp>
      <p:sp>
        <p:nvSpPr>
          <p:cNvPr id="4" name="Номер слайда 3">
            <a:extLst>
              <a:ext uri="{FF2B5EF4-FFF2-40B4-BE49-F238E27FC236}">
                <a16:creationId xmlns:a16="http://schemas.microsoft.com/office/drawing/2014/main" xmlns="" id="{7A7F9057-27CC-403E-AFF2-D0ACD0AD5D45}"/>
              </a:ext>
            </a:extLst>
          </p:cNvPr>
          <p:cNvSpPr>
            <a:spLocks noGrp="1"/>
          </p:cNvSpPr>
          <p:nvPr>
            <p:ph type="sldNum" sz="quarter" idx="12"/>
          </p:nvPr>
        </p:nvSpPr>
        <p:spPr/>
        <p:txBody>
          <a:bodyPr/>
          <a:lstStyle/>
          <a:p>
            <a:fld id="{8C395328-960B-4ED8-B38E-77BE9D557962}" type="slidenum">
              <a:rPr lang="ru-KZ" smtClean="0"/>
              <a:t>‹#›</a:t>
            </a:fld>
            <a:endParaRPr lang="ru-KZ"/>
          </a:p>
        </p:txBody>
      </p:sp>
    </p:spTree>
    <p:extLst>
      <p:ext uri="{BB962C8B-B14F-4D97-AF65-F5344CB8AC3E}">
        <p14:creationId xmlns:p14="http://schemas.microsoft.com/office/powerpoint/2010/main" val="701258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7B2F4F7-0F7D-4FBA-AA4B-92BBA18DF15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KZ"/>
          </a:p>
        </p:txBody>
      </p:sp>
      <p:sp>
        <p:nvSpPr>
          <p:cNvPr id="3" name="Объект 2">
            <a:extLst>
              <a:ext uri="{FF2B5EF4-FFF2-40B4-BE49-F238E27FC236}">
                <a16:creationId xmlns:a16="http://schemas.microsoft.com/office/drawing/2014/main" xmlns="" id="{7CADA812-9CFF-4934-A9D3-68464FA589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Текст 3">
            <a:extLst>
              <a:ext uri="{FF2B5EF4-FFF2-40B4-BE49-F238E27FC236}">
                <a16:creationId xmlns:a16="http://schemas.microsoft.com/office/drawing/2014/main" xmlns="" id="{DDE778FF-1D75-4B82-95B8-7DB756EAD4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xmlns="" id="{962EEBC6-5E21-442E-A4FB-F1F1013CFDF8}"/>
              </a:ext>
            </a:extLst>
          </p:cNvPr>
          <p:cNvSpPr>
            <a:spLocks noGrp="1"/>
          </p:cNvSpPr>
          <p:nvPr>
            <p:ph type="dt" sz="half" idx="10"/>
          </p:nvPr>
        </p:nvSpPr>
        <p:spPr/>
        <p:txBody>
          <a:bodyPr/>
          <a:lstStyle/>
          <a:p>
            <a:fld id="{190FE9E0-10F7-43CC-8C5E-ABF84BD18749}" type="datetimeFigureOut">
              <a:rPr lang="ru-KZ" smtClean="0"/>
              <a:t>07.02.2026</a:t>
            </a:fld>
            <a:endParaRPr lang="ru-KZ"/>
          </a:p>
        </p:txBody>
      </p:sp>
      <p:sp>
        <p:nvSpPr>
          <p:cNvPr id="6" name="Нижний колонтитул 5">
            <a:extLst>
              <a:ext uri="{FF2B5EF4-FFF2-40B4-BE49-F238E27FC236}">
                <a16:creationId xmlns:a16="http://schemas.microsoft.com/office/drawing/2014/main" xmlns="" id="{2319385A-2A89-4DDD-B7CB-E78DC196B72A}"/>
              </a:ext>
            </a:extLst>
          </p:cNvPr>
          <p:cNvSpPr>
            <a:spLocks noGrp="1"/>
          </p:cNvSpPr>
          <p:nvPr>
            <p:ph type="ftr" sz="quarter" idx="11"/>
          </p:nvPr>
        </p:nvSpPr>
        <p:spPr/>
        <p:txBody>
          <a:bodyPr/>
          <a:lstStyle/>
          <a:p>
            <a:endParaRPr lang="ru-KZ"/>
          </a:p>
        </p:txBody>
      </p:sp>
      <p:sp>
        <p:nvSpPr>
          <p:cNvPr id="7" name="Номер слайда 6">
            <a:extLst>
              <a:ext uri="{FF2B5EF4-FFF2-40B4-BE49-F238E27FC236}">
                <a16:creationId xmlns:a16="http://schemas.microsoft.com/office/drawing/2014/main" xmlns="" id="{D5D42A5E-2538-4806-B97D-9C569E101122}"/>
              </a:ext>
            </a:extLst>
          </p:cNvPr>
          <p:cNvSpPr>
            <a:spLocks noGrp="1"/>
          </p:cNvSpPr>
          <p:nvPr>
            <p:ph type="sldNum" sz="quarter" idx="12"/>
          </p:nvPr>
        </p:nvSpPr>
        <p:spPr/>
        <p:txBody>
          <a:bodyPr/>
          <a:lstStyle/>
          <a:p>
            <a:fld id="{8C395328-960B-4ED8-B38E-77BE9D557962}" type="slidenum">
              <a:rPr lang="ru-KZ" smtClean="0"/>
              <a:t>‹#›</a:t>
            </a:fld>
            <a:endParaRPr lang="ru-KZ"/>
          </a:p>
        </p:txBody>
      </p:sp>
    </p:spTree>
    <p:extLst>
      <p:ext uri="{BB962C8B-B14F-4D97-AF65-F5344CB8AC3E}">
        <p14:creationId xmlns:p14="http://schemas.microsoft.com/office/powerpoint/2010/main" val="1880879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A8092A0-84CF-436D-B89C-2E852B64E76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KZ"/>
          </a:p>
        </p:txBody>
      </p:sp>
      <p:sp>
        <p:nvSpPr>
          <p:cNvPr id="3" name="Рисунок 2">
            <a:extLst>
              <a:ext uri="{FF2B5EF4-FFF2-40B4-BE49-F238E27FC236}">
                <a16:creationId xmlns:a16="http://schemas.microsoft.com/office/drawing/2014/main" xmlns="" id="{A42CB9C8-2477-4BA8-8C47-FEA9C4667D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KZ"/>
          </a:p>
        </p:txBody>
      </p:sp>
      <p:sp>
        <p:nvSpPr>
          <p:cNvPr id="4" name="Текст 3">
            <a:extLst>
              <a:ext uri="{FF2B5EF4-FFF2-40B4-BE49-F238E27FC236}">
                <a16:creationId xmlns:a16="http://schemas.microsoft.com/office/drawing/2014/main" xmlns="" id="{8063BEF9-0F57-48D9-9BA6-CC82BF5F69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xmlns="" id="{BDCCC1CA-042E-46E9-B13C-507FF479B0BD}"/>
              </a:ext>
            </a:extLst>
          </p:cNvPr>
          <p:cNvSpPr>
            <a:spLocks noGrp="1"/>
          </p:cNvSpPr>
          <p:nvPr>
            <p:ph type="dt" sz="half" idx="10"/>
          </p:nvPr>
        </p:nvSpPr>
        <p:spPr/>
        <p:txBody>
          <a:bodyPr/>
          <a:lstStyle/>
          <a:p>
            <a:fld id="{190FE9E0-10F7-43CC-8C5E-ABF84BD18749}" type="datetimeFigureOut">
              <a:rPr lang="ru-KZ" smtClean="0"/>
              <a:t>07.02.2026</a:t>
            </a:fld>
            <a:endParaRPr lang="ru-KZ"/>
          </a:p>
        </p:txBody>
      </p:sp>
      <p:sp>
        <p:nvSpPr>
          <p:cNvPr id="6" name="Нижний колонтитул 5">
            <a:extLst>
              <a:ext uri="{FF2B5EF4-FFF2-40B4-BE49-F238E27FC236}">
                <a16:creationId xmlns:a16="http://schemas.microsoft.com/office/drawing/2014/main" xmlns="" id="{3CADB15B-93B7-4223-9E6F-96E7EF64636B}"/>
              </a:ext>
            </a:extLst>
          </p:cNvPr>
          <p:cNvSpPr>
            <a:spLocks noGrp="1"/>
          </p:cNvSpPr>
          <p:nvPr>
            <p:ph type="ftr" sz="quarter" idx="11"/>
          </p:nvPr>
        </p:nvSpPr>
        <p:spPr/>
        <p:txBody>
          <a:bodyPr/>
          <a:lstStyle/>
          <a:p>
            <a:endParaRPr lang="ru-KZ"/>
          </a:p>
        </p:txBody>
      </p:sp>
      <p:sp>
        <p:nvSpPr>
          <p:cNvPr id="7" name="Номер слайда 6">
            <a:extLst>
              <a:ext uri="{FF2B5EF4-FFF2-40B4-BE49-F238E27FC236}">
                <a16:creationId xmlns:a16="http://schemas.microsoft.com/office/drawing/2014/main" xmlns="" id="{BDB84838-1A90-451D-A24A-FC022A695D3C}"/>
              </a:ext>
            </a:extLst>
          </p:cNvPr>
          <p:cNvSpPr>
            <a:spLocks noGrp="1"/>
          </p:cNvSpPr>
          <p:nvPr>
            <p:ph type="sldNum" sz="quarter" idx="12"/>
          </p:nvPr>
        </p:nvSpPr>
        <p:spPr/>
        <p:txBody>
          <a:bodyPr/>
          <a:lstStyle/>
          <a:p>
            <a:fld id="{8C395328-960B-4ED8-B38E-77BE9D557962}" type="slidenum">
              <a:rPr lang="ru-KZ" smtClean="0"/>
              <a:t>‹#›</a:t>
            </a:fld>
            <a:endParaRPr lang="ru-KZ"/>
          </a:p>
        </p:txBody>
      </p:sp>
    </p:spTree>
    <p:extLst>
      <p:ext uri="{BB962C8B-B14F-4D97-AF65-F5344CB8AC3E}">
        <p14:creationId xmlns:p14="http://schemas.microsoft.com/office/powerpoint/2010/main" val="681475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FB9A0342-943C-4318-8C8E-04861C3A055A}"/>
              </a:ext>
            </a:extLst>
          </p:cNvPr>
          <p:cNvSpPr>
            <a:spLocks noGrp="1"/>
          </p:cNvSpPr>
          <p:nvPr>
            <p:ph type="title"/>
          </p:nvPr>
        </p:nvSpPr>
        <p:spPr/>
        <p:txBody>
          <a:bodyPr/>
          <a:lstStyle/>
          <a:p>
            <a:r>
              <a:rPr lang="ru-RU"/>
              <a:t>Образец заголовка</a:t>
            </a:r>
            <a:endParaRPr lang="ru-KZ"/>
          </a:p>
        </p:txBody>
      </p:sp>
      <p:sp>
        <p:nvSpPr>
          <p:cNvPr id="3" name="Вертикальный текст 2">
            <a:extLst>
              <a:ext uri="{FF2B5EF4-FFF2-40B4-BE49-F238E27FC236}">
                <a16:creationId xmlns:a16="http://schemas.microsoft.com/office/drawing/2014/main" xmlns="" id="{ACE5FEC7-BCEF-41A1-9C97-61AD083A963A}"/>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Дата 3">
            <a:extLst>
              <a:ext uri="{FF2B5EF4-FFF2-40B4-BE49-F238E27FC236}">
                <a16:creationId xmlns:a16="http://schemas.microsoft.com/office/drawing/2014/main" xmlns="" id="{0D73780A-21C0-46A4-831F-66E382018365}"/>
              </a:ext>
            </a:extLst>
          </p:cNvPr>
          <p:cNvSpPr>
            <a:spLocks noGrp="1"/>
          </p:cNvSpPr>
          <p:nvPr>
            <p:ph type="dt" sz="half" idx="10"/>
          </p:nvPr>
        </p:nvSpPr>
        <p:spPr/>
        <p:txBody>
          <a:bodyPr/>
          <a:lstStyle/>
          <a:p>
            <a:fld id="{190FE9E0-10F7-43CC-8C5E-ABF84BD18749}" type="datetimeFigureOut">
              <a:rPr lang="ru-KZ" smtClean="0"/>
              <a:t>07.02.2026</a:t>
            </a:fld>
            <a:endParaRPr lang="ru-KZ"/>
          </a:p>
        </p:txBody>
      </p:sp>
      <p:sp>
        <p:nvSpPr>
          <p:cNvPr id="5" name="Нижний колонтитул 4">
            <a:extLst>
              <a:ext uri="{FF2B5EF4-FFF2-40B4-BE49-F238E27FC236}">
                <a16:creationId xmlns:a16="http://schemas.microsoft.com/office/drawing/2014/main" xmlns="" id="{5D7DBAB2-F742-4675-AFF4-C49B49D7CCBC}"/>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xmlns="" id="{AE67A081-DC1C-4389-AEDF-DC9CD7FCEB9A}"/>
              </a:ext>
            </a:extLst>
          </p:cNvPr>
          <p:cNvSpPr>
            <a:spLocks noGrp="1"/>
          </p:cNvSpPr>
          <p:nvPr>
            <p:ph type="sldNum" sz="quarter" idx="12"/>
          </p:nvPr>
        </p:nvSpPr>
        <p:spPr/>
        <p:txBody>
          <a:bodyPr/>
          <a:lstStyle/>
          <a:p>
            <a:fld id="{8C395328-960B-4ED8-B38E-77BE9D557962}" type="slidenum">
              <a:rPr lang="ru-KZ" smtClean="0"/>
              <a:t>‹#›</a:t>
            </a:fld>
            <a:endParaRPr lang="ru-KZ"/>
          </a:p>
        </p:txBody>
      </p:sp>
    </p:spTree>
    <p:extLst>
      <p:ext uri="{BB962C8B-B14F-4D97-AF65-F5344CB8AC3E}">
        <p14:creationId xmlns:p14="http://schemas.microsoft.com/office/powerpoint/2010/main" val="1097563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xmlns="" id="{6362721A-0EF8-40E8-922F-F9A38D1B4197}"/>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ru-KZ"/>
          </a:p>
        </p:txBody>
      </p:sp>
      <p:sp>
        <p:nvSpPr>
          <p:cNvPr id="3" name="Вертикальный текст 2">
            <a:extLst>
              <a:ext uri="{FF2B5EF4-FFF2-40B4-BE49-F238E27FC236}">
                <a16:creationId xmlns:a16="http://schemas.microsoft.com/office/drawing/2014/main" xmlns="" id="{3078E6F1-38A0-4BC2-B745-86D261859C1C}"/>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Дата 3">
            <a:extLst>
              <a:ext uri="{FF2B5EF4-FFF2-40B4-BE49-F238E27FC236}">
                <a16:creationId xmlns:a16="http://schemas.microsoft.com/office/drawing/2014/main" xmlns="" id="{77B5129C-7F9F-4894-BAB1-651D12E1D410}"/>
              </a:ext>
            </a:extLst>
          </p:cNvPr>
          <p:cNvSpPr>
            <a:spLocks noGrp="1"/>
          </p:cNvSpPr>
          <p:nvPr>
            <p:ph type="dt" sz="half" idx="10"/>
          </p:nvPr>
        </p:nvSpPr>
        <p:spPr/>
        <p:txBody>
          <a:bodyPr/>
          <a:lstStyle/>
          <a:p>
            <a:fld id="{190FE9E0-10F7-43CC-8C5E-ABF84BD18749}" type="datetimeFigureOut">
              <a:rPr lang="ru-KZ" smtClean="0"/>
              <a:t>07.02.2026</a:t>
            </a:fld>
            <a:endParaRPr lang="ru-KZ"/>
          </a:p>
        </p:txBody>
      </p:sp>
      <p:sp>
        <p:nvSpPr>
          <p:cNvPr id="5" name="Нижний колонтитул 4">
            <a:extLst>
              <a:ext uri="{FF2B5EF4-FFF2-40B4-BE49-F238E27FC236}">
                <a16:creationId xmlns:a16="http://schemas.microsoft.com/office/drawing/2014/main" xmlns="" id="{5FA4891A-1CEC-4375-90C5-A5BE31D405FD}"/>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xmlns="" id="{6420123D-5BBA-421D-8FD8-5C9BB3D9BF45}"/>
              </a:ext>
            </a:extLst>
          </p:cNvPr>
          <p:cNvSpPr>
            <a:spLocks noGrp="1"/>
          </p:cNvSpPr>
          <p:nvPr>
            <p:ph type="sldNum" sz="quarter" idx="12"/>
          </p:nvPr>
        </p:nvSpPr>
        <p:spPr/>
        <p:txBody>
          <a:bodyPr/>
          <a:lstStyle/>
          <a:p>
            <a:fld id="{8C395328-960B-4ED8-B38E-77BE9D557962}" type="slidenum">
              <a:rPr lang="ru-KZ" smtClean="0"/>
              <a:t>‹#›</a:t>
            </a:fld>
            <a:endParaRPr lang="ru-KZ"/>
          </a:p>
        </p:txBody>
      </p:sp>
    </p:spTree>
    <p:extLst>
      <p:ext uri="{BB962C8B-B14F-4D97-AF65-F5344CB8AC3E}">
        <p14:creationId xmlns:p14="http://schemas.microsoft.com/office/powerpoint/2010/main" val="3635368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28878B48-D494-49B6-A62A-2FB2707CA7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ru-KZ"/>
          </a:p>
        </p:txBody>
      </p:sp>
      <p:sp>
        <p:nvSpPr>
          <p:cNvPr id="3" name="Текст 2">
            <a:extLst>
              <a:ext uri="{FF2B5EF4-FFF2-40B4-BE49-F238E27FC236}">
                <a16:creationId xmlns:a16="http://schemas.microsoft.com/office/drawing/2014/main" xmlns="" id="{3C08D8C7-788D-4473-8065-1F3866C5B5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Дата 3">
            <a:extLst>
              <a:ext uri="{FF2B5EF4-FFF2-40B4-BE49-F238E27FC236}">
                <a16:creationId xmlns:a16="http://schemas.microsoft.com/office/drawing/2014/main" xmlns="" id="{2C17822A-8991-44D6-BB81-30C4BB0308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0FE9E0-10F7-43CC-8C5E-ABF84BD18749}" type="datetimeFigureOut">
              <a:rPr lang="ru-KZ" smtClean="0"/>
              <a:t>07.02.2026</a:t>
            </a:fld>
            <a:endParaRPr lang="ru-KZ"/>
          </a:p>
        </p:txBody>
      </p:sp>
      <p:sp>
        <p:nvSpPr>
          <p:cNvPr id="5" name="Нижний колонтитул 4">
            <a:extLst>
              <a:ext uri="{FF2B5EF4-FFF2-40B4-BE49-F238E27FC236}">
                <a16:creationId xmlns:a16="http://schemas.microsoft.com/office/drawing/2014/main" xmlns="" id="{923851E7-E235-4C5F-9C11-CD12E07446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KZ"/>
          </a:p>
        </p:txBody>
      </p:sp>
      <p:sp>
        <p:nvSpPr>
          <p:cNvPr id="6" name="Номер слайда 5">
            <a:extLst>
              <a:ext uri="{FF2B5EF4-FFF2-40B4-BE49-F238E27FC236}">
                <a16:creationId xmlns:a16="http://schemas.microsoft.com/office/drawing/2014/main" xmlns="" id="{A0633841-FC8B-4C59-BACC-ABF9C13E48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395328-960B-4ED8-B38E-77BE9D557962}" type="slidenum">
              <a:rPr lang="ru-KZ" smtClean="0"/>
              <a:t>‹#›</a:t>
            </a:fld>
            <a:endParaRPr lang="ru-KZ"/>
          </a:p>
        </p:txBody>
      </p:sp>
    </p:spTree>
    <p:extLst>
      <p:ext uri="{BB962C8B-B14F-4D97-AF65-F5344CB8AC3E}">
        <p14:creationId xmlns:p14="http://schemas.microsoft.com/office/powerpoint/2010/main" val="4201969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K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a:extLst>
              <a:ext uri="{FF2B5EF4-FFF2-40B4-BE49-F238E27FC236}">
                <a16:creationId xmlns:a16="http://schemas.microsoft.com/office/drawing/2014/main" xmlns="" id="{6743D239-2D2E-45ED-AEFB-35FDAB86A806}"/>
              </a:ext>
            </a:extLst>
          </p:cNvPr>
          <p:cNvGraphicFramePr>
            <a:graphicFrameLocks noGrp="1"/>
          </p:cNvGraphicFramePr>
          <p:nvPr>
            <p:extLst>
              <p:ext uri="{D42A27DB-BD31-4B8C-83A1-F6EECF244321}">
                <p14:modId xmlns:p14="http://schemas.microsoft.com/office/powerpoint/2010/main" val="3542191771"/>
              </p:ext>
            </p:extLst>
          </p:nvPr>
        </p:nvGraphicFramePr>
        <p:xfrm>
          <a:off x="342900" y="213360"/>
          <a:ext cx="11681460" cy="5791200"/>
        </p:xfrm>
        <a:graphic>
          <a:graphicData uri="http://schemas.openxmlformats.org/drawingml/2006/table">
            <a:tbl>
              <a:tblPr>
                <a:tableStyleId>{5C22544A-7EE6-4342-B048-85BDC9FD1C3A}</a:tableStyleId>
              </a:tblPr>
              <a:tblGrid>
                <a:gridCol w="11681460">
                  <a:extLst>
                    <a:ext uri="{9D8B030D-6E8A-4147-A177-3AD203B41FA5}">
                      <a16:colId xmlns:a16="http://schemas.microsoft.com/office/drawing/2014/main" xmlns="" val="3506778766"/>
                    </a:ext>
                  </a:extLst>
                </a:gridCol>
              </a:tblGrid>
              <a:tr h="2003474">
                <a:tc>
                  <a:txBody>
                    <a:bodyPr/>
                    <a:lstStyle/>
                    <a:p>
                      <a:pPr algn="ctr">
                        <a:spcAft>
                          <a:spcPts val="0"/>
                        </a:spcAft>
                      </a:pPr>
                      <a:r>
                        <a:rPr lang="kk-KZ" sz="3600" b="1" dirty="0" smtClean="0">
                          <a:effectLst/>
                          <a:latin typeface="Cambria" panose="02040503050406030204" pitchFamily="18" charset="0"/>
                          <a:ea typeface="Cambria" panose="02040503050406030204" pitchFamily="18" charset="0"/>
                        </a:rPr>
                        <a:t>ЛЕКЦИЯ </a:t>
                      </a:r>
                      <a:r>
                        <a:rPr lang="kk-KZ" sz="3600" b="1" dirty="0" smtClean="0">
                          <a:effectLst/>
                          <a:latin typeface="Cambria" panose="02040503050406030204" pitchFamily="18" charset="0"/>
                          <a:ea typeface="Cambria" panose="02040503050406030204" pitchFamily="18" charset="0"/>
                        </a:rPr>
                        <a:t>5. </a:t>
                      </a:r>
                      <a:endParaRPr lang="kk-KZ" sz="3600" b="1" dirty="0">
                        <a:effectLst/>
                        <a:latin typeface="Cambria" panose="02040503050406030204" pitchFamily="18" charset="0"/>
                        <a:ea typeface="Cambria" panose="02040503050406030204" pitchFamily="18" charset="0"/>
                      </a:endParaRPr>
                    </a:p>
                    <a:p>
                      <a:pPr algn="ctr">
                        <a:spcAft>
                          <a:spcPts val="0"/>
                        </a:spcAft>
                      </a:pPr>
                      <a:endParaRPr lang="kk-KZ" sz="3600" b="1" dirty="0">
                        <a:effectLst/>
                        <a:latin typeface="Cambria" panose="02040503050406030204" pitchFamily="18" charset="0"/>
                        <a:ea typeface="Cambria" panose="02040503050406030204" pitchFamily="18" charset="0"/>
                      </a:endParaRPr>
                    </a:p>
                    <a:p>
                      <a:pPr algn="ctr">
                        <a:spcAft>
                          <a:spcPts val="0"/>
                        </a:spcAft>
                      </a:pPr>
                      <a:r>
                        <a:rPr lang="ru-RU" sz="3600" b="1" dirty="0">
                          <a:solidFill>
                            <a:srgbClr val="FF0000"/>
                          </a:solidFill>
                          <a:effectLst/>
                          <a:latin typeface="Cambria" panose="02040503050406030204" pitchFamily="18" charset="0"/>
                          <a:ea typeface="Cambria" panose="02040503050406030204" pitchFamily="18" charset="0"/>
                        </a:rPr>
                        <a:t>Способы защиты от производственного шума, вибрации, инфразвука, ультразвука</a:t>
                      </a:r>
                      <a:endParaRPr lang="kk-KZ" sz="3600" b="1" dirty="0">
                        <a:solidFill>
                          <a:srgbClr val="FF0000"/>
                        </a:solidFill>
                        <a:effectLst/>
                        <a:latin typeface="Cambria" panose="02040503050406030204" pitchFamily="18" charset="0"/>
                        <a:ea typeface="Cambria" panose="02040503050406030204" pitchFamily="18" charset="0"/>
                      </a:endParaRPr>
                    </a:p>
                    <a:p>
                      <a:pPr algn="ctr">
                        <a:spcAft>
                          <a:spcPts val="0"/>
                        </a:spcAft>
                      </a:pPr>
                      <a:endParaRPr lang="ru-KZ" sz="3600" b="1" dirty="0">
                        <a:effectLst/>
                        <a:latin typeface="Cambria" panose="02040503050406030204" pitchFamily="18" charset="0"/>
                        <a:ea typeface="Cambria" panose="020405030504060302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kk-KZ" sz="3600" dirty="0">
                          <a:effectLst/>
                          <a:latin typeface="Cambria" panose="02040503050406030204" pitchFamily="18" charset="0"/>
                          <a:ea typeface="Cambria" panose="02040503050406030204" pitchFamily="18" charset="0"/>
                        </a:rPr>
                        <a:t>5</a:t>
                      </a:r>
                      <a:r>
                        <a:rPr lang="kk-KZ" sz="3600" dirty="0" smtClean="0">
                          <a:effectLst/>
                          <a:latin typeface="Cambria" panose="02040503050406030204" pitchFamily="18" charset="0"/>
                          <a:ea typeface="Cambria" panose="02040503050406030204" pitchFamily="18" charset="0"/>
                        </a:rPr>
                        <a:t>.1</a:t>
                      </a:r>
                      <a:r>
                        <a:rPr lang="kk-KZ" sz="3600" dirty="0">
                          <a:effectLst/>
                          <a:latin typeface="Cambria" panose="02040503050406030204" pitchFamily="18" charset="0"/>
                          <a:ea typeface="Cambria" panose="02040503050406030204" pitchFamily="18" charset="0"/>
                        </a:rPr>
                        <a:t>. </a:t>
                      </a:r>
                      <a:r>
                        <a:rPr lang="ru-RU" sz="3600" dirty="0" smtClean="0">
                          <a:effectLst/>
                          <a:latin typeface="Cambria" panose="02040503050406030204" pitchFamily="18" charset="0"/>
                          <a:ea typeface="Cambria" panose="02040503050406030204" pitchFamily="18" charset="0"/>
                        </a:rPr>
                        <a:t>Шум </a:t>
                      </a:r>
                      <a:r>
                        <a:rPr lang="ru-RU" sz="3600" dirty="0" smtClean="0">
                          <a:effectLst/>
                          <a:latin typeface="Cambria" panose="02040503050406030204" pitchFamily="18" charset="0"/>
                          <a:ea typeface="Cambria" panose="02040503050406030204" pitchFamily="18" charset="0"/>
                        </a:rPr>
                        <a:t>и вибрация, их влияние на организм человека и средства и методы защиты. </a:t>
                      </a:r>
                    </a:p>
                    <a:p>
                      <a:pPr algn="just">
                        <a:spcAft>
                          <a:spcPts val="0"/>
                        </a:spcAft>
                      </a:pPr>
                      <a:endParaRPr lang="kk-KZ" sz="3600" dirty="0">
                        <a:effectLst/>
                        <a:latin typeface="Cambria" panose="02040503050406030204" pitchFamily="18" charset="0"/>
                        <a:ea typeface="Cambria" panose="020405030504060302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kk-KZ" altLang="ru-KZ" sz="3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5</a:t>
                      </a:r>
                      <a:r>
                        <a:rPr kumimoji="0" lang="kk-KZ" altLang="ru-KZ" sz="36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.2</a:t>
                      </a:r>
                      <a:r>
                        <a:rPr kumimoji="0" lang="kk-KZ" altLang="ru-KZ" sz="3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ru-RU" sz="3600" dirty="0" smtClean="0">
                          <a:effectLst/>
                          <a:latin typeface="Cambria" panose="02040503050406030204" pitchFamily="18" charset="0"/>
                          <a:ea typeface="Cambria" panose="02040503050406030204" pitchFamily="18" charset="0"/>
                        </a:rPr>
                        <a:t>Инфразвук </a:t>
                      </a:r>
                      <a:r>
                        <a:rPr lang="ru-RU" sz="3600" dirty="0" smtClean="0">
                          <a:effectLst/>
                          <a:latin typeface="Cambria" panose="02040503050406030204" pitchFamily="18" charset="0"/>
                          <a:ea typeface="Cambria" panose="02040503050406030204" pitchFamily="18" charset="0"/>
                        </a:rPr>
                        <a:t>и ультразвук, их влияние на организм человека и средства и методы защиты.</a:t>
                      </a:r>
                      <a:endParaRPr kumimoji="0" lang="kk-KZ" altLang="ru-KZ" sz="3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algn="just">
                        <a:spcAft>
                          <a:spcPts val="0"/>
                        </a:spcAft>
                      </a:pPr>
                      <a:endParaRPr lang="ru-KZ" sz="2000" dirty="0">
                        <a:effectLst/>
                        <a:latin typeface="Times New Roman" panose="02020603050405020304" pitchFamily="18" charset="0"/>
                        <a:ea typeface="Times New Roman" panose="02020603050405020304" pitchFamily="18" charset="0"/>
                      </a:endParaRPr>
                    </a:p>
                  </a:txBody>
                  <a:tcPr marL="114300" marR="114300" marT="0" marB="0"/>
                </a:tc>
                <a:extLst>
                  <a:ext uri="{0D108BD9-81ED-4DB2-BD59-A6C34878D82A}">
                    <a16:rowId xmlns:a16="http://schemas.microsoft.com/office/drawing/2014/main" xmlns="" val="2702937445"/>
                  </a:ext>
                </a:extLst>
              </a:tr>
            </a:tbl>
          </a:graphicData>
        </a:graphic>
      </p:graphicFrame>
    </p:spTree>
    <p:extLst>
      <p:ext uri="{BB962C8B-B14F-4D97-AF65-F5344CB8AC3E}">
        <p14:creationId xmlns:p14="http://schemas.microsoft.com/office/powerpoint/2010/main" val="1854065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133BD19D-DD2E-4604-92BB-B80C4D940194}"/>
              </a:ext>
            </a:extLst>
          </p:cNvPr>
          <p:cNvSpPr/>
          <p:nvPr/>
        </p:nvSpPr>
        <p:spPr>
          <a:xfrm>
            <a:off x="160020" y="373017"/>
            <a:ext cx="11841480" cy="723274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ru-RU" sz="3600" b="1" dirty="0">
                <a:solidFill>
                  <a:srgbClr val="C00000"/>
                </a:solidFill>
                <a:latin typeface="Times New Roman" panose="02020603050405020304" pitchFamily="18" charset="0"/>
                <a:ea typeface="Cambria" panose="02040503050406030204" pitchFamily="18" charset="0"/>
                <a:cs typeface="Times New Roman" panose="02020603050405020304" pitchFamily="18" charset="0"/>
              </a:rPr>
              <a:t>Шум, его влияние на организм человека и гигиеническое нормирование </a:t>
            </a:r>
          </a:p>
          <a:p>
            <a:endParaRPr lang="ru-RU" sz="3200" dirty="0">
              <a:latin typeface="Times New Roman" panose="02020603050405020304" pitchFamily="18" charset="0"/>
              <a:ea typeface="Cambria" panose="02040503050406030204" pitchFamily="18" charset="0"/>
              <a:cs typeface="Times New Roman" panose="02020603050405020304" pitchFamily="18" charset="0"/>
            </a:endParaRPr>
          </a:p>
          <a:p>
            <a:pPr algn="just"/>
            <a:r>
              <a:rPr lang="ru-RU" sz="3600" b="1" i="1"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Шум</a:t>
            </a:r>
            <a:r>
              <a:rPr lang="ru-RU" sz="3600" dirty="0">
                <a:latin typeface="Times New Roman" panose="02020603050405020304" pitchFamily="18" charset="0"/>
                <a:ea typeface="Cambria" panose="02040503050406030204" pitchFamily="18" charset="0"/>
                <a:cs typeface="Times New Roman" panose="02020603050405020304" pitchFamily="18" charset="0"/>
              </a:rPr>
              <a:t> – </a:t>
            </a:r>
            <a:r>
              <a:rPr lang="ru-RU" sz="3600" i="1" dirty="0">
                <a:latin typeface="Times New Roman" panose="02020603050405020304" pitchFamily="18" charset="0"/>
                <a:ea typeface="Cambria" panose="02040503050406030204" pitchFamily="18" charset="0"/>
                <a:cs typeface="Times New Roman" panose="02020603050405020304" pitchFamily="18" charset="0"/>
              </a:rPr>
              <a:t>беспорядочное сочетание по силе и частоте звуков; способен оказывать неблагоприятное воздействие на организм. </a:t>
            </a:r>
          </a:p>
          <a:p>
            <a:pPr algn="just"/>
            <a:r>
              <a:rPr lang="ru-RU" sz="3600" b="1" i="1"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Звук</a:t>
            </a:r>
            <a:r>
              <a:rPr lang="ru-RU" sz="3600" i="1"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 </a:t>
            </a:r>
            <a:r>
              <a:rPr lang="ru-RU" sz="3600" dirty="0">
                <a:latin typeface="Times New Roman" panose="02020603050405020304" pitchFamily="18" charset="0"/>
                <a:ea typeface="Cambria" panose="02040503050406030204" pitchFamily="18" charset="0"/>
                <a:cs typeface="Times New Roman" panose="02020603050405020304" pitchFamily="18" charset="0"/>
              </a:rPr>
              <a:t>– </a:t>
            </a:r>
            <a:r>
              <a:rPr lang="ru-RU" sz="3600" i="1" dirty="0">
                <a:latin typeface="Times New Roman" panose="02020603050405020304" pitchFamily="18" charset="0"/>
                <a:ea typeface="Cambria" panose="02040503050406030204" pitchFamily="18" charset="0"/>
                <a:cs typeface="Times New Roman" panose="02020603050405020304" pitchFamily="18" charset="0"/>
              </a:rPr>
              <a:t>колебательное движение частиц упругой среды, распространяющееся в виде волн. </a:t>
            </a:r>
            <a:r>
              <a:rPr lang="ru-RU" sz="3600" dirty="0">
                <a:latin typeface="Times New Roman" panose="02020603050405020304" pitchFamily="18" charset="0"/>
                <a:ea typeface="Cambria" panose="02040503050406030204" pitchFamily="18" charset="0"/>
                <a:cs typeface="Times New Roman" panose="02020603050405020304" pitchFamily="18" charset="0"/>
              </a:rPr>
              <a:t>Звук характеризуется частотой колебания, т.е. числом полных колебаний в единицу времени (секунду). Однако колебание в 1 секунду составляет единицу частоты – герц (Гц), а время, в течение которого колеблющееся тело совершает полное колебание, называется </a:t>
            </a:r>
            <a:r>
              <a:rPr lang="ru-RU" sz="3600" b="1" i="1"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периодом </a:t>
            </a:r>
            <a:r>
              <a:rPr lang="ru-RU" sz="3600" b="1" i="1" dirty="0" smtClean="0">
                <a:solidFill>
                  <a:srgbClr val="0070C0"/>
                </a:solidFill>
                <a:latin typeface="Times New Roman" panose="02020603050405020304" pitchFamily="18" charset="0"/>
                <a:ea typeface="Cambria" panose="02040503050406030204" pitchFamily="18" charset="0"/>
                <a:cs typeface="Times New Roman" panose="02020603050405020304" pitchFamily="18" charset="0"/>
              </a:rPr>
              <a:t>колебания.</a:t>
            </a:r>
            <a:endParaRPr lang="ru-KZ" sz="3600" b="1" i="1"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840608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27323347-54B6-4207-A6DF-91669826209C}"/>
              </a:ext>
            </a:extLst>
          </p:cNvPr>
          <p:cNvSpPr/>
          <p:nvPr/>
        </p:nvSpPr>
        <p:spPr>
          <a:xfrm>
            <a:off x="0" y="0"/>
            <a:ext cx="12191999" cy="797141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ru-RU" sz="3200" b="1" dirty="0">
                <a:solidFill>
                  <a:srgbClr val="C00000"/>
                </a:solidFill>
                <a:latin typeface="Cambria" panose="02040503050406030204" pitchFamily="18" charset="0"/>
                <a:ea typeface="Cambria" panose="02040503050406030204" pitchFamily="18" charset="0"/>
              </a:rPr>
              <a:t>Физические характеристики шума </a:t>
            </a:r>
          </a:p>
          <a:p>
            <a:pPr algn="just"/>
            <a:r>
              <a:rPr lang="ru-RU" sz="3200" dirty="0">
                <a:latin typeface="Cambria" panose="02040503050406030204" pitchFamily="18" charset="0"/>
                <a:ea typeface="Cambria" panose="02040503050406030204" pitchFamily="18" charset="0"/>
              </a:rPr>
              <a:t>По физической природе шумом является всякий нежелательный для человека звук. </a:t>
            </a:r>
            <a:endParaRPr lang="ru-RU" sz="3200" dirty="0" smtClean="0">
              <a:latin typeface="Cambria" panose="02040503050406030204" pitchFamily="18" charset="0"/>
              <a:ea typeface="Cambria" panose="02040503050406030204" pitchFamily="18" charset="0"/>
            </a:endParaRPr>
          </a:p>
          <a:p>
            <a:pPr algn="just"/>
            <a:r>
              <a:rPr lang="ru-RU" sz="3200" dirty="0" smtClean="0">
                <a:latin typeface="Cambria" panose="02040503050406030204" pitchFamily="18" charset="0"/>
                <a:ea typeface="Cambria" panose="02040503050406030204" pitchFamily="18" charset="0"/>
              </a:rPr>
              <a:t>Звук </a:t>
            </a:r>
            <a:r>
              <a:rPr lang="ru-RU" sz="3200" dirty="0">
                <a:latin typeface="Cambria" panose="02040503050406030204" pitchFamily="18" charset="0"/>
                <a:ea typeface="Cambria" panose="02040503050406030204" pitchFamily="18" charset="0"/>
              </a:rPr>
              <a:t>обусловливается механическими колебаниями в упругих средах и телах (</a:t>
            </a:r>
            <a:r>
              <a:rPr lang="ru-RU" sz="3200" b="1" dirty="0">
                <a:latin typeface="Cambria" panose="02040503050406030204" pitchFamily="18" charset="0"/>
                <a:ea typeface="Cambria" panose="02040503050406030204" pitchFamily="18" charset="0"/>
              </a:rPr>
              <a:t>твердых, жидких и газообразных</a:t>
            </a:r>
            <a:r>
              <a:rPr lang="ru-RU" sz="3200" dirty="0">
                <a:latin typeface="Cambria" panose="02040503050406030204" pitchFamily="18" charset="0"/>
                <a:ea typeface="Cambria" panose="02040503050406030204" pitchFamily="18" charset="0"/>
              </a:rPr>
              <a:t>), частоты которых лежат в диапазоне </a:t>
            </a:r>
            <a:r>
              <a:rPr lang="ru-RU" sz="3200" b="1" dirty="0">
                <a:solidFill>
                  <a:srgbClr val="FF0000"/>
                </a:solidFill>
                <a:latin typeface="Cambria" panose="02040503050406030204" pitchFamily="18" charset="0"/>
                <a:ea typeface="Cambria" panose="02040503050406030204" pitchFamily="18" charset="0"/>
              </a:rPr>
              <a:t>от 17-20 до 20 000 Гц</a:t>
            </a:r>
            <a:r>
              <a:rPr lang="ru-RU" sz="3200" dirty="0">
                <a:latin typeface="Cambria" panose="02040503050406030204" pitchFamily="18" charset="0"/>
                <a:ea typeface="Cambria" panose="02040503050406030204" pitchFamily="18" charset="0"/>
              </a:rPr>
              <a:t>. </a:t>
            </a:r>
          </a:p>
          <a:p>
            <a:pPr algn="just"/>
            <a:r>
              <a:rPr lang="ru-RU" sz="3200" dirty="0">
                <a:solidFill>
                  <a:schemeClr val="tx1"/>
                </a:solidFill>
                <a:latin typeface="Cambria" panose="02040503050406030204" pitchFamily="18" charset="0"/>
                <a:ea typeface="Cambria" panose="02040503050406030204" pitchFamily="18" charset="0"/>
              </a:rPr>
              <a:t>МЕХАНИЧЕСКИЕ КОЛЕБАНИЯ</a:t>
            </a:r>
            <a:endParaRPr lang="kk-KZ" sz="3200" dirty="0">
              <a:solidFill>
                <a:schemeClr val="tx1"/>
              </a:solidFill>
              <a:latin typeface="Cambria" panose="02040503050406030204" pitchFamily="18" charset="0"/>
              <a:ea typeface="Cambria" panose="02040503050406030204" pitchFamily="18" charset="0"/>
            </a:endParaRPr>
          </a:p>
          <a:p>
            <a:pPr marL="342900" indent="-342900" algn="just">
              <a:buFont typeface="Wingdings" panose="05000000000000000000" pitchFamily="2" charset="2"/>
              <a:buChar char="v"/>
            </a:pPr>
            <a:r>
              <a:rPr lang="ru-RU" sz="3200" dirty="0">
                <a:latin typeface="Cambria" panose="02040503050406030204" pitchFamily="18" charset="0"/>
                <a:ea typeface="Cambria" panose="02040503050406030204" pitchFamily="18" charset="0"/>
              </a:rPr>
              <a:t>-</a:t>
            </a:r>
            <a:r>
              <a:rPr lang="ru-RU" sz="3200" b="1" dirty="0">
                <a:latin typeface="Cambria" panose="02040503050406030204" pitchFamily="18" charset="0"/>
                <a:ea typeface="Cambria" panose="02040503050406030204" pitchFamily="18" charset="0"/>
              </a:rPr>
              <a:t>17-20 до 20 000 Гц- </a:t>
            </a:r>
            <a:r>
              <a:rPr lang="ru-RU" sz="3200" b="1" dirty="0">
                <a:solidFill>
                  <a:srgbClr val="C00000"/>
                </a:solidFill>
                <a:latin typeface="Cambria" panose="02040503050406030204" pitchFamily="18" charset="0"/>
                <a:ea typeface="Cambria" panose="02040503050406030204" pitchFamily="18" charset="0"/>
              </a:rPr>
              <a:t>звуковыми</a:t>
            </a:r>
            <a:r>
              <a:rPr lang="ru-RU" sz="3200" dirty="0">
                <a:latin typeface="Cambria" panose="02040503050406030204" pitchFamily="18" charset="0"/>
                <a:ea typeface="Cambria" panose="02040503050406030204" pitchFamily="18" charset="0"/>
              </a:rPr>
              <a:t> или </a:t>
            </a:r>
            <a:r>
              <a:rPr lang="ru-RU" sz="3200" dirty="0" smtClean="0">
                <a:latin typeface="Cambria" panose="02040503050406030204" pitchFamily="18" charset="0"/>
                <a:ea typeface="Cambria" panose="02040503050406030204" pitchFamily="18" charset="0"/>
              </a:rPr>
              <a:t>акустическими;</a:t>
            </a:r>
          </a:p>
          <a:p>
            <a:pPr marL="342900" indent="-342900" algn="just">
              <a:buFont typeface="Wingdings" panose="05000000000000000000" pitchFamily="2" charset="2"/>
              <a:buChar char="v"/>
            </a:pPr>
            <a:r>
              <a:rPr lang="ru-RU" sz="3200" b="1" dirty="0" smtClean="0">
                <a:latin typeface="Cambria" panose="02040503050406030204" pitchFamily="18" charset="0"/>
                <a:ea typeface="Cambria" panose="02040503050406030204" pitchFamily="18" charset="0"/>
              </a:rPr>
              <a:t>выше </a:t>
            </a:r>
            <a:r>
              <a:rPr lang="ru-RU" sz="3200" b="1" dirty="0">
                <a:latin typeface="Cambria" panose="02040503050406030204" pitchFamily="18" charset="0"/>
                <a:ea typeface="Cambria" panose="02040503050406030204" pitchFamily="18" charset="0"/>
              </a:rPr>
              <a:t>20 000 Гц </a:t>
            </a:r>
            <a:r>
              <a:rPr lang="ru-RU" sz="3200" dirty="0">
                <a:latin typeface="Cambria" panose="02040503050406030204" pitchFamily="18" charset="0"/>
                <a:ea typeface="Cambria" panose="02040503050406030204" pitchFamily="18" charset="0"/>
              </a:rPr>
              <a:t>звукового диапазона – </a:t>
            </a:r>
            <a:r>
              <a:rPr lang="ru-RU" sz="3200" b="1" dirty="0" smtClean="0">
                <a:solidFill>
                  <a:srgbClr val="C00000"/>
                </a:solidFill>
                <a:latin typeface="Cambria" panose="02040503050406030204" pitchFamily="18" charset="0"/>
                <a:ea typeface="Cambria" panose="02040503050406030204" pitchFamily="18" charset="0"/>
              </a:rPr>
              <a:t>ультразвуковыми</a:t>
            </a:r>
            <a:r>
              <a:rPr lang="kk-KZ" sz="3200" b="1" dirty="0" smtClean="0">
                <a:solidFill>
                  <a:srgbClr val="C00000"/>
                </a:solidFill>
                <a:latin typeface="Cambria" panose="02040503050406030204" pitchFamily="18" charset="0"/>
                <a:ea typeface="Cambria" panose="02040503050406030204" pitchFamily="18" charset="0"/>
              </a:rPr>
              <a:t>;</a:t>
            </a:r>
          </a:p>
          <a:p>
            <a:pPr marL="342900" indent="-342900" algn="just">
              <a:buFont typeface="Wingdings" panose="05000000000000000000" pitchFamily="2" charset="2"/>
              <a:buChar char="v"/>
            </a:pPr>
            <a:r>
              <a:rPr lang="ru-RU" sz="3200" b="1" dirty="0" smtClean="0">
                <a:latin typeface="Cambria" panose="02040503050406030204" pitchFamily="18" charset="0"/>
                <a:ea typeface="Cambria" panose="02040503050406030204" pitchFamily="18" charset="0"/>
              </a:rPr>
              <a:t>17-20 </a:t>
            </a:r>
            <a:r>
              <a:rPr lang="ru-RU" sz="3200" b="1" dirty="0">
                <a:latin typeface="Cambria" panose="02040503050406030204" pitchFamily="18" charset="0"/>
                <a:ea typeface="Cambria" panose="02040503050406030204" pitchFamily="18" charset="0"/>
              </a:rPr>
              <a:t>Гц </a:t>
            </a:r>
            <a:r>
              <a:rPr lang="ru-RU" sz="3200" dirty="0">
                <a:latin typeface="Cambria" panose="02040503050406030204" pitchFamily="18" charset="0"/>
                <a:ea typeface="Cambria" panose="02040503050406030204" pitchFamily="18" charset="0"/>
              </a:rPr>
              <a:t>ниже звукового диапазона –</a:t>
            </a:r>
            <a:r>
              <a:rPr lang="ru-RU" sz="3200" b="1" dirty="0">
                <a:latin typeface="Cambria" panose="02040503050406030204" pitchFamily="18" charset="0"/>
                <a:ea typeface="Cambria" panose="02040503050406030204" pitchFamily="18" charset="0"/>
              </a:rPr>
              <a:t> </a:t>
            </a:r>
            <a:r>
              <a:rPr lang="ru-RU" sz="3200" b="1" dirty="0">
                <a:solidFill>
                  <a:srgbClr val="C00000"/>
                </a:solidFill>
                <a:latin typeface="Cambria" panose="02040503050406030204" pitchFamily="18" charset="0"/>
                <a:ea typeface="Cambria" panose="02040503050406030204" pitchFamily="18" charset="0"/>
              </a:rPr>
              <a:t>инфразвуковыми</a:t>
            </a:r>
          </a:p>
          <a:p>
            <a:pPr algn="just"/>
            <a:r>
              <a:rPr lang="ru-RU" sz="3200" dirty="0">
                <a:latin typeface="Cambria" panose="02040503050406030204" pitchFamily="18" charset="0"/>
                <a:ea typeface="Cambria" panose="02040503050406030204" pitchFamily="18" charset="0"/>
              </a:rPr>
              <a:t>Соответственно этому механические колебания с указанными частотами называют звуковыми или акустическими. </a:t>
            </a:r>
          </a:p>
          <a:p>
            <a:pPr algn="just"/>
            <a:r>
              <a:rPr lang="ru-RU" sz="3200" dirty="0" smtClean="0">
                <a:latin typeface="Cambria" panose="02040503050406030204" pitchFamily="18" charset="0"/>
                <a:ea typeface="Cambria" panose="02040503050406030204" pitchFamily="18" charset="0"/>
              </a:rPr>
              <a:t>	Неслышимые </a:t>
            </a:r>
            <a:r>
              <a:rPr lang="ru-RU" sz="3200" dirty="0">
                <a:latin typeface="Cambria" panose="02040503050406030204" pitchFamily="18" charset="0"/>
                <a:ea typeface="Cambria" panose="02040503050406030204" pitchFamily="18" charset="0"/>
              </a:rPr>
              <a:t>человеком механические колебания с частотами ниже звукового диапазона называют </a:t>
            </a:r>
            <a:r>
              <a:rPr lang="ru-RU" sz="3200" b="1" dirty="0" smtClean="0">
                <a:solidFill>
                  <a:srgbClr val="0070C0"/>
                </a:solidFill>
                <a:latin typeface="Cambria" panose="02040503050406030204" pitchFamily="18" charset="0"/>
                <a:ea typeface="Cambria" panose="02040503050406030204" pitchFamily="18" charset="0"/>
              </a:rPr>
              <a:t>инфразвуковыми, </a:t>
            </a:r>
            <a:r>
              <a:rPr lang="ru-RU" sz="3200" dirty="0" smtClean="0">
                <a:solidFill>
                  <a:schemeClr val="tx1"/>
                </a:solidFill>
                <a:latin typeface="Cambria" panose="02040503050406030204" pitchFamily="18" charset="0"/>
                <a:ea typeface="Cambria" panose="02040503050406030204" pitchFamily="18" charset="0"/>
              </a:rPr>
              <a:t>а </a:t>
            </a:r>
            <a:r>
              <a:rPr lang="ru-RU" sz="3200" dirty="0">
                <a:solidFill>
                  <a:schemeClr val="tx1"/>
                </a:solidFill>
                <a:latin typeface="Cambria" panose="02040503050406030204" pitchFamily="18" charset="0"/>
                <a:ea typeface="Cambria" panose="02040503050406030204" pitchFamily="18" charset="0"/>
              </a:rPr>
              <a:t>с частотами выше звукового диапазона </a:t>
            </a:r>
            <a:r>
              <a:rPr lang="ru-RU" sz="3200" dirty="0">
                <a:solidFill>
                  <a:srgbClr val="0070C0"/>
                </a:solidFill>
                <a:latin typeface="Cambria" panose="02040503050406030204" pitchFamily="18" charset="0"/>
                <a:ea typeface="Cambria" panose="02040503050406030204" pitchFamily="18" charset="0"/>
              </a:rPr>
              <a:t>- </a:t>
            </a:r>
            <a:r>
              <a:rPr lang="ru-RU" sz="3200" b="1" dirty="0">
                <a:solidFill>
                  <a:srgbClr val="0070C0"/>
                </a:solidFill>
                <a:latin typeface="Cambria" panose="02040503050406030204" pitchFamily="18" charset="0"/>
                <a:ea typeface="Cambria" panose="02040503050406030204" pitchFamily="18" charset="0"/>
              </a:rPr>
              <a:t>ультразвуковыми. </a:t>
            </a:r>
          </a:p>
        </p:txBody>
      </p:sp>
    </p:spTree>
    <p:extLst>
      <p:ext uri="{BB962C8B-B14F-4D97-AF65-F5344CB8AC3E}">
        <p14:creationId xmlns:p14="http://schemas.microsoft.com/office/powerpoint/2010/main" val="3126024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4772069C-7446-476A-B1BC-A0DD329D06AA}"/>
              </a:ext>
            </a:extLst>
          </p:cNvPr>
          <p:cNvSpPr/>
          <p:nvPr/>
        </p:nvSpPr>
        <p:spPr>
          <a:xfrm>
            <a:off x="0" y="0"/>
            <a:ext cx="12192001" cy="747897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ru-RU" sz="3200" dirty="0">
                <a:latin typeface="Times New Roman" panose="02020603050405020304" pitchFamily="18" charset="0"/>
                <a:ea typeface="Cambria" panose="02040503050406030204" pitchFamily="18" charset="0"/>
                <a:cs typeface="Times New Roman" panose="02020603050405020304" pitchFamily="18" charset="0"/>
              </a:rPr>
              <a:t>Уровнями интенсивности обычно пользуются при выполнении акустических расчетов, а уровнями звукового давления - при измерении шума и оценке его воздействия на организм человека. </a:t>
            </a:r>
            <a:r>
              <a:rPr lang="ru-RU" sz="3200" dirty="0" smtClean="0">
                <a:latin typeface="Times New Roman" panose="02020603050405020304" pitchFamily="18" charset="0"/>
                <a:ea typeface="Cambria" panose="02040503050406030204" pitchFamily="18" charset="0"/>
                <a:cs typeface="Times New Roman" panose="02020603050405020304" pitchFamily="18" charset="0"/>
              </a:rPr>
              <a:t>Использование </a:t>
            </a:r>
            <a:r>
              <a:rPr lang="ru-RU" sz="3200" dirty="0">
                <a:solidFill>
                  <a:srgbClr val="C00000"/>
                </a:solidFill>
                <a:latin typeface="Times New Roman" panose="02020603050405020304" pitchFamily="18" charset="0"/>
                <a:ea typeface="Cambria" panose="02040503050406030204" pitchFamily="18" charset="0"/>
                <a:cs typeface="Times New Roman" panose="02020603050405020304" pitchFamily="18" charset="0"/>
              </a:rPr>
              <a:t>логарифмической шкалы </a:t>
            </a:r>
            <a:r>
              <a:rPr lang="ru-RU" sz="3200" dirty="0">
                <a:latin typeface="Times New Roman" panose="02020603050405020304" pitchFamily="18" charset="0"/>
                <a:ea typeface="Cambria" panose="02040503050406030204" pitchFamily="18" charset="0"/>
                <a:cs typeface="Times New Roman" panose="02020603050405020304" pitchFamily="18" charset="0"/>
              </a:rPr>
              <a:t>для измерения уровня шума позволяет получить сравнительно небольшой интервал логарифмических величин от </a:t>
            </a:r>
            <a:r>
              <a:rPr lang="ru-RU" sz="3200" b="1" dirty="0" smtClean="0">
                <a:latin typeface="Times New Roman" panose="02020603050405020304" pitchFamily="18" charset="0"/>
                <a:ea typeface="Cambria" panose="02040503050406030204" pitchFamily="18" charset="0"/>
                <a:cs typeface="Times New Roman" panose="02020603050405020304" pitchFamily="18" charset="0"/>
              </a:rPr>
              <a:t>0 </a:t>
            </a:r>
            <a:r>
              <a:rPr lang="ru-RU" sz="3200" b="1" dirty="0">
                <a:latin typeface="Times New Roman" panose="02020603050405020304" pitchFamily="18" charset="0"/>
                <a:ea typeface="Cambria" panose="02040503050406030204" pitchFamily="18" charset="0"/>
                <a:cs typeface="Times New Roman" panose="02020603050405020304" pitchFamily="18" charset="0"/>
              </a:rPr>
              <a:t>до 140 дБ. </a:t>
            </a:r>
            <a:r>
              <a:rPr lang="ru-RU" sz="3200" dirty="0">
                <a:latin typeface="Times New Roman" panose="02020603050405020304" pitchFamily="18" charset="0"/>
                <a:ea typeface="Cambria" panose="02040503050406030204" pitchFamily="18" charset="0"/>
                <a:cs typeface="Times New Roman" panose="02020603050405020304" pitchFamily="18" charset="0"/>
              </a:rPr>
              <a:t>Уровни звукового давления некоторых источников шума имеют следующие значения: </a:t>
            </a:r>
          </a:p>
          <a:p>
            <a:pPr algn="just"/>
            <a:r>
              <a:rPr lang="ru-RU" sz="3200"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 </a:t>
            </a:r>
            <a:r>
              <a:rPr lang="ru-RU" sz="3200" b="1" dirty="0" smtClean="0">
                <a:solidFill>
                  <a:srgbClr val="FF0000"/>
                </a:solidFill>
                <a:latin typeface="Times New Roman" panose="02020603050405020304" pitchFamily="18" charset="0"/>
                <a:ea typeface="Cambria" panose="02040503050406030204" pitchFamily="18" charset="0"/>
                <a:cs typeface="Times New Roman" panose="02020603050405020304" pitchFamily="18" charset="0"/>
              </a:rPr>
              <a:t>10 </a:t>
            </a:r>
            <a:r>
              <a:rPr lang="ru-RU" sz="32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дБ </a:t>
            </a:r>
            <a:r>
              <a:rPr lang="ru-RU" sz="3200" dirty="0">
                <a:latin typeface="Times New Roman" panose="02020603050405020304" pitchFamily="18" charset="0"/>
                <a:ea typeface="Cambria" panose="02040503050406030204" pitchFamily="18" charset="0"/>
                <a:cs typeface="Times New Roman" panose="02020603050405020304" pitchFamily="18" charset="0"/>
              </a:rPr>
              <a:t>- </a:t>
            </a:r>
            <a:r>
              <a:rPr lang="ru-RU" sz="3200" i="1" dirty="0">
                <a:latin typeface="Times New Roman" panose="02020603050405020304" pitchFamily="18" charset="0"/>
                <a:ea typeface="Cambria" panose="02040503050406030204" pitchFamily="18" charset="0"/>
                <a:cs typeface="Times New Roman" panose="02020603050405020304" pitchFamily="18" charset="0"/>
              </a:rPr>
              <a:t>шелест листвы, тиканье часов; </a:t>
            </a:r>
          </a:p>
          <a:p>
            <a:pPr algn="just"/>
            <a:r>
              <a:rPr lang="ru-RU" sz="32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 30 дБ </a:t>
            </a:r>
            <a:r>
              <a:rPr lang="ru-RU" sz="3200" dirty="0">
                <a:latin typeface="Times New Roman" panose="02020603050405020304" pitchFamily="18" charset="0"/>
                <a:ea typeface="Cambria" panose="02040503050406030204" pitchFamily="18" charset="0"/>
                <a:cs typeface="Times New Roman" panose="02020603050405020304" pitchFamily="18" charset="0"/>
              </a:rPr>
              <a:t>-</a:t>
            </a:r>
            <a:r>
              <a:rPr lang="ru-RU" sz="3200" i="1" dirty="0">
                <a:latin typeface="Times New Roman" panose="02020603050405020304" pitchFamily="18" charset="0"/>
                <a:ea typeface="Cambria" panose="02040503050406030204" pitchFamily="18" charset="0"/>
                <a:cs typeface="Times New Roman" panose="02020603050405020304" pitchFamily="18" charset="0"/>
              </a:rPr>
              <a:t>тихий разговор; </a:t>
            </a:r>
          </a:p>
          <a:p>
            <a:pPr algn="just"/>
            <a:r>
              <a:rPr lang="ru-RU" sz="32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 50 дБ </a:t>
            </a:r>
            <a:r>
              <a:rPr lang="ru-RU" sz="3200" dirty="0">
                <a:latin typeface="Times New Roman" panose="02020603050405020304" pitchFamily="18" charset="0"/>
                <a:ea typeface="Cambria" panose="02040503050406030204" pitchFamily="18" charset="0"/>
                <a:cs typeface="Times New Roman" panose="02020603050405020304" pitchFamily="18" charset="0"/>
              </a:rPr>
              <a:t>- </a:t>
            </a:r>
            <a:r>
              <a:rPr lang="ru-RU" sz="3200" i="1" dirty="0">
                <a:latin typeface="Times New Roman" panose="02020603050405020304" pitchFamily="18" charset="0"/>
                <a:ea typeface="Cambria" panose="02040503050406030204" pitchFamily="18" charset="0"/>
                <a:cs typeface="Times New Roman" panose="02020603050405020304" pitchFamily="18" charset="0"/>
              </a:rPr>
              <a:t>громкий разговор; </a:t>
            </a:r>
          </a:p>
          <a:p>
            <a:pPr algn="just"/>
            <a:r>
              <a:rPr lang="ru-RU" sz="32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 80 дБ </a:t>
            </a:r>
            <a:r>
              <a:rPr lang="ru-RU" sz="3200" dirty="0">
                <a:latin typeface="Times New Roman" panose="02020603050405020304" pitchFamily="18" charset="0"/>
                <a:ea typeface="Cambria" panose="02040503050406030204" pitchFamily="18" charset="0"/>
                <a:cs typeface="Times New Roman" panose="02020603050405020304" pitchFamily="18" charset="0"/>
              </a:rPr>
              <a:t>- </a:t>
            </a:r>
            <a:r>
              <a:rPr lang="ru-RU" sz="3200" i="1" dirty="0">
                <a:latin typeface="Times New Roman" panose="02020603050405020304" pitchFamily="18" charset="0"/>
                <a:ea typeface="Cambria" panose="02040503050406030204" pitchFamily="18" charset="0"/>
                <a:cs typeface="Times New Roman" panose="02020603050405020304" pitchFamily="18" charset="0"/>
              </a:rPr>
              <a:t>шум работающего двигателя грузовика; </a:t>
            </a:r>
          </a:p>
          <a:p>
            <a:pPr algn="just"/>
            <a:r>
              <a:rPr lang="ru-RU" sz="32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 100 дБ </a:t>
            </a:r>
            <a:r>
              <a:rPr lang="ru-RU" sz="3200" dirty="0">
                <a:latin typeface="Times New Roman" panose="02020603050405020304" pitchFamily="18" charset="0"/>
                <a:ea typeface="Cambria" panose="02040503050406030204" pitchFamily="18" charset="0"/>
                <a:cs typeface="Times New Roman" panose="02020603050405020304" pitchFamily="18" charset="0"/>
              </a:rPr>
              <a:t>- </a:t>
            </a:r>
            <a:r>
              <a:rPr lang="ru-RU" sz="3200" i="1" dirty="0">
                <a:latin typeface="Times New Roman" panose="02020603050405020304" pitchFamily="18" charset="0"/>
                <a:ea typeface="Cambria" panose="02040503050406030204" pitchFamily="18" charset="0"/>
                <a:cs typeface="Times New Roman" panose="02020603050405020304" pitchFamily="18" charset="0"/>
              </a:rPr>
              <a:t>автомобильная сирена; </a:t>
            </a:r>
          </a:p>
          <a:p>
            <a:pPr algn="just"/>
            <a:r>
              <a:rPr lang="ru-RU" sz="3200"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 </a:t>
            </a:r>
            <a:r>
              <a:rPr lang="ru-RU" sz="32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140 дБ </a:t>
            </a:r>
            <a:r>
              <a:rPr lang="ru-RU" sz="3200"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 </a:t>
            </a:r>
            <a:r>
              <a:rPr lang="ru-RU" sz="3200" i="1" dirty="0">
                <a:latin typeface="Times New Roman" panose="02020603050405020304" pitchFamily="18" charset="0"/>
                <a:ea typeface="Cambria" panose="02040503050406030204" pitchFamily="18" charset="0"/>
                <a:cs typeface="Times New Roman" panose="02020603050405020304" pitchFamily="18" charset="0"/>
              </a:rPr>
              <a:t>аварийный нефтяной или газовый фонтан, порог болевого ощущения, выше которого давлен</a:t>
            </a:r>
            <a:r>
              <a:rPr lang="ru-RU" sz="3200" i="1" dirty="0">
                <a:latin typeface="Cambria" panose="02040503050406030204" pitchFamily="18" charset="0"/>
                <a:ea typeface="Cambria" panose="02040503050406030204" pitchFamily="18" charset="0"/>
              </a:rPr>
              <a:t>ие </a:t>
            </a:r>
            <a:r>
              <a:rPr lang="ru-RU" sz="3200" i="1" dirty="0">
                <a:latin typeface="Times New Roman" panose="02020603050405020304" pitchFamily="18" charset="0"/>
                <a:ea typeface="Cambria" panose="02040503050406030204" pitchFamily="18" charset="0"/>
                <a:cs typeface="Times New Roman" panose="02020603050405020304" pitchFamily="18" charset="0"/>
              </a:rPr>
              <a:t>звука приводит к разрыву барабанной перепонки. </a:t>
            </a:r>
            <a:endParaRPr lang="ru-KZ" sz="3200" i="1"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376027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8651AE95-2D67-44AA-9F92-7B01382A83EA}"/>
              </a:ext>
            </a:extLst>
          </p:cNvPr>
          <p:cNvSpPr/>
          <p:nvPr/>
        </p:nvSpPr>
        <p:spPr>
          <a:xfrm>
            <a:off x="205738" y="0"/>
            <a:ext cx="6865857" cy="689419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ru-RU" sz="2600" b="1" i="1" dirty="0">
                <a:solidFill>
                  <a:srgbClr val="C00000"/>
                </a:solidFill>
                <a:latin typeface="Cambria" panose="02040503050406030204" pitchFamily="18" charset="0"/>
                <a:ea typeface="Cambria" panose="02040503050406030204" pitchFamily="18" charset="0"/>
              </a:rPr>
              <a:t>По характеру спектра шумы </a:t>
            </a:r>
            <a:r>
              <a:rPr lang="ru-RU" sz="2600" dirty="0">
                <a:latin typeface="Cambria" panose="02040503050406030204" pitchFamily="18" charset="0"/>
                <a:ea typeface="Cambria" panose="02040503050406030204" pitchFamily="18" charset="0"/>
              </a:rPr>
              <a:t>подразделяются </a:t>
            </a:r>
            <a:r>
              <a:rPr lang="ru-RU" sz="2600" dirty="0" smtClean="0">
                <a:latin typeface="Cambria" panose="02040503050406030204" pitchFamily="18" charset="0"/>
                <a:ea typeface="Cambria" panose="02040503050406030204" pitchFamily="18" charset="0"/>
              </a:rPr>
              <a:t>на</a:t>
            </a:r>
          </a:p>
          <a:p>
            <a:pPr algn="just"/>
            <a:endParaRPr lang="ru-RU" sz="2600" dirty="0">
              <a:latin typeface="Cambria" panose="02040503050406030204" pitchFamily="18" charset="0"/>
              <a:ea typeface="Cambria" panose="02040503050406030204" pitchFamily="18" charset="0"/>
            </a:endParaRPr>
          </a:p>
          <a:p>
            <a:pPr marL="342900" indent="-342900" algn="just">
              <a:buFont typeface="Wingdings" panose="05000000000000000000" pitchFamily="2" charset="2"/>
              <a:buChar char="q"/>
            </a:pPr>
            <a:r>
              <a:rPr lang="ru-RU" sz="2600" dirty="0">
                <a:latin typeface="Cambria" panose="02040503050406030204" pitchFamily="18" charset="0"/>
                <a:ea typeface="Cambria" panose="02040503050406030204" pitchFamily="18" charset="0"/>
              </a:rPr>
              <a:t> </a:t>
            </a:r>
            <a:r>
              <a:rPr lang="ru-RU" sz="2600" i="1" dirty="0">
                <a:latin typeface="Cambria" panose="02040503050406030204" pitchFamily="18" charset="0"/>
                <a:ea typeface="Cambria" panose="02040503050406030204" pitchFamily="18" charset="0"/>
              </a:rPr>
              <a:t>широкополосные;</a:t>
            </a:r>
          </a:p>
          <a:p>
            <a:pPr marL="342900" indent="-342900" algn="just">
              <a:buFont typeface="Wingdings" panose="05000000000000000000" pitchFamily="2" charset="2"/>
              <a:buChar char="q"/>
            </a:pPr>
            <a:r>
              <a:rPr lang="ru-RU" sz="2600" i="1" dirty="0">
                <a:latin typeface="Cambria" panose="02040503050406030204" pitchFamily="18" charset="0"/>
                <a:ea typeface="Cambria" panose="02040503050406030204" pitchFamily="18" charset="0"/>
              </a:rPr>
              <a:t>тональные. </a:t>
            </a:r>
          </a:p>
          <a:p>
            <a:pPr algn="just"/>
            <a:r>
              <a:rPr lang="ru-RU" sz="2600" b="1" i="1" dirty="0" smtClean="0">
                <a:solidFill>
                  <a:srgbClr val="C00000"/>
                </a:solidFill>
                <a:latin typeface="Cambria" panose="02040503050406030204" pitchFamily="18" charset="0"/>
                <a:ea typeface="Cambria" panose="02040503050406030204" pitchFamily="18" charset="0"/>
              </a:rPr>
              <a:t>Широкополосным</a:t>
            </a:r>
            <a:r>
              <a:rPr lang="ru-RU" sz="2600" dirty="0" smtClean="0">
                <a:latin typeface="Cambria" panose="02040503050406030204" pitchFamily="18" charset="0"/>
                <a:ea typeface="Cambria" panose="02040503050406030204" pitchFamily="18" charset="0"/>
              </a:rPr>
              <a:t> </a:t>
            </a:r>
            <a:r>
              <a:rPr lang="ru-RU" sz="2600" dirty="0">
                <a:latin typeface="Cambria" panose="02040503050406030204" pitchFamily="18" charset="0"/>
                <a:ea typeface="Cambria" panose="02040503050406030204" pitchFamily="18" charset="0"/>
              </a:rPr>
              <a:t>называется шум с непрерывным спектром шириной более одной октавы. </a:t>
            </a:r>
          </a:p>
          <a:p>
            <a:pPr algn="just"/>
            <a:endParaRPr lang="ru-RU" sz="2600" b="1" i="1" dirty="0" smtClean="0">
              <a:solidFill>
                <a:srgbClr val="C00000"/>
              </a:solidFill>
              <a:latin typeface="Cambria" panose="02040503050406030204" pitchFamily="18" charset="0"/>
              <a:ea typeface="Cambria" panose="02040503050406030204" pitchFamily="18" charset="0"/>
            </a:endParaRPr>
          </a:p>
          <a:p>
            <a:pPr algn="just"/>
            <a:r>
              <a:rPr lang="ru-RU" sz="2600" b="1" i="1" dirty="0" smtClean="0">
                <a:solidFill>
                  <a:srgbClr val="C00000"/>
                </a:solidFill>
                <a:latin typeface="Cambria" panose="02040503050406030204" pitchFamily="18" charset="0"/>
                <a:ea typeface="Cambria" panose="02040503050406030204" pitchFamily="18" charset="0"/>
              </a:rPr>
              <a:t>Тональным</a:t>
            </a:r>
            <a:r>
              <a:rPr lang="ru-RU" sz="2600" dirty="0" smtClean="0">
                <a:latin typeface="Cambria" panose="02040503050406030204" pitchFamily="18" charset="0"/>
                <a:ea typeface="Cambria" panose="02040503050406030204" pitchFamily="18" charset="0"/>
              </a:rPr>
              <a:t> </a:t>
            </a:r>
            <a:r>
              <a:rPr lang="ru-RU" sz="2600" dirty="0">
                <a:latin typeface="Cambria" panose="02040503050406030204" pitchFamily="18" charset="0"/>
                <a:ea typeface="Cambria" panose="02040503050406030204" pitchFamily="18" charset="0"/>
              </a:rPr>
              <a:t>называется шум, в спектре которого имеются выраженные дискретные тона. Тональность шума устанавливается измерением уровней звукового давления в 1/3 октавных полосах частот, когда превышение уровня в одной полосе по сравнению с соседними составляет не менее чем 10 дБ.</a:t>
            </a:r>
            <a:endParaRPr lang="ru-KZ" sz="2600" dirty="0">
              <a:latin typeface="Cambria" panose="02040503050406030204" pitchFamily="18" charset="0"/>
              <a:ea typeface="Cambria" panose="02040503050406030204" pitchFamily="18" charset="0"/>
            </a:endParaRPr>
          </a:p>
        </p:txBody>
      </p:sp>
      <p:pic>
        <p:nvPicPr>
          <p:cNvPr id="3" name="Рисунок 2">
            <a:extLst>
              <a:ext uri="{FF2B5EF4-FFF2-40B4-BE49-F238E27FC236}">
                <a16:creationId xmlns:a16="http://schemas.microsoft.com/office/drawing/2014/main" xmlns="" id="{49797DCB-25AF-43E9-9309-2CD38D0159C2}"/>
              </a:ext>
            </a:extLst>
          </p:cNvPr>
          <p:cNvPicPr>
            <a:picLocks noChangeAspect="1"/>
          </p:cNvPicPr>
          <p:nvPr/>
        </p:nvPicPr>
        <p:blipFill>
          <a:blip r:embed="rId2"/>
          <a:stretch>
            <a:fillRect/>
          </a:stretch>
        </p:blipFill>
        <p:spPr>
          <a:xfrm>
            <a:off x="7071596" y="0"/>
            <a:ext cx="5066810" cy="3346246"/>
          </a:xfrm>
          <a:prstGeom prst="rect">
            <a:avLst/>
          </a:prstGeom>
        </p:spPr>
        <p:style>
          <a:lnRef idx="2">
            <a:schemeClr val="accent2"/>
          </a:lnRef>
          <a:fillRef idx="1">
            <a:schemeClr val="lt1"/>
          </a:fillRef>
          <a:effectRef idx="0">
            <a:schemeClr val="accent2"/>
          </a:effectRef>
          <a:fontRef idx="minor">
            <a:schemeClr val="dk1"/>
          </a:fontRef>
        </p:style>
      </p:pic>
      <p:pic>
        <p:nvPicPr>
          <p:cNvPr id="4" name="Рисунок 3">
            <a:extLst>
              <a:ext uri="{FF2B5EF4-FFF2-40B4-BE49-F238E27FC236}">
                <a16:creationId xmlns:a16="http://schemas.microsoft.com/office/drawing/2014/main" xmlns="" id="{1BE89F43-A440-4843-B7F2-8F5915A20E4B}"/>
              </a:ext>
            </a:extLst>
          </p:cNvPr>
          <p:cNvPicPr>
            <a:picLocks noChangeAspect="1"/>
          </p:cNvPicPr>
          <p:nvPr/>
        </p:nvPicPr>
        <p:blipFill>
          <a:blip r:embed="rId3"/>
          <a:stretch>
            <a:fillRect/>
          </a:stretch>
        </p:blipFill>
        <p:spPr>
          <a:xfrm>
            <a:off x="7071595" y="3708707"/>
            <a:ext cx="5066811" cy="3021007"/>
          </a:xfrm>
          <a:prstGeom prst="rect">
            <a:avLst/>
          </a:prstGeom>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4114624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8113C5DA-B74D-44AD-A87D-D5C3489D754A}"/>
              </a:ext>
            </a:extLst>
          </p:cNvPr>
          <p:cNvSpPr/>
          <p:nvPr/>
        </p:nvSpPr>
        <p:spPr>
          <a:xfrm>
            <a:off x="151384" y="275978"/>
            <a:ext cx="12040616" cy="612475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ru-RU" sz="3600" b="1" i="1" dirty="0">
                <a:solidFill>
                  <a:srgbClr val="C00000"/>
                </a:solidFill>
                <a:latin typeface="Cambria" panose="02040503050406030204" pitchFamily="18" charset="0"/>
                <a:ea typeface="Cambria" panose="02040503050406030204" pitchFamily="18" charset="0"/>
              </a:rPr>
              <a:t>По временным характеристикам </a:t>
            </a:r>
            <a:r>
              <a:rPr lang="ru-RU" sz="3600" dirty="0">
                <a:latin typeface="Cambria" panose="02040503050406030204" pitchFamily="18" charset="0"/>
                <a:ea typeface="Cambria" panose="02040503050406030204" pitchFamily="18" charset="0"/>
              </a:rPr>
              <a:t>шумы подразделяются на:</a:t>
            </a:r>
          </a:p>
          <a:p>
            <a:pPr marL="342900" indent="-342900">
              <a:buFont typeface="Wingdings" panose="05000000000000000000" pitchFamily="2" charset="2"/>
              <a:buChar char="v"/>
            </a:pPr>
            <a:r>
              <a:rPr lang="ru-RU" sz="3600" dirty="0">
                <a:latin typeface="Cambria" panose="02040503050406030204" pitchFamily="18" charset="0"/>
                <a:ea typeface="Cambria" panose="02040503050406030204" pitchFamily="18" charset="0"/>
              </a:rPr>
              <a:t> </a:t>
            </a:r>
            <a:r>
              <a:rPr lang="ru-RU" sz="3600" b="1" i="1" dirty="0">
                <a:latin typeface="Cambria" panose="02040503050406030204" pitchFamily="18" charset="0"/>
                <a:ea typeface="Cambria" panose="02040503050406030204" pitchFamily="18" charset="0"/>
              </a:rPr>
              <a:t>Постоянные</a:t>
            </a:r>
          </a:p>
          <a:p>
            <a:pPr marL="342900" indent="-342900">
              <a:buFont typeface="Wingdings" panose="05000000000000000000" pitchFamily="2" charset="2"/>
              <a:buChar char="v"/>
            </a:pPr>
            <a:r>
              <a:rPr lang="ru-RU" sz="3600" b="1" i="1" dirty="0">
                <a:latin typeface="Cambria" panose="02040503050406030204" pitchFamily="18" charset="0"/>
                <a:ea typeface="Cambria" panose="02040503050406030204" pitchFamily="18" charset="0"/>
              </a:rPr>
              <a:t>Непостоянные</a:t>
            </a:r>
          </a:p>
          <a:p>
            <a:pPr algn="just"/>
            <a:r>
              <a:rPr lang="ru-RU" sz="3600" b="1" dirty="0">
                <a:solidFill>
                  <a:srgbClr val="C00000"/>
                </a:solidFill>
                <a:latin typeface="Cambria" panose="02040503050406030204" pitchFamily="18" charset="0"/>
                <a:ea typeface="Cambria" panose="02040503050406030204" pitchFamily="18" charset="0"/>
              </a:rPr>
              <a:t>Постоянный шум </a:t>
            </a:r>
            <a:r>
              <a:rPr lang="ru-RU" sz="3600" dirty="0">
                <a:latin typeface="Cambria" panose="02040503050406030204" pitchFamily="18" charset="0"/>
                <a:ea typeface="Cambria" panose="02040503050406030204" pitchFamily="18" charset="0"/>
              </a:rPr>
              <a:t>- шум, уровень звука которого изменяется по времени (за 8-часовой рабочий день или за время измерения) не более чем на 5 </a:t>
            </a:r>
            <a:r>
              <a:rPr lang="ru-RU" sz="3600" dirty="0" err="1">
                <a:latin typeface="Cambria" panose="02040503050406030204" pitchFamily="18" charset="0"/>
                <a:ea typeface="Cambria" panose="02040503050406030204" pitchFamily="18" charset="0"/>
              </a:rPr>
              <a:t>дБА</a:t>
            </a:r>
            <a:r>
              <a:rPr lang="ru-RU" sz="3600" dirty="0">
                <a:latin typeface="Cambria" panose="02040503050406030204" pitchFamily="18" charset="0"/>
                <a:ea typeface="Cambria" panose="02040503050406030204" pitchFamily="18" charset="0"/>
              </a:rPr>
              <a:t> при измерении по временной характеристике шумомера «медленно»*. </a:t>
            </a:r>
          </a:p>
          <a:p>
            <a:pPr algn="just"/>
            <a:r>
              <a:rPr lang="ru-RU" sz="3600" dirty="0">
                <a:latin typeface="Cambria" panose="02040503050406030204" pitchFamily="18" charset="0"/>
                <a:ea typeface="Cambria" panose="02040503050406030204" pitchFamily="18" charset="0"/>
              </a:rPr>
              <a:t>В свою очередь, </a:t>
            </a:r>
            <a:r>
              <a:rPr lang="ru-RU" sz="3600" b="1" dirty="0" err="1">
                <a:solidFill>
                  <a:srgbClr val="C00000"/>
                </a:solidFill>
                <a:latin typeface="Cambria" panose="02040503050406030204" pitchFamily="18" charset="0"/>
                <a:ea typeface="Cambria" panose="02040503050406030204" pitchFamily="18" charset="0"/>
              </a:rPr>
              <a:t>неnостоянный</a:t>
            </a:r>
            <a:r>
              <a:rPr lang="ru-RU" sz="3600" b="1" dirty="0">
                <a:solidFill>
                  <a:srgbClr val="C00000"/>
                </a:solidFill>
                <a:latin typeface="Cambria" panose="02040503050406030204" pitchFamily="18" charset="0"/>
                <a:ea typeface="Cambria" panose="02040503050406030204" pitchFamily="18" charset="0"/>
              </a:rPr>
              <a:t> шум </a:t>
            </a:r>
            <a:r>
              <a:rPr lang="ru-RU" sz="3600" dirty="0">
                <a:latin typeface="Cambria" panose="02040503050406030204" pitchFamily="18" charset="0"/>
                <a:ea typeface="Cambria" panose="02040503050406030204" pitchFamily="18" charset="0"/>
              </a:rPr>
              <a:t>- это шум</a:t>
            </a:r>
            <a:r>
              <a:rPr lang="ru-RU" sz="3200" dirty="0">
                <a:latin typeface="Cambria" panose="02040503050406030204" pitchFamily="18" charset="0"/>
                <a:ea typeface="Cambria" panose="02040503050406030204" pitchFamily="18" charset="0"/>
              </a:rPr>
              <a:t>, уровень которого во времени изменяется более чем на 5 </a:t>
            </a:r>
            <a:r>
              <a:rPr lang="ru-RU" sz="3200" dirty="0" err="1">
                <a:latin typeface="Cambria" panose="02040503050406030204" pitchFamily="18" charset="0"/>
                <a:ea typeface="Cambria" panose="02040503050406030204" pitchFamily="18" charset="0"/>
              </a:rPr>
              <a:t>дБА</a:t>
            </a:r>
            <a:r>
              <a:rPr lang="ru-RU" sz="3200"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1816565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B48CC91B-3305-44C7-93A0-79E707E56565}"/>
              </a:ext>
            </a:extLst>
          </p:cNvPr>
          <p:cNvSpPr/>
          <p:nvPr/>
        </p:nvSpPr>
        <p:spPr>
          <a:xfrm>
            <a:off x="279397" y="172866"/>
            <a:ext cx="5816603" cy="369331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ru-RU" b="1" dirty="0">
                <a:solidFill>
                  <a:srgbClr val="C00000"/>
                </a:solidFill>
                <a:latin typeface="Cambria" panose="02040503050406030204" pitchFamily="18" charset="0"/>
                <a:ea typeface="Cambria" panose="02040503050406030204" pitchFamily="18" charset="0"/>
              </a:rPr>
              <a:t>Непостоянные шумы </a:t>
            </a:r>
            <a:r>
              <a:rPr lang="ru-RU" dirty="0">
                <a:latin typeface="Cambria" panose="02040503050406030204" pitchFamily="18" charset="0"/>
                <a:ea typeface="Cambria" panose="02040503050406030204" pitchFamily="18" charset="0"/>
              </a:rPr>
              <a:t>подразделяются на: </a:t>
            </a:r>
          </a:p>
          <a:p>
            <a:pPr algn="just"/>
            <a:r>
              <a:rPr lang="ru-RU" dirty="0">
                <a:solidFill>
                  <a:srgbClr val="C00000"/>
                </a:solidFill>
                <a:latin typeface="Cambria" panose="02040503050406030204" pitchFamily="18" charset="0"/>
                <a:ea typeface="Cambria" panose="02040503050406030204" pitchFamily="18" charset="0"/>
              </a:rPr>
              <a:t>• </a:t>
            </a:r>
            <a:r>
              <a:rPr lang="ru-RU" b="1" i="1" dirty="0">
                <a:solidFill>
                  <a:srgbClr val="C00000"/>
                </a:solidFill>
                <a:latin typeface="Cambria" panose="02040503050406030204" pitchFamily="18" charset="0"/>
                <a:ea typeface="Cambria" panose="02040503050406030204" pitchFamily="18" charset="0"/>
              </a:rPr>
              <a:t>колеблющиеся во времени</a:t>
            </a:r>
            <a:r>
              <a:rPr lang="ru-RU" dirty="0">
                <a:latin typeface="Cambria" panose="02040503050406030204" pitchFamily="18" charset="0"/>
                <a:ea typeface="Cambria" panose="02040503050406030204" pitchFamily="18" charset="0"/>
              </a:rPr>
              <a:t>, уровень звука которых непрерывно изменяется во времени; </a:t>
            </a:r>
          </a:p>
          <a:p>
            <a:pPr algn="just"/>
            <a:r>
              <a:rPr lang="ru-RU" dirty="0">
                <a:solidFill>
                  <a:srgbClr val="C00000"/>
                </a:solidFill>
                <a:latin typeface="Cambria" panose="02040503050406030204" pitchFamily="18" charset="0"/>
                <a:ea typeface="Cambria" panose="02040503050406030204" pitchFamily="18" charset="0"/>
              </a:rPr>
              <a:t>• </a:t>
            </a:r>
            <a:r>
              <a:rPr lang="ru-RU" b="1" i="1" dirty="0" err="1">
                <a:solidFill>
                  <a:srgbClr val="C00000"/>
                </a:solidFill>
                <a:latin typeface="Cambria" panose="02040503050406030204" pitchFamily="18" charset="0"/>
                <a:ea typeface="Cambria" panose="02040503050406030204" pitchFamily="18" charset="0"/>
              </a:rPr>
              <a:t>nрерывистые</a:t>
            </a:r>
            <a:r>
              <a:rPr lang="ru-RU" b="1" i="1" dirty="0">
                <a:solidFill>
                  <a:srgbClr val="C00000"/>
                </a:solidFill>
                <a:latin typeface="Cambria" panose="02040503050406030204" pitchFamily="18" charset="0"/>
                <a:ea typeface="Cambria" panose="02040503050406030204" pitchFamily="18" charset="0"/>
              </a:rPr>
              <a:t>,</a:t>
            </a:r>
            <a:r>
              <a:rPr lang="ru-RU" b="1" dirty="0">
                <a:solidFill>
                  <a:srgbClr val="C00000"/>
                </a:solidFill>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уровень звука которых </a:t>
            </a:r>
            <a:r>
              <a:rPr lang="ru-RU" dirty="0" err="1">
                <a:latin typeface="Cambria" panose="02040503050406030204" pitchFamily="18" charset="0"/>
                <a:ea typeface="Cambria" panose="02040503050406030204" pitchFamily="18" charset="0"/>
              </a:rPr>
              <a:t>стуnенчато</a:t>
            </a:r>
            <a:r>
              <a:rPr lang="ru-RU" dirty="0">
                <a:latin typeface="Cambria" panose="02040503050406030204" pitchFamily="18" charset="0"/>
                <a:ea typeface="Cambria" panose="02040503050406030204" pitchFamily="18" charset="0"/>
              </a:rPr>
              <a:t> изменяется (на 5 </a:t>
            </a:r>
            <a:r>
              <a:rPr lang="ru-RU" dirty="0" err="1">
                <a:latin typeface="Cambria" panose="02040503050406030204" pitchFamily="18" charset="0"/>
                <a:ea typeface="Cambria" panose="02040503050406030204" pitchFamily="18" charset="0"/>
              </a:rPr>
              <a:t>дБА</a:t>
            </a:r>
            <a:r>
              <a:rPr lang="ru-RU" dirty="0">
                <a:latin typeface="Cambria" panose="02040503050406030204" pitchFamily="18" charset="0"/>
                <a:ea typeface="Cambria" panose="02040503050406030204" pitchFamily="18" charset="0"/>
              </a:rPr>
              <a:t> и более), причем длительность интервалов, в течение которых уровень остается </a:t>
            </a:r>
            <a:r>
              <a:rPr lang="ru-RU" dirty="0" err="1">
                <a:latin typeface="Cambria" panose="02040503050406030204" pitchFamily="18" charset="0"/>
                <a:ea typeface="Cambria" panose="02040503050406030204" pitchFamily="18" charset="0"/>
              </a:rPr>
              <a:t>nостоянным</a:t>
            </a:r>
            <a:r>
              <a:rPr lang="ru-RU" dirty="0">
                <a:latin typeface="Cambria" panose="02040503050406030204" pitchFamily="18" charset="0"/>
                <a:ea typeface="Cambria" panose="02040503050406030204" pitchFamily="18" charset="0"/>
              </a:rPr>
              <a:t>, составляет </a:t>
            </a:r>
            <a:r>
              <a:rPr lang="ru-RU" b="1" dirty="0">
                <a:solidFill>
                  <a:srgbClr val="C00000"/>
                </a:solidFill>
                <a:latin typeface="Cambria" panose="02040503050406030204" pitchFamily="18" charset="0"/>
                <a:ea typeface="Cambria" panose="02040503050406030204" pitchFamily="18" charset="0"/>
              </a:rPr>
              <a:t>1 с </a:t>
            </a:r>
            <a:r>
              <a:rPr lang="ru-RU" dirty="0">
                <a:latin typeface="Cambria" panose="02040503050406030204" pitchFamily="18" charset="0"/>
                <a:ea typeface="Cambria" panose="02040503050406030204" pitchFamily="18" charset="0"/>
              </a:rPr>
              <a:t>и более; </a:t>
            </a:r>
          </a:p>
          <a:p>
            <a:pPr algn="just"/>
            <a:r>
              <a:rPr lang="ru-RU" dirty="0">
                <a:solidFill>
                  <a:srgbClr val="C00000"/>
                </a:solidFill>
                <a:latin typeface="Cambria" panose="02040503050406030204" pitchFamily="18" charset="0"/>
                <a:ea typeface="Cambria" panose="02040503050406030204" pitchFamily="18" charset="0"/>
              </a:rPr>
              <a:t>• </a:t>
            </a:r>
            <a:r>
              <a:rPr lang="ru-RU" b="1" i="1" dirty="0" err="1">
                <a:solidFill>
                  <a:srgbClr val="C00000"/>
                </a:solidFill>
                <a:latin typeface="Cambria" panose="02040503050406030204" pitchFamily="18" charset="0"/>
                <a:ea typeface="Cambria" panose="02040503050406030204" pitchFamily="18" charset="0"/>
              </a:rPr>
              <a:t>имnульсные</a:t>
            </a:r>
            <a:r>
              <a:rPr lang="ru-RU" b="1" i="1" dirty="0">
                <a:solidFill>
                  <a:srgbClr val="C00000"/>
                </a:solidFill>
                <a:latin typeface="Cambria" panose="02040503050406030204" pitchFamily="18" charset="0"/>
                <a:ea typeface="Cambria" panose="02040503050406030204" pitchFamily="18" charset="0"/>
              </a:rPr>
              <a:t>,</a:t>
            </a:r>
            <a:r>
              <a:rPr lang="ru-RU" b="1" dirty="0">
                <a:solidFill>
                  <a:srgbClr val="C00000"/>
                </a:solidFill>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состоящие из одного или нескольких звуковых сигналов, каждый длительностью менее 1 с, при этом уровни звука в </a:t>
            </a:r>
            <a:r>
              <a:rPr lang="ru-RU" dirty="0" err="1">
                <a:latin typeface="Cambria" panose="02040503050406030204" pitchFamily="18" charset="0"/>
                <a:ea typeface="Cambria" panose="02040503050406030204" pitchFamily="18" charset="0"/>
              </a:rPr>
              <a:t>дБАI</a:t>
            </a:r>
            <a:r>
              <a:rPr lang="ru-RU" dirty="0">
                <a:latin typeface="Cambria" panose="02040503050406030204" pitchFamily="18" charset="0"/>
                <a:ea typeface="Cambria" panose="02040503050406030204" pitchFamily="18" charset="0"/>
              </a:rPr>
              <a:t> и </a:t>
            </a:r>
            <a:r>
              <a:rPr lang="ru-RU" dirty="0" err="1">
                <a:latin typeface="Cambria" panose="02040503050406030204" pitchFamily="18" charset="0"/>
                <a:ea typeface="Cambria" panose="02040503050406030204" pitchFamily="18" charset="0"/>
              </a:rPr>
              <a:t>дБА</a:t>
            </a:r>
            <a:r>
              <a:rPr lang="ru-RU" dirty="0">
                <a:latin typeface="Cambria" panose="02040503050406030204" pitchFamily="18" charset="0"/>
                <a:ea typeface="Cambria" panose="02040503050406030204" pitchFamily="18" charset="0"/>
              </a:rPr>
              <a:t>, измеренные соответственно на </a:t>
            </a:r>
            <a:r>
              <a:rPr lang="ru-RU" dirty="0" smtClean="0">
                <a:latin typeface="Cambria" panose="02040503050406030204" pitchFamily="18" charset="0"/>
                <a:ea typeface="Cambria" panose="02040503050406030204" pitchFamily="18" charset="0"/>
              </a:rPr>
              <a:t>временных </a:t>
            </a:r>
            <a:r>
              <a:rPr lang="ru-RU" dirty="0">
                <a:latin typeface="Cambria" panose="02040503050406030204" pitchFamily="18" charset="0"/>
                <a:ea typeface="Cambria" panose="02040503050406030204" pitchFamily="18" charset="0"/>
              </a:rPr>
              <a:t>характеристик шумомера «</a:t>
            </a:r>
            <a:r>
              <a:rPr lang="ru-RU" dirty="0" err="1">
                <a:latin typeface="Cambria" panose="02040503050406030204" pitchFamily="18" charset="0"/>
                <a:ea typeface="Cambria" panose="02040503050406030204" pitchFamily="18" charset="0"/>
              </a:rPr>
              <a:t>имnульс</a:t>
            </a:r>
            <a:r>
              <a:rPr lang="ru-RU" dirty="0">
                <a:latin typeface="Cambria" panose="02040503050406030204" pitchFamily="18" charset="0"/>
                <a:ea typeface="Cambria" panose="02040503050406030204" pitchFamily="18" charset="0"/>
              </a:rPr>
              <a:t>» и «медленно», отличаются не менее чем на 7 </a:t>
            </a:r>
            <a:r>
              <a:rPr lang="ru-RU" dirty="0" err="1">
                <a:latin typeface="Cambria" panose="02040503050406030204" pitchFamily="18" charset="0"/>
                <a:ea typeface="Cambria" panose="02040503050406030204" pitchFamily="18" charset="0"/>
              </a:rPr>
              <a:t>дБА</a:t>
            </a:r>
            <a:r>
              <a:rPr lang="ru-RU" dirty="0">
                <a:latin typeface="Cambria" panose="02040503050406030204" pitchFamily="18" charset="0"/>
                <a:ea typeface="Cambria" panose="02040503050406030204" pitchFamily="18" charset="0"/>
              </a:rPr>
              <a:t>.</a:t>
            </a:r>
            <a:endParaRPr lang="ru-KZ" i="1" dirty="0">
              <a:latin typeface="Cambria" panose="02040503050406030204" pitchFamily="18" charset="0"/>
              <a:ea typeface="Cambria" panose="02040503050406030204" pitchFamily="18" charset="0"/>
            </a:endParaRPr>
          </a:p>
        </p:txBody>
      </p:sp>
      <p:pic>
        <p:nvPicPr>
          <p:cNvPr id="3" name="Рисунок 2">
            <a:extLst>
              <a:ext uri="{FF2B5EF4-FFF2-40B4-BE49-F238E27FC236}">
                <a16:creationId xmlns:a16="http://schemas.microsoft.com/office/drawing/2014/main" xmlns="" id="{BB6C3714-4F8D-4E1A-9C94-B12874EC67E7}"/>
              </a:ext>
            </a:extLst>
          </p:cNvPr>
          <p:cNvPicPr>
            <a:picLocks noChangeAspect="1"/>
          </p:cNvPicPr>
          <p:nvPr/>
        </p:nvPicPr>
        <p:blipFill>
          <a:blip r:embed="rId3"/>
          <a:stretch>
            <a:fillRect/>
          </a:stretch>
        </p:blipFill>
        <p:spPr>
          <a:xfrm>
            <a:off x="6269504" y="-1"/>
            <a:ext cx="5816603" cy="2998269"/>
          </a:xfrm>
          <a:prstGeom prst="rect">
            <a:avLst/>
          </a:prstGeom>
        </p:spPr>
      </p:pic>
      <p:pic>
        <p:nvPicPr>
          <p:cNvPr id="4" name="Рисунок 3">
            <a:extLst>
              <a:ext uri="{FF2B5EF4-FFF2-40B4-BE49-F238E27FC236}">
                <a16:creationId xmlns:a16="http://schemas.microsoft.com/office/drawing/2014/main" xmlns="" id="{C3149BA3-FF63-4AC7-8F42-455F23C27075}"/>
              </a:ext>
            </a:extLst>
          </p:cNvPr>
          <p:cNvPicPr>
            <a:picLocks noChangeAspect="1"/>
          </p:cNvPicPr>
          <p:nvPr/>
        </p:nvPicPr>
        <p:blipFill>
          <a:blip r:embed="rId4"/>
          <a:stretch>
            <a:fillRect/>
          </a:stretch>
        </p:blipFill>
        <p:spPr>
          <a:xfrm>
            <a:off x="6386733" y="2998269"/>
            <a:ext cx="5554007" cy="2962688"/>
          </a:xfrm>
          <a:prstGeom prst="rect">
            <a:avLst/>
          </a:prstGeom>
        </p:spPr>
      </p:pic>
      <p:pic>
        <p:nvPicPr>
          <p:cNvPr id="5" name="Рисунок 4">
            <a:extLst>
              <a:ext uri="{FF2B5EF4-FFF2-40B4-BE49-F238E27FC236}">
                <a16:creationId xmlns:a16="http://schemas.microsoft.com/office/drawing/2014/main" xmlns="" id="{96B66498-9F16-485D-8D83-11CF9904A455}"/>
              </a:ext>
            </a:extLst>
          </p:cNvPr>
          <p:cNvPicPr>
            <a:picLocks noChangeAspect="1"/>
          </p:cNvPicPr>
          <p:nvPr/>
        </p:nvPicPr>
        <p:blipFill>
          <a:blip r:embed="rId5"/>
          <a:stretch>
            <a:fillRect/>
          </a:stretch>
        </p:blipFill>
        <p:spPr>
          <a:xfrm>
            <a:off x="0" y="3866185"/>
            <a:ext cx="6096000" cy="2962688"/>
          </a:xfrm>
          <a:prstGeom prst="rect">
            <a:avLst/>
          </a:prstGeom>
        </p:spPr>
      </p:pic>
    </p:spTree>
    <p:extLst>
      <p:ext uri="{BB962C8B-B14F-4D97-AF65-F5344CB8AC3E}">
        <p14:creationId xmlns:p14="http://schemas.microsoft.com/office/powerpoint/2010/main" val="4293016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D89A7241-1E09-4AD6-B1CD-08579733E991}"/>
              </a:ext>
            </a:extLst>
          </p:cNvPr>
          <p:cNvSpPr/>
          <p:nvPr/>
        </p:nvSpPr>
        <p:spPr>
          <a:xfrm>
            <a:off x="263856" y="496417"/>
            <a:ext cx="11928144" cy="69865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ru-RU" sz="2800" b="1" dirty="0">
                <a:solidFill>
                  <a:srgbClr val="C00000"/>
                </a:solidFill>
                <a:latin typeface="Cambria" panose="02040503050406030204" pitchFamily="18" charset="0"/>
                <a:ea typeface="Cambria" panose="02040503050406030204" pitchFamily="18" charset="0"/>
              </a:rPr>
              <a:t>Нормирование шума </a:t>
            </a:r>
          </a:p>
          <a:p>
            <a:pPr algn="just"/>
            <a:r>
              <a:rPr lang="ru-RU" sz="2800" dirty="0" err="1">
                <a:latin typeface="Cambria" panose="02040503050406030204" pitchFamily="18" charset="0"/>
                <a:ea typeface="Cambria" panose="02040503050406030204" pitchFamily="18" charset="0"/>
              </a:rPr>
              <a:t>Предуnреждение</a:t>
            </a:r>
            <a:r>
              <a:rPr lang="ru-RU" sz="2800" dirty="0">
                <a:latin typeface="Cambria" panose="02040503050406030204" pitchFamily="18" charset="0"/>
                <a:ea typeface="Cambria" panose="02040503050406030204" pitchFamily="18" charset="0"/>
              </a:rPr>
              <a:t> неблагоприятного воздействия шума на организм человека основано на его гигиеническом нормировании, целью которого является обоснование </a:t>
            </a:r>
            <a:r>
              <a:rPr lang="ru-RU" sz="2800" b="1" dirty="0">
                <a:solidFill>
                  <a:srgbClr val="C00000"/>
                </a:solidFill>
                <a:latin typeface="Cambria" panose="02040503050406030204" pitchFamily="18" charset="0"/>
                <a:ea typeface="Cambria" panose="02040503050406030204" pitchFamily="18" charset="0"/>
              </a:rPr>
              <a:t>допустимых уровней, </a:t>
            </a:r>
            <a:r>
              <a:rPr lang="ru-RU" sz="2800" dirty="0" err="1">
                <a:latin typeface="Cambria" panose="02040503050406030204" pitchFamily="18" charset="0"/>
                <a:ea typeface="Cambria" panose="02040503050406030204" pitchFamily="18" charset="0"/>
              </a:rPr>
              <a:t>обесnечивающих</a:t>
            </a:r>
            <a:r>
              <a:rPr lang="ru-RU" sz="2800" dirty="0">
                <a:latin typeface="Cambria" panose="02040503050406030204" pitchFamily="18" charset="0"/>
                <a:ea typeface="Cambria" panose="02040503050406030204" pitchFamily="18" charset="0"/>
              </a:rPr>
              <a:t> </a:t>
            </a:r>
            <a:r>
              <a:rPr lang="ru-RU" sz="2800" dirty="0" err="1">
                <a:latin typeface="Cambria" panose="02040503050406030204" pitchFamily="18" charset="0"/>
                <a:ea typeface="Cambria" panose="02040503050406030204" pitchFamily="18" charset="0"/>
              </a:rPr>
              <a:t>nредупреждение</a:t>
            </a:r>
            <a:r>
              <a:rPr lang="ru-RU" sz="2800" dirty="0">
                <a:latin typeface="Cambria" panose="02040503050406030204" pitchFamily="18" charset="0"/>
                <a:ea typeface="Cambria" panose="02040503050406030204" pitchFamily="18" charset="0"/>
              </a:rPr>
              <a:t> функциональных расстройств и заболеваний.</a:t>
            </a:r>
          </a:p>
          <a:p>
            <a:pPr algn="just"/>
            <a:r>
              <a:rPr lang="ru-RU" sz="2800" dirty="0">
                <a:latin typeface="Cambria" panose="02040503050406030204" pitchFamily="18" charset="0"/>
                <a:ea typeface="Cambria" panose="02040503050406030204" pitchFamily="18" charset="0"/>
              </a:rPr>
              <a:t>В качестве критерия нормирования </a:t>
            </a:r>
            <a:r>
              <a:rPr lang="ru-RU" sz="2800" dirty="0" err="1">
                <a:latin typeface="Cambria" panose="02040503050406030204" pitchFamily="18" charset="0"/>
                <a:ea typeface="Cambria" panose="02040503050406030204" pitchFamily="18" charset="0"/>
              </a:rPr>
              <a:t>исnользуются</a:t>
            </a:r>
            <a:r>
              <a:rPr lang="ru-RU" sz="2800" dirty="0">
                <a:latin typeface="Cambria" panose="02040503050406030204" pitchFamily="18" charset="0"/>
                <a:ea typeface="Cambria" panose="02040503050406030204" pitchFamily="18" charset="0"/>
              </a:rPr>
              <a:t> </a:t>
            </a:r>
            <a:r>
              <a:rPr lang="ru-RU" sz="2800" b="1" dirty="0" err="1">
                <a:solidFill>
                  <a:srgbClr val="FF0000"/>
                </a:solidFill>
                <a:latin typeface="Cambria" panose="02040503050406030204" pitchFamily="18" charset="0"/>
                <a:ea typeface="Cambria" panose="02040503050406030204" pitchFamily="18" charset="0"/>
              </a:rPr>
              <a:t>nредельно</a:t>
            </a:r>
            <a:r>
              <a:rPr lang="ru-RU" sz="2800" b="1" dirty="0">
                <a:solidFill>
                  <a:srgbClr val="FF0000"/>
                </a:solidFill>
                <a:latin typeface="Cambria" panose="02040503050406030204" pitchFamily="18" charset="0"/>
                <a:ea typeface="Cambria" panose="02040503050406030204" pitchFamily="18" charset="0"/>
              </a:rPr>
              <a:t> допустимые уровни (ПДУ)шума</a:t>
            </a:r>
            <a:r>
              <a:rPr lang="ru-RU" sz="2800" dirty="0">
                <a:latin typeface="Cambria" panose="02040503050406030204" pitchFamily="18" charset="0"/>
                <a:ea typeface="Cambria" panose="02040503050406030204" pitchFamily="18" charset="0"/>
              </a:rPr>
              <a:t>. </a:t>
            </a:r>
          </a:p>
          <a:p>
            <a:pPr algn="just"/>
            <a:r>
              <a:rPr lang="ru-RU" sz="2800" b="1" dirty="0">
                <a:solidFill>
                  <a:srgbClr val="C00000"/>
                </a:solidFill>
                <a:latin typeface="Cambria" panose="02040503050406030204" pitchFamily="18" charset="0"/>
                <a:ea typeface="Cambria" panose="02040503050406030204" pitchFamily="18" charset="0"/>
              </a:rPr>
              <a:t>Предельно </a:t>
            </a:r>
            <a:r>
              <a:rPr lang="ru-RU" sz="2800" b="1" dirty="0" err="1">
                <a:solidFill>
                  <a:srgbClr val="C00000"/>
                </a:solidFill>
                <a:latin typeface="Cambria" panose="02040503050406030204" pitchFamily="18" charset="0"/>
                <a:ea typeface="Cambria" panose="02040503050406030204" pitchFamily="18" charset="0"/>
              </a:rPr>
              <a:t>доnустимый</a:t>
            </a:r>
            <a:r>
              <a:rPr lang="ru-RU" sz="2800" b="1" dirty="0">
                <a:solidFill>
                  <a:srgbClr val="C00000"/>
                </a:solidFill>
                <a:latin typeface="Cambria" panose="02040503050406030204" pitchFamily="18" charset="0"/>
                <a:ea typeface="Cambria" panose="02040503050406030204" pitchFamily="18" charset="0"/>
              </a:rPr>
              <a:t> уровень шума </a:t>
            </a:r>
            <a:r>
              <a:rPr lang="ru-RU" sz="2800" dirty="0">
                <a:latin typeface="Cambria" panose="02040503050406030204" pitchFamily="18" charset="0"/>
                <a:ea typeface="Cambria" panose="02040503050406030204" pitchFamily="18" charset="0"/>
              </a:rPr>
              <a:t>- </a:t>
            </a:r>
            <a:r>
              <a:rPr lang="ru-RU" sz="2800" i="1" dirty="0">
                <a:latin typeface="Cambria" panose="02040503050406030204" pitchFamily="18" charset="0"/>
                <a:ea typeface="Cambria" panose="02040503050406030204" pitchFamily="18" charset="0"/>
              </a:rPr>
              <a:t>это уровень фактора, который </a:t>
            </a:r>
            <a:r>
              <a:rPr lang="ru-RU" sz="2800" i="1" dirty="0" err="1">
                <a:latin typeface="Cambria" panose="02040503050406030204" pitchFamily="18" charset="0"/>
                <a:ea typeface="Cambria" panose="02040503050406030204" pitchFamily="18" charset="0"/>
              </a:rPr>
              <a:t>nри</a:t>
            </a:r>
            <a:r>
              <a:rPr lang="ru-RU" sz="2800" i="1" dirty="0">
                <a:latin typeface="Cambria" panose="02040503050406030204" pitchFamily="18" charset="0"/>
                <a:ea typeface="Cambria" panose="02040503050406030204" pitchFamily="18" charset="0"/>
              </a:rPr>
              <a:t> ежедневной (кроме выходных дней) работе, но не более 40 часов в неделю в течение всего рабочего стажа, не должен вызывать заболеваний или отклонений в состоянии здоровья, обнаруживаемых современными методами исследований в процессе работы или </a:t>
            </a:r>
            <a:r>
              <a:rPr lang="ru-RU" sz="2800" dirty="0">
                <a:latin typeface="Cambria" panose="02040503050406030204" pitchFamily="18" charset="0"/>
                <a:ea typeface="Cambria" panose="02040503050406030204" pitchFamily="18" charset="0"/>
              </a:rPr>
              <a:t>в </a:t>
            </a:r>
            <a:r>
              <a:rPr lang="ru-RU" sz="2800" i="1" dirty="0">
                <a:latin typeface="Cambria" panose="02040503050406030204" pitchFamily="18" charset="0"/>
                <a:ea typeface="Cambria" panose="02040503050406030204" pitchFamily="18" charset="0"/>
              </a:rPr>
              <a:t>отдаленные сроки жизни настоящего и </a:t>
            </a:r>
            <a:r>
              <a:rPr lang="ru-RU" sz="2800" i="1" dirty="0" err="1">
                <a:latin typeface="Cambria" panose="02040503050406030204" pitchFamily="18" charset="0"/>
                <a:ea typeface="Cambria" panose="02040503050406030204" pitchFamily="18" charset="0"/>
              </a:rPr>
              <a:t>nоследующего</a:t>
            </a:r>
            <a:r>
              <a:rPr lang="ru-RU" sz="2800" i="1" dirty="0">
                <a:latin typeface="Cambria" panose="02040503050406030204" pitchFamily="18" charset="0"/>
                <a:ea typeface="Cambria" panose="02040503050406030204" pitchFamily="18" charset="0"/>
              </a:rPr>
              <a:t> </a:t>
            </a:r>
            <a:r>
              <a:rPr lang="ru-RU" sz="2800" i="1" dirty="0" err="1">
                <a:latin typeface="Cambria" panose="02040503050406030204" pitchFamily="18" charset="0"/>
                <a:ea typeface="Cambria" panose="02040503050406030204" pitchFamily="18" charset="0"/>
              </a:rPr>
              <a:t>nоколений</a:t>
            </a:r>
            <a:r>
              <a:rPr lang="ru-RU" sz="2800" dirty="0">
                <a:latin typeface="Cambria" panose="02040503050406030204" pitchFamily="18" charset="0"/>
                <a:ea typeface="Cambria" panose="02040503050406030204" pitchFamily="18" charset="0"/>
              </a:rPr>
              <a:t>. Соблюдение ПДУ шума не исключает нарушения здоровья у сверхчувствительных лиц.</a:t>
            </a:r>
            <a:endParaRPr lang="ru-KZ"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02662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80A01CF7-9B79-41BB-A1E6-0E51B8D4F057}"/>
              </a:ext>
            </a:extLst>
          </p:cNvPr>
          <p:cNvSpPr/>
          <p:nvPr/>
        </p:nvSpPr>
        <p:spPr>
          <a:xfrm>
            <a:off x="1195754" y="117693"/>
            <a:ext cx="9777046" cy="637097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ru-RU" sz="2400" b="1" dirty="0">
                <a:latin typeface="Cambria" panose="02040503050406030204" pitchFamily="18" charset="0"/>
                <a:ea typeface="Cambria" panose="02040503050406030204" pitchFamily="18" charset="0"/>
              </a:rPr>
              <a:t>Методы борьбы с шумом </a:t>
            </a:r>
          </a:p>
          <a:p>
            <a:pPr algn="just"/>
            <a:r>
              <a:rPr lang="ru-RU" sz="2400" dirty="0">
                <a:latin typeface="Cambria" panose="02040503050406030204" pitchFamily="18" charset="0"/>
                <a:ea typeface="Cambria" panose="02040503050406030204" pitchFamily="18" charset="0"/>
              </a:rPr>
              <a:t>Выбор мероприятий по ограничению </a:t>
            </a:r>
            <a:r>
              <a:rPr lang="ru-RU" sz="2400" dirty="0" err="1">
                <a:latin typeface="Cambria" panose="02040503050406030204" pitchFamily="18" charset="0"/>
                <a:ea typeface="Cambria" panose="02040503050406030204" pitchFamily="18" charset="0"/>
              </a:rPr>
              <a:t>неблагаприятного</a:t>
            </a:r>
            <a:r>
              <a:rPr lang="ru-RU" sz="2400" dirty="0">
                <a:latin typeface="Cambria" panose="02040503050406030204" pitchFamily="18" charset="0"/>
                <a:ea typeface="Cambria" panose="02040503050406030204" pitchFamily="18" charset="0"/>
              </a:rPr>
              <a:t> действия </a:t>
            </a:r>
            <a:r>
              <a:rPr lang="ru-RU" sz="2400" dirty="0" err="1">
                <a:latin typeface="Cambria" panose="02040503050406030204" pitchFamily="18" charset="0"/>
                <a:ea typeface="Cambria" panose="02040503050406030204" pitchFamily="18" charset="0"/>
              </a:rPr>
              <a:t>щума</a:t>
            </a:r>
            <a:r>
              <a:rPr lang="ru-RU" sz="2400" dirty="0">
                <a:latin typeface="Cambria" panose="02040503050406030204" pitchFamily="18" charset="0"/>
                <a:ea typeface="Cambria" panose="02040503050406030204" pitchFamily="18" charset="0"/>
              </a:rPr>
              <a:t> на человека производится исходя из конкретных условий: величины превышения ПДУ, характера спектра, источника излучения. Средства защиты работников от шума подразделяются на средства коллективной и индивидуальной защиты.</a:t>
            </a:r>
          </a:p>
          <a:p>
            <a:pPr algn="just"/>
            <a:r>
              <a:rPr lang="ru-RU" sz="2400" b="1" dirty="0">
                <a:solidFill>
                  <a:srgbClr val="C00000"/>
                </a:solidFill>
                <a:latin typeface="Cambria" panose="02040503050406030204" pitchFamily="18" charset="0"/>
                <a:ea typeface="Cambria" panose="02040503050406030204" pitchFamily="18" charset="0"/>
              </a:rPr>
              <a:t>К средствам коллективной защиты относятся: </a:t>
            </a:r>
          </a:p>
          <a:p>
            <a:pPr marL="457200" indent="-457200" algn="just">
              <a:buAutoNum type="arabicPeriod"/>
            </a:pPr>
            <a:r>
              <a:rPr lang="ru-RU" sz="2400" i="1" dirty="0">
                <a:latin typeface="Cambria" panose="02040503050406030204" pitchFamily="18" charset="0"/>
                <a:ea typeface="Cambria" panose="02040503050406030204" pitchFamily="18" charset="0"/>
              </a:rPr>
              <a:t>Уменьшение шума в источнике. </a:t>
            </a:r>
          </a:p>
          <a:p>
            <a:pPr marL="457200" indent="-457200" algn="just">
              <a:buAutoNum type="arabicPeriod"/>
            </a:pPr>
            <a:r>
              <a:rPr lang="ru-RU" sz="2400" i="1" dirty="0">
                <a:latin typeface="Cambria" panose="02040503050406030204" pitchFamily="18" charset="0"/>
                <a:ea typeface="Cambria" panose="02040503050406030204" pitchFamily="18" charset="0"/>
              </a:rPr>
              <a:t>Изменение направленности излучения шума. </a:t>
            </a:r>
          </a:p>
          <a:p>
            <a:pPr marL="457200" indent="-457200" algn="just">
              <a:buAutoNum type="arabicPeriod"/>
            </a:pPr>
            <a:r>
              <a:rPr lang="ru-RU" sz="2400" i="1" dirty="0">
                <a:latin typeface="Cambria" panose="02040503050406030204" pitchFamily="18" charset="0"/>
                <a:ea typeface="Cambria" panose="02040503050406030204" pitchFamily="18" charset="0"/>
              </a:rPr>
              <a:t>Рациональная планировка предприятий и цехов. </a:t>
            </a:r>
          </a:p>
          <a:p>
            <a:pPr marL="457200" indent="-457200" algn="just">
              <a:buAutoNum type="arabicPeriod"/>
            </a:pPr>
            <a:r>
              <a:rPr lang="ru-RU" sz="2400" b="1" dirty="0">
                <a:latin typeface="Cambria" panose="02040503050406030204" pitchFamily="18" charset="0"/>
                <a:ea typeface="Cambria" panose="02040503050406030204" pitchFamily="18" charset="0"/>
              </a:rPr>
              <a:t>Акустическая обработка помещений: </a:t>
            </a:r>
          </a:p>
          <a:p>
            <a:pPr marL="342900" indent="-342900" algn="just">
              <a:buFont typeface="Wingdings" panose="05000000000000000000" pitchFamily="2" charset="2"/>
              <a:buChar char="v"/>
            </a:pPr>
            <a:r>
              <a:rPr lang="ru-RU" sz="2400" i="1" dirty="0">
                <a:latin typeface="Cambria" panose="02040503050406030204" pitchFamily="18" charset="0"/>
                <a:ea typeface="Cambria" panose="02040503050406030204" pitchFamily="18" charset="0"/>
              </a:rPr>
              <a:t>звукопоглощающие облицовки; </a:t>
            </a:r>
          </a:p>
          <a:p>
            <a:pPr marL="342900" indent="-342900" algn="just">
              <a:buFont typeface="Wingdings" panose="05000000000000000000" pitchFamily="2" charset="2"/>
              <a:buChar char="v"/>
            </a:pPr>
            <a:r>
              <a:rPr lang="ru-RU" sz="2400" i="1" dirty="0">
                <a:latin typeface="Cambria" panose="02040503050406030204" pitchFamily="18" charset="0"/>
                <a:ea typeface="Cambria" panose="02040503050406030204" pitchFamily="18" charset="0"/>
              </a:rPr>
              <a:t>штучные поглотители. </a:t>
            </a:r>
          </a:p>
          <a:p>
            <a:pPr algn="just"/>
            <a:r>
              <a:rPr lang="ru-RU" sz="2400" dirty="0">
                <a:latin typeface="Cambria" panose="02040503050406030204" pitchFamily="18" charset="0"/>
                <a:ea typeface="Cambria" panose="02040503050406030204" pitchFamily="18" charset="0"/>
              </a:rPr>
              <a:t>5. </a:t>
            </a:r>
            <a:r>
              <a:rPr lang="ru-RU" sz="2400" b="1" dirty="0">
                <a:latin typeface="Cambria" panose="02040503050406030204" pitchFamily="18" charset="0"/>
                <a:ea typeface="Cambria" panose="02040503050406030204" pitchFamily="18" charset="0"/>
              </a:rPr>
              <a:t>Уменьшение шума на пути его распространения от источника к рабочему месту: </a:t>
            </a:r>
          </a:p>
          <a:p>
            <a:pPr marL="342900" indent="-342900" algn="just">
              <a:buFont typeface="Wingdings" panose="05000000000000000000" pitchFamily="2" charset="2"/>
              <a:buChar char="Ø"/>
            </a:pPr>
            <a:r>
              <a:rPr lang="ru-RU" sz="2400" i="1" dirty="0">
                <a:latin typeface="Cambria" panose="02040503050406030204" pitchFamily="18" charset="0"/>
                <a:ea typeface="Cambria" panose="02040503050406030204" pitchFamily="18" charset="0"/>
              </a:rPr>
              <a:t>звукоизоляцией; </a:t>
            </a:r>
          </a:p>
          <a:p>
            <a:pPr marL="342900" indent="-342900" algn="just">
              <a:buFont typeface="Wingdings" panose="05000000000000000000" pitchFamily="2" charset="2"/>
              <a:buChar char="Ø"/>
            </a:pPr>
            <a:r>
              <a:rPr lang="ru-RU" sz="2400" i="1" dirty="0">
                <a:latin typeface="Cambria" panose="02040503050406030204" pitchFamily="18" charset="0"/>
                <a:ea typeface="Cambria" panose="02040503050406030204" pitchFamily="18" charset="0"/>
              </a:rPr>
              <a:t>глушителями.</a:t>
            </a:r>
            <a:endParaRPr lang="ru-KZ" sz="2400" i="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16929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xmlns="" id="{EDF64A19-62F1-4228-A09C-E44FE36BB909}"/>
              </a:ext>
            </a:extLst>
          </p:cNvPr>
          <p:cNvSpPr/>
          <p:nvPr/>
        </p:nvSpPr>
        <p:spPr>
          <a:xfrm>
            <a:off x="1519311" y="335845"/>
            <a:ext cx="9509760" cy="618630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ru-RU" sz="2200" b="1" dirty="0">
                <a:solidFill>
                  <a:srgbClr val="C00000"/>
                </a:solidFill>
                <a:latin typeface="Cambria" panose="02040503050406030204" pitchFamily="18" charset="0"/>
                <a:ea typeface="Cambria" panose="02040503050406030204" pitchFamily="18" charset="0"/>
              </a:rPr>
              <a:t>К средствам индивидуальной защиты относятся: </a:t>
            </a:r>
          </a:p>
          <a:p>
            <a:pPr algn="just"/>
            <a:r>
              <a:rPr lang="ru-RU" sz="2200" dirty="0">
                <a:latin typeface="Cambria" panose="02040503050406030204" pitchFamily="18" charset="0"/>
                <a:ea typeface="Cambria" panose="02040503050406030204" pitchFamily="18" charset="0"/>
              </a:rPr>
              <a:t>Если применение коллективных средств защиты не позволяет обеспечить требования нормативов, применяются средства индивидуальной защиты, к которым относятся вкладыши, наушники, шлемы. </a:t>
            </a:r>
          </a:p>
          <a:p>
            <a:pPr algn="just"/>
            <a:r>
              <a:rPr lang="ru-RU" sz="2200" b="1" dirty="0">
                <a:solidFill>
                  <a:srgbClr val="C00000"/>
                </a:solidFill>
                <a:latin typeface="Cambria" panose="02040503050406030204" pitchFamily="18" charset="0"/>
                <a:ea typeface="Cambria" panose="02040503050406030204" pitchFamily="18" charset="0"/>
              </a:rPr>
              <a:t>Вкладыши-</a:t>
            </a:r>
            <a:r>
              <a:rPr lang="ru-RU" sz="2200" dirty="0">
                <a:latin typeface="Cambria" panose="02040503050406030204" pitchFamily="18" charset="0"/>
                <a:ea typeface="Cambria" panose="02040503050406030204" pitchFamily="18" charset="0"/>
              </a:rPr>
              <a:t> </a:t>
            </a:r>
            <a:r>
              <a:rPr lang="ru-RU" sz="2200" i="1" dirty="0">
                <a:latin typeface="Cambria" panose="02040503050406030204" pitchFamily="18" charset="0"/>
                <a:ea typeface="Cambria" panose="02040503050406030204" pitchFamily="18" charset="0"/>
              </a:rPr>
              <a:t>самое дешевое средство, но не достаточно эффективное (снижение шума 5 - 20 дБ). Они вставляются в наружный слуховой проход и представляют собой различного рода заглушки из волокнистых материалов, воскообразных мастик, или пластинчатых слепков, изготовленных по конфигурации слухового прохода. </a:t>
            </a:r>
          </a:p>
          <a:p>
            <a:pPr algn="just"/>
            <a:r>
              <a:rPr lang="ru-RU" sz="2200" b="1" dirty="0">
                <a:solidFill>
                  <a:srgbClr val="C00000"/>
                </a:solidFill>
                <a:latin typeface="Cambria" panose="02040503050406030204" pitchFamily="18" charset="0"/>
                <a:ea typeface="Cambria" panose="02040503050406030204" pitchFamily="18" charset="0"/>
              </a:rPr>
              <a:t>Наушники </a:t>
            </a:r>
            <a:r>
              <a:rPr lang="ru-RU" sz="2200" i="1" dirty="0">
                <a:latin typeface="Cambria" panose="02040503050406030204" pitchFamily="18" charset="0"/>
                <a:ea typeface="Cambria" panose="02040503050406030204" pitchFamily="18" charset="0"/>
              </a:rPr>
              <a:t>представляют собой чашки из пластмассы или металла, заполненные звукопоглотителем. Для плотности прилегания чашки наушников снабжены специальными уплотняющими кольцами, заполненными воздухом или специальными жидкостями. Степень глушения звука наушниками на высоких частотах составляет 20-38 дБ. </a:t>
            </a:r>
            <a:r>
              <a:rPr lang="ru-RU" sz="2200" b="1" dirty="0">
                <a:solidFill>
                  <a:srgbClr val="C00000"/>
                </a:solidFill>
                <a:latin typeface="Cambria" panose="02040503050406030204" pitchFamily="18" charset="0"/>
                <a:ea typeface="Cambria" panose="02040503050406030204" pitchFamily="18" charset="0"/>
              </a:rPr>
              <a:t>Шлемы</a:t>
            </a:r>
            <a:r>
              <a:rPr lang="ru-RU" sz="2200" dirty="0">
                <a:latin typeface="Cambria" panose="02040503050406030204" pitchFamily="18" charset="0"/>
                <a:ea typeface="Cambria" panose="02040503050406030204" pitchFamily="18" charset="0"/>
              </a:rPr>
              <a:t> </a:t>
            </a:r>
            <a:r>
              <a:rPr lang="ru-RU" sz="2200" i="1" dirty="0">
                <a:latin typeface="Cambria" panose="02040503050406030204" pitchFamily="18" charset="0"/>
                <a:ea typeface="Cambria" panose="02040503050406030204" pitchFamily="18" charset="0"/>
              </a:rPr>
              <a:t>используются для защиты от очень сильных шумов (более 120 дБ), так как звуковые колебания воспринимаются не только ухом, но и через кости черепа. </a:t>
            </a:r>
            <a:endParaRPr lang="ru-KZ" sz="2200" i="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66204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4E8F6256-5239-4B02-B9B0-42F3B4A2965D}"/>
              </a:ext>
            </a:extLst>
          </p:cNvPr>
          <p:cNvSpPr/>
          <p:nvPr/>
        </p:nvSpPr>
        <p:spPr>
          <a:xfrm>
            <a:off x="0" y="584775"/>
            <a:ext cx="12077431" cy="649408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ru-RU" sz="3200" b="1" i="1" dirty="0">
                <a:solidFill>
                  <a:srgbClr val="C00000"/>
                </a:solidFill>
                <a:latin typeface="Times New Roman" panose="02020603050405020304" pitchFamily="18" charset="0"/>
                <a:ea typeface="Cambria" panose="02040503050406030204" pitchFamily="18" charset="0"/>
                <a:cs typeface="Times New Roman" panose="02020603050405020304" pitchFamily="18" charset="0"/>
              </a:rPr>
              <a:t>Вибрация</a:t>
            </a:r>
            <a:r>
              <a:rPr lang="ru-RU" sz="3200" dirty="0">
                <a:latin typeface="Times New Roman" panose="02020603050405020304" pitchFamily="18" charset="0"/>
                <a:ea typeface="Cambria" panose="02040503050406030204" pitchFamily="18" charset="0"/>
                <a:cs typeface="Times New Roman" panose="02020603050405020304" pitchFamily="18" charset="0"/>
              </a:rPr>
              <a:t> - </a:t>
            </a:r>
            <a:r>
              <a:rPr lang="ru-RU" sz="3200" i="1" dirty="0">
                <a:latin typeface="Times New Roman" panose="02020603050405020304" pitchFamily="18" charset="0"/>
                <a:ea typeface="Cambria" panose="02040503050406030204" pitchFamily="18" charset="0"/>
                <a:cs typeface="Times New Roman" panose="02020603050405020304" pitchFamily="18" charset="0"/>
              </a:rPr>
              <a:t>это механические колебания, передаваемые по жидким или твердым средам. </a:t>
            </a:r>
            <a:r>
              <a:rPr lang="ru-RU" sz="3200" dirty="0">
                <a:latin typeface="Times New Roman" panose="02020603050405020304" pitchFamily="18" charset="0"/>
                <a:ea typeface="Cambria" panose="02040503050406030204" pitchFamily="18" charset="0"/>
                <a:cs typeface="Times New Roman" panose="02020603050405020304" pitchFamily="18" charset="0"/>
              </a:rPr>
              <a:t>Вибрация аналогична шуму по физической природе. Термином </a:t>
            </a:r>
            <a:r>
              <a:rPr lang="ru-RU" sz="3200" dirty="0">
                <a:solidFill>
                  <a:srgbClr val="C00000"/>
                </a:solidFill>
                <a:latin typeface="Times New Roman" panose="02020603050405020304" pitchFamily="18" charset="0"/>
                <a:ea typeface="Cambria" panose="02040503050406030204" pitchFamily="18" charset="0"/>
                <a:cs typeface="Times New Roman" panose="02020603050405020304" pitchFamily="18" charset="0"/>
              </a:rPr>
              <a:t>«вибрация» </a:t>
            </a:r>
            <a:r>
              <a:rPr lang="ru-RU" sz="3200" dirty="0">
                <a:latin typeface="Times New Roman" panose="02020603050405020304" pitchFamily="18" charset="0"/>
                <a:ea typeface="Cambria" panose="02040503050406030204" pitchFamily="18" charset="0"/>
                <a:cs typeface="Times New Roman" panose="02020603050405020304" pitchFamily="18" charset="0"/>
              </a:rPr>
              <a:t>чаще всего </a:t>
            </a:r>
            <a:r>
              <a:rPr lang="ru-RU" sz="3200" dirty="0" smtClean="0">
                <a:latin typeface="Times New Roman" panose="02020603050405020304" pitchFamily="18" charset="0"/>
                <a:ea typeface="Cambria" panose="02040503050406030204" pitchFamily="18" charset="0"/>
                <a:cs typeface="Times New Roman" panose="02020603050405020304" pitchFamily="18" charset="0"/>
              </a:rPr>
              <a:t>используются </a:t>
            </a:r>
            <a:r>
              <a:rPr lang="ru-RU" sz="3200" dirty="0">
                <a:latin typeface="Times New Roman" panose="02020603050405020304" pitchFamily="18" charset="0"/>
                <a:ea typeface="Cambria" panose="02040503050406030204" pitchFamily="18" charset="0"/>
                <a:cs typeface="Times New Roman" panose="02020603050405020304" pitchFamily="18" charset="0"/>
              </a:rPr>
              <a:t>там, где колебания имеют относительно малую амплитуду и не слишком низкую частоту. Например, едва ли можно применять термин «вибрацию», говоря о колебаниях маятника или о раскачивании людей.</a:t>
            </a:r>
          </a:p>
          <a:p>
            <a:r>
              <a:rPr lang="ru-RU" sz="3200" b="1" i="1"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По способу передачи: </a:t>
            </a:r>
          </a:p>
          <a:p>
            <a:pPr marL="342900" indent="-342900" algn="just">
              <a:buFont typeface="Wingdings" panose="05000000000000000000" pitchFamily="2" charset="2"/>
              <a:buChar char="v"/>
            </a:pPr>
            <a:r>
              <a:rPr lang="ru-RU" sz="3200" b="1" i="1" dirty="0">
                <a:solidFill>
                  <a:srgbClr val="C00000"/>
                </a:solidFill>
                <a:latin typeface="Times New Roman" panose="02020603050405020304" pitchFamily="18" charset="0"/>
                <a:ea typeface="Cambria" panose="02040503050406030204" pitchFamily="18" charset="0"/>
                <a:cs typeface="Times New Roman" panose="02020603050405020304" pitchFamily="18" charset="0"/>
              </a:rPr>
              <a:t>общая вибрация</a:t>
            </a:r>
            <a:r>
              <a:rPr lang="ru-RU" sz="3200" i="1" dirty="0">
                <a:solidFill>
                  <a:srgbClr val="C00000"/>
                </a:solidFill>
                <a:latin typeface="Times New Roman" panose="02020603050405020304" pitchFamily="18" charset="0"/>
                <a:ea typeface="Cambria" panose="02040503050406030204" pitchFamily="18" charset="0"/>
                <a:cs typeface="Times New Roman" panose="02020603050405020304" pitchFamily="18" charset="0"/>
              </a:rPr>
              <a:t>, </a:t>
            </a:r>
            <a:r>
              <a:rPr lang="ru-RU" sz="3200" i="1" dirty="0">
                <a:latin typeface="Times New Roman" panose="02020603050405020304" pitchFamily="18" charset="0"/>
                <a:ea typeface="Cambria" panose="02040503050406030204" pitchFamily="18" charset="0"/>
                <a:cs typeface="Times New Roman" panose="02020603050405020304" pitchFamily="18" charset="0"/>
              </a:rPr>
              <a:t>передающаяся через опорные поверхности на тело сидящего или стоящего человека</a:t>
            </a:r>
            <a:r>
              <a:rPr lang="ru-RU" sz="3200" dirty="0">
                <a:latin typeface="Times New Roman" panose="02020603050405020304" pitchFamily="18" charset="0"/>
                <a:ea typeface="Cambria" panose="02040503050406030204" pitchFamily="18" charset="0"/>
                <a:cs typeface="Times New Roman" panose="02020603050405020304" pitchFamily="18" charset="0"/>
              </a:rPr>
              <a:t>; </a:t>
            </a:r>
          </a:p>
          <a:p>
            <a:pPr marL="342900" indent="-342900" algn="just">
              <a:buFont typeface="Wingdings" panose="05000000000000000000" pitchFamily="2" charset="2"/>
              <a:buChar char="v"/>
            </a:pPr>
            <a:r>
              <a:rPr lang="ru-RU" sz="3200" b="1" i="1" dirty="0">
                <a:solidFill>
                  <a:srgbClr val="C00000"/>
                </a:solidFill>
                <a:latin typeface="Times New Roman" panose="02020603050405020304" pitchFamily="18" charset="0"/>
                <a:ea typeface="Cambria" panose="02040503050406030204" pitchFamily="18" charset="0"/>
                <a:cs typeface="Times New Roman" panose="02020603050405020304" pitchFamily="18" charset="0"/>
              </a:rPr>
              <a:t>локальная вибрация</a:t>
            </a:r>
            <a:r>
              <a:rPr lang="ru-RU" sz="3200" dirty="0">
                <a:latin typeface="Times New Roman" panose="02020603050405020304" pitchFamily="18" charset="0"/>
                <a:ea typeface="Cambria" panose="02040503050406030204" pitchFamily="18" charset="0"/>
                <a:cs typeface="Times New Roman" panose="02020603050405020304" pitchFamily="18" charset="0"/>
              </a:rPr>
              <a:t>, </a:t>
            </a:r>
            <a:r>
              <a:rPr lang="ru-RU" sz="3200" i="1" dirty="0">
                <a:latin typeface="Times New Roman" panose="02020603050405020304" pitchFamily="18" charset="0"/>
                <a:ea typeface="Cambria" panose="02040503050406030204" pitchFamily="18" charset="0"/>
                <a:cs typeface="Times New Roman" panose="02020603050405020304" pitchFamily="18" charset="0"/>
              </a:rPr>
              <a:t>передающаяся через руки человека, на ноги сидящего человека и на предплечья, контактирующие с вибрирующими поверхностями рабочих столов. </a:t>
            </a:r>
          </a:p>
        </p:txBody>
      </p:sp>
      <p:sp>
        <p:nvSpPr>
          <p:cNvPr id="3" name="Прямоугольник 2">
            <a:extLst>
              <a:ext uri="{FF2B5EF4-FFF2-40B4-BE49-F238E27FC236}">
                <a16:creationId xmlns:a16="http://schemas.microsoft.com/office/drawing/2014/main" xmlns="" id="{598C79F1-1E25-455B-8EE8-7DDABF6CBD6D}"/>
              </a:ext>
            </a:extLst>
          </p:cNvPr>
          <p:cNvSpPr/>
          <p:nvPr/>
        </p:nvSpPr>
        <p:spPr>
          <a:xfrm>
            <a:off x="4962138" y="0"/>
            <a:ext cx="2153154" cy="584775"/>
          </a:xfrm>
          <a:prstGeom prst="rect">
            <a:avLst/>
          </a:prstGeom>
        </p:spPr>
        <p:txBody>
          <a:bodyPr wrap="none">
            <a:spAutoFit/>
          </a:bodyPr>
          <a:lstStyle/>
          <a:p>
            <a:r>
              <a:rPr lang="ru-RU" sz="3200" b="1" dirty="0">
                <a:solidFill>
                  <a:srgbClr val="C00000"/>
                </a:solidFill>
                <a:latin typeface="Cambria" panose="02040503050406030204" pitchFamily="18" charset="0"/>
                <a:ea typeface="Cambria" panose="02040503050406030204" pitchFamily="18" charset="0"/>
              </a:rPr>
              <a:t>Вибрация</a:t>
            </a:r>
            <a:endParaRPr lang="ru-KZ" sz="3200" dirty="0"/>
          </a:p>
        </p:txBody>
      </p:sp>
    </p:spTree>
    <p:extLst>
      <p:ext uri="{BB962C8B-B14F-4D97-AF65-F5344CB8AC3E}">
        <p14:creationId xmlns:p14="http://schemas.microsoft.com/office/powerpoint/2010/main" val="1312613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254329F7-0EEF-4F8E-A7EE-7DC01F94AC39}"/>
              </a:ext>
            </a:extLst>
          </p:cNvPr>
          <p:cNvSpPr/>
          <p:nvPr/>
        </p:nvSpPr>
        <p:spPr>
          <a:xfrm>
            <a:off x="504092" y="379828"/>
            <a:ext cx="11183815" cy="612475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ru-RU" sz="2400" b="1" i="1" dirty="0">
                <a:solidFill>
                  <a:srgbClr val="0070C0"/>
                </a:solidFill>
                <a:latin typeface="Cambria" panose="02040503050406030204" pitchFamily="18" charset="0"/>
                <a:ea typeface="Cambria" panose="02040503050406030204" pitchFamily="18" charset="0"/>
              </a:rPr>
              <a:t>По источнику возникновения: </a:t>
            </a:r>
          </a:p>
          <a:p>
            <a:pPr marL="342900" indent="-342900">
              <a:buFont typeface="Wingdings" panose="05000000000000000000" pitchFamily="2" charset="2"/>
              <a:buChar char="v"/>
            </a:pPr>
            <a:r>
              <a:rPr lang="ru-RU" sz="2000" b="1" i="1" dirty="0">
                <a:solidFill>
                  <a:srgbClr val="C00000"/>
                </a:solidFill>
                <a:latin typeface="Cambria" panose="02040503050406030204" pitchFamily="18" charset="0"/>
                <a:ea typeface="Cambria" panose="02040503050406030204" pitchFamily="18" charset="0"/>
              </a:rPr>
              <a:t>общая в жилых </a:t>
            </a:r>
            <a:r>
              <a:rPr lang="ru-RU" sz="2000" b="1" i="1" dirty="0" err="1">
                <a:solidFill>
                  <a:srgbClr val="C00000"/>
                </a:solidFill>
                <a:latin typeface="Cambria" panose="02040503050406030204" pitchFamily="18" charset="0"/>
                <a:ea typeface="Cambria" panose="02040503050406030204" pitchFamily="18" charset="0"/>
              </a:rPr>
              <a:t>nомещениях</a:t>
            </a:r>
            <a:r>
              <a:rPr lang="ru-RU" sz="2000" b="1" i="1" dirty="0">
                <a:solidFill>
                  <a:srgbClr val="C00000"/>
                </a:solidFill>
                <a:latin typeface="Cambria" panose="02040503050406030204" pitchFamily="18" charset="0"/>
                <a:ea typeface="Cambria" panose="02040503050406030204" pitchFamily="18" charset="0"/>
              </a:rPr>
              <a:t> и общественных зданиях: </a:t>
            </a:r>
          </a:p>
          <a:p>
            <a:pPr marL="342900" indent="-342900" algn="just">
              <a:buFont typeface="Wingdings" panose="05000000000000000000" pitchFamily="2" charset="2"/>
              <a:buChar char="Ø"/>
            </a:pPr>
            <a:r>
              <a:rPr lang="ru-RU" dirty="0">
                <a:latin typeface="Cambria" panose="02040503050406030204" pitchFamily="18" charset="0"/>
                <a:ea typeface="Cambria" panose="02040503050406030204" pitchFamily="18" charset="0"/>
              </a:rPr>
              <a:t>от внешних источников (городского рельсового транспорта и </a:t>
            </a:r>
            <a:r>
              <a:rPr lang="ru-RU" dirty="0" err="1">
                <a:latin typeface="Cambria" panose="02040503050406030204" pitchFamily="18" charset="0"/>
                <a:ea typeface="Cambria" panose="02040503050406030204" pitchFamily="18" charset="0"/>
              </a:rPr>
              <a:t>автотрансnорта</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nромышленных</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nредприятий</a:t>
            </a:r>
            <a:r>
              <a:rPr lang="ru-RU" dirty="0">
                <a:latin typeface="Cambria" panose="02040503050406030204" pitchFamily="18" charset="0"/>
                <a:ea typeface="Cambria" panose="02040503050406030204" pitchFamily="18" charset="0"/>
              </a:rPr>
              <a:t> и передвижных </a:t>
            </a:r>
            <a:r>
              <a:rPr lang="ru-RU" dirty="0" err="1">
                <a:latin typeface="Cambria" panose="02040503050406030204" pitchFamily="18" charset="0"/>
                <a:ea typeface="Cambria" panose="02040503050406030204" pitchFamily="18" charset="0"/>
              </a:rPr>
              <a:t>nромышленных</a:t>
            </a:r>
            <a:r>
              <a:rPr lang="ru-RU" dirty="0">
                <a:latin typeface="Cambria" panose="02040503050406030204" pitchFamily="18" charset="0"/>
                <a:ea typeface="Cambria" panose="02040503050406030204" pitchFamily="18" charset="0"/>
              </a:rPr>
              <a:t> установок); </a:t>
            </a:r>
          </a:p>
          <a:p>
            <a:pPr marL="342900" indent="-342900" algn="just">
              <a:buFont typeface="Wingdings" panose="05000000000000000000" pitchFamily="2" charset="2"/>
              <a:buChar char="Ø"/>
            </a:pPr>
            <a:r>
              <a:rPr lang="ru-RU" dirty="0">
                <a:latin typeface="Cambria" panose="02040503050406030204" pitchFamily="18" charset="0"/>
                <a:ea typeface="Cambria" panose="02040503050406030204" pitchFamily="18" charset="0"/>
              </a:rPr>
              <a:t>от внутренних источников (инженерно-технологического оборудования зданий и бытовых приборов (лифты, вентиляционные системы, холодильники и т.д. ); встроенных </a:t>
            </a:r>
            <a:r>
              <a:rPr lang="ru-RU" dirty="0" err="1">
                <a:latin typeface="Cambria" panose="02040503050406030204" pitchFamily="18" charset="0"/>
                <a:ea typeface="Cambria" panose="02040503050406030204" pitchFamily="18" charset="0"/>
              </a:rPr>
              <a:t>nредприятий</a:t>
            </a:r>
            <a:r>
              <a:rPr lang="ru-RU" dirty="0">
                <a:latin typeface="Cambria" panose="02040503050406030204" pitchFamily="18" charset="0"/>
                <a:ea typeface="Cambria" panose="02040503050406030204" pitchFamily="18" charset="0"/>
              </a:rPr>
              <a:t> торговли и др.); </a:t>
            </a:r>
          </a:p>
          <a:p>
            <a:pPr marL="342900" indent="-342900">
              <a:buFont typeface="Wingdings" panose="05000000000000000000" pitchFamily="2" charset="2"/>
              <a:buChar char="v"/>
            </a:pPr>
            <a:r>
              <a:rPr lang="ru-RU" sz="2000" b="1" i="1" dirty="0">
                <a:solidFill>
                  <a:srgbClr val="C00000"/>
                </a:solidFill>
                <a:latin typeface="Cambria" panose="02040503050406030204" pitchFamily="18" charset="0"/>
                <a:ea typeface="Cambria" panose="02040503050406030204" pitchFamily="18" charset="0"/>
              </a:rPr>
              <a:t>общая на </a:t>
            </a:r>
            <a:r>
              <a:rPr lang="ru-RU" sz="2000" b="1" i="1" dirty="0" err="1">
                <a:solidFill>
                  <a:srgbClr val="C00000"/>
                </a:solidFill>
                <a:latin typeface="Cambria" panose="02040503050406030204" pitchFamily="18" charset="0"/>
                <a:ea typeface="Cambria" panose="02040503050406030204" pitchFamily="18" charset="0"/>
              </a:rPr>
              <a:t>nроизводстве</a:t>
            </a:r>
            <a:r>
              <a:rPr lang="ru-RU" sz="2000" b="1" i="1" dirty="0">
                <a:solidFill>
                  <a:srgbClr val="C00000"/>
                </a:solidFill>
                <a:latin typeface="Cambria" panose="02040503050406030204" pitchFamily="18" charset="0"/>
                <a:ea typeface="Cambria" panose="02040503050406030204" pitchFamily="18" charset="0"/>
              </a:rPr>
              <a:t>:</a:t>
            </a:r>
          </a:p>
          <a:p>
            <a:pPr marL="285750" indent="-285750" algn="just">
              <a:buFont typeface="Wingdings" panose="05000000000000000000" pitchFamily="2" charset="2"/>
              <a:buChar char="Ø"/>
            </a:pPr>
            <a:r>
              <a:rPr lang="ru-RU" b="1" dirty="0">
                <a:solidFill>
                  <a:srgbClr val="C00000"/>
                </a:solidFill>
                <a:latin typeface="Cambria" panose="02040503050406030204" pitchFamily="18" charset="0"/>
                <a:ea typeface="Cambria" panose="02040503050406030204" pitchFamily="18" charset="0"/>
              </a:rPr>
              <a:t>1 категории- </a:t>
            </a:r>
            <a:r>
              <a:rPr lang="ru-RU" dirty="0" err="1">
                <a:latin typeface="Cambria" panose="02040503050406030204" pitchFamily="18" charset="0"/>
                <a:ea typeface="Cambria" panose="02040503050406030204" pitchFamily="18" charset="0"/>
              </a:rPr>
              <a:t>трансnортная</a:t>
            </a:r>
            <a:r>
              <a:rPr lang="ru-RU" dirty="0">
                <a:latin typeface="Cambria" panose="02040503050406030204" pitchFamily="18" charset="0"/>
                <a:ea typeface="Cambria" panose="02040503050406030204" pitchFamily="18" charset="0"/>
              </a:rPr>
              <a:t> вибрация, воздействующая на человека на рабочих местах самоходных и </a:t>
            </a:r>
            <a:r>
              <a:rPr lang="ru-RU" dirty="0" err="1">
                <a:latin typeface="Cambria" panose="02040503050406030204" pitchFamily="18" charset="0"/>
                <a:ea typeface="Cambria" panose="02040503050406030204" pitchFamily="18" charset="0"/>
              </a:rPr>
              <a:t>nрицеnных</a:t>
            </a:r>
            <a:r>
              <a:rPr lang="ru-RU" dirty="0">
                <a:latin typeface="Cambria" panose="02040503050406030204" pitchFamily="18" charset="0"/>
                <a:ea typeface="Cambria" panose="02040503050406030204" pitchFamily="18" charset="0"/>
              </a:rPr>
              <a:t> машин, </a:t>
            </a:r>
            <a:r>
              <a:rPr lang="ru-RU" dirty="0" err="1">
                <a:latin typeface="Cambria" panose="02040503050406030204" pitchFamily="18" charset="0"/>
                <a:ea typeface="Cambria" panose="02040503050406030204" pitchFamily="18" charset="0"/>
              </a:rPr>
              <a:t>трансnортных</a:t>
            </a:r>
            <a:r>
              <a:rPr lang="ru-RU" dirty="0">
                <a:latin typeface="Cambria" panose="02040503050406030204" pitchFamily="18" charset="0"/>
                <a:ea typeface="Cambria" panose="02040503050406030204" pitchFamily="18" charset="0"/>
              </a:rPr>
              <a:t> средств </a:t>
            </a:r>
            <a:r>
              <a:rPr lang="ru-RU" dirty="0" err="1">
                <a:latin typeface="Cambria" panose="02040503050406030204" pitchFamily="18" charset="0"/>
                <a:ea typeface="Cambria" panose="02040503050406030204" pitchFamily="18" charset="0"/>
              </a:rPr>
              <a:t>nри</a:t>
            </a:r>
            <a:r>
              <a:rPr lang="ru-RU" dirty="0">
                <a:latin typeface="Cambria" panose="02040503050406030204" pitchFamily="18" charset="0"/>
                <a:ea typeface="Cambria" panose="02040503050406030204" pitchFamily="18" charset="0"/>
              </a:rPr>
              <a:t> движении по местности, агрофонам и дорогам (в том числе при их строительстве). К источникам транспортной вибрации относят: тракторы с/х и промышленные, самоходные с/х и промышленные машины, автомобили грузовые, </a:t>
            </a:r>
            <a:r>
              <a:rPr lang="ru-RU" dirty="0" err="1">
                <a:latin typeface="Cambria" panose="02040503050406030204" pitchFamily="18" charset="0"/>
                <a:ea typeface="Cambria" panose="02040503050406030204" pitchFamily="18" charset="0"/>
              </a:rPr>
              <a:t>снегоочистители</a:t>
            </a:r>
            <a:r>
              <a:rPr lang="ru-RU" dirty="0">
                <a:latin typeface="Cambria" panose="02040503050406030204" pitchFamily="18" charset="0"/>
                <a:ea typeface="Cambria" panose="02040503050406030204" pitchFamily="18" charset="0"/>
              </a:rPr>
              <a:t>. </a:t>
            </a:r>
          </a:p>
          <a:p>
            <a:pPr marL="285750" indent="-285750" algn="just">
              <a:buFont typeface="Wingdings" panose="05000000000000000000" pitchFamily="2" charset="2"/>
              <a:buChar char="Ø"/>
            </a:pPr>
            <a:r>
              <a:rPr lang="ru-RU" b="1" dirty="0">
                <a:solidFill>
                  <a:srgbClr val="C00000"/>
                </a:solidFill>
                <a:latin typeface="Cambria" panose="02040503050406030204" pitchFamily="18" charset="0"/>
                <a:ea typeface="Cambria" panose="02040503050406030204" pitchFamily="18" charset="0"/>
              </a:rPr>
              <a:t>2 категории </a:t>
            </a:r>
            <a:r>
              <a:rPr lang="ru-RU" dirty="0">
                <a:latin typeface="Cambria" panose="02040503050406030204" pitchFamily="18" charset="0"/>
                <a:ea typeface="Cambria" panose="02040503050406030204" pitchFamily="18" charset="0"/>
              </a:rPr>
              <a:t>- транспортно-технологическая вибрация, воздействующая на человека на рабочих местах машин, перемещающихся по специально подготовленным поверхностям производственных помещений, промышленных площадок, горных выработок. К источникам транспортно-технологической вибрации относят: экскаваторы, краны промышленные и строительные, напольный производственный транспорт. </a:t>
            </a:r>
          </a:p>
          <a:p>
            <a:pPr marL="285750" indent="-285750" algn="just">
              <a:buFont typeface="Wingdings" panose="05000000000000000000" pitchFamily="2" charset="2"/>
              <a:buChar char="Ø"/>
            </a:pPr>
            <a:r>
              <a:rPr lang="ru-RU" b="1" dirty="0">
                <a:solidFill>
                  <a:srgbClr val="C00000"/>
                </a:solidFill>
                <a:latin typeface="Cambria" panose="02040503050406030204" pitchFamily="18" charset="0"/>
                <a:ea typeface="Cambria" panose="02040503050406030204" pitchFamily="18" charset="0"/>
              </a:rPr>
              <a:t>3 категории </a:t>
            </a:r>
            <a:r>
              <a:rPr lang="ru-RU" dirty="0">
                <a:latin typeface="Cambria" panose="02040503050406030204" pitchFamily="18" charset="0"/>
                <a:ea typeface="Cambria" panose="02040503050406030204" pitchFamily="18" charset="0"/>
              </a:rPr>
              <a:t>- технологическая вибрация, воздействующая на человека на рабочих местах стационарных машин или передающуюся на рабочие места, не имеющие источников вибрации. К источникам технологической вибрации относят: станки металла- и деревообрабатывающие, электрические машины, насосные </a:t>
            </a:r>
            <a:r>
              <a:rPr lang="ru-RU" dirty="0" err="1">
                <a:latin typeface="Cambria" panose="02040503050406030204" pitchFamily="18" charset="0"/>
                <a:ea typeface="Cambria" panose="02040503050406030204" pitchFamily="18" charset="0"/>
              </a:rPr>
              <a:t>агрегаты</a:t>
            </a:r>
            <a:r>
              <a:rPr lang="ru-RU" dirty="0">
                <a:latin typeface="Cambria" panose="02040503050406030204" pitchFamily="18" charset="0"/>
                <a:ea typeface="Cambria" panose="02040503050406030204" pitchFamily="18" charset="0"/>
              </a:rPr>
              <a:t> и вентиляторы, оборудование для бурения скважин и др.</a:t>
            </a:r>
          </a:p>
          <a:p>
            <a:pPr marL="342900" indent="-342900" algn="just">
              <a:buFont typeface="Wingdings" panose="05000000000000000000" pitchFamily="2" charset="2"/>
              <a:buChar char="v"/>
            </a:pPr>
            <a:r>
              <a:rPr lang="ru-RU" sz="2000" b="1" i="1" dirty="0">
                <a:solidFill>
                  <a:srgbClr val="C00000"/>
                </a:solidFill>
                <a:latin typeface="Cambria" panose="02040503050406030204" pitchFamily="18" charset="0"/>
                <a:ea typeface="Cambria" panose="02040503050406030204" pitchFamily="18" charset="0"/>
              </a:rPr>
              <a:t>локальная на производстве:</a:t>
            </a:r>
            <a:endParaRPr lang="ru-KZ" sz="2000" b="1" i="1" dirty="0">
              <a:solidFill>
                <a:srgbClr val="C0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47688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C9D0E0C3-3703-4549-99A5-69183C01553F}"/>
              </a:ext>
            </a:extLst>
          </p:cNvPr>
          <p:cNvSpPr/>
          <p:nvPr/>
        </p:nvSpPr>
        <p:spPr>
          <a:xfrm>
            <a:off x="1209822" y="996666"/>
            <a:ext cx="10325686" cy="19389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ru-RU" sz="2400" b="1" dirty="0">
                <a:solidFill>
                  <a:srgbClr val="C00000"/>
                </a:solidFill>
                <a:latin typeface="Cambria" panose="02040503050406030204" pitchFamily="18" charset="0"/>
                <a:ea typeface="Cambria" panose="02040503050406030204" pitchFamily="18" charset="0"/>
              </a:rPr>
              <a:t>По характеру спектра:</a:t>
            </a:r>
          </a:p>
          <a:p>
            <a:pPr marL="342900" indent="-342900" algn="just">
              <a:buFont typeface="Wingdings" panose="05000000000000000000" pitchFamily="2" charset="2"/>
              <a:buChar char="v"/>
            </a:pPr>
            <a:r>
              <a:rPr lang="ru-RU" sz="2400" i="1" dirty="0">
                <a:solidFill>
                  <a:srgbClr val="C00000"/>
                </a:solidFill>
                <a:latin typeface="Cambria" panose="02040503050406030204" pitchFamily="18" charset="0"/>
                <a:ea typeface="Cambria" panose="02040503050406030204" pitchFamily="18" charset="0"/>
              </a:rPr>
              <a:t> Узкополосная, </a:t>
            </a:r>
            <a:r>
              <a:rPr lang="ru-RU" sz="2400" dirty="0">
                <a:latin typeface="Cambria" panose="02040503050406030204" pitchFamily="18" charset="0"/>
                <a:ea typeface="Cambria" panose="02040503050406030204" pitchFamily="18" charset="0"/>
              </a:rPr>
              <a:t>у которой контролируемые параметры в одной </a:t>
            </a:r>
            <a:r>
              <a:rPr lang="ru-RU" sz="2400" dirty="0" err="1">
                <a:latin typeface="Cambria" panose="02040503050406030204" pitchFamily="18" charset="0"/>
                <a:ea typeface="Cambria" panose="02040503050406030204" pitchFamily="18" charset="0"/>
              </a:rPr>
              <a:t>третьоктавной</a:t>
            </a:r>
            <a:r>
              <a:rPr lang="ru-RU" sz="2400" dirty="0">
                <a:latin typeface="Cambria" panose="02040503050406030204" pitchFamily="18" charset="0"/>
                <a:ea typeface="Cambria" panose="02040503050406030204" pitchFamily="18" charset="0"/>
              </a:rPr>
              <a:t> полосе частот более, чем на 15 дБ превышают значения в соседних </a:t>
            </a:r>
            <a:r>
              <a:rPr lang="ru-RU" sz="2400" dirty="0" err="1">
                <a:latin typeface="Cambria" panose="02040503050406030204" pitchFamily="18" charset="0"/>
                <a:ea typeface="Cambria" panose="02040503050406030204" pitchFamily="18" charset="0"/>
              </a:rPr>
              <a:t>третьоктавных</a:t>
            </a:r>
            <a:r>
              <a:rPr lang="ru-RU" sz="2400" dirty="0">
                <a:latin typeface="Cambria" panose="02040503050406030204" pitchFamily="18" charset="0"/>
                <a:ea typeface="Cambria" panose="02040503050406030204" pitchFamily="18" charset="0"/>
              </a:rPr>
              <a:t> полосах; </a:t>
            </a:r>
          </a:p>
          <a:p>
            <a:pPr marL="342900" indent="-342900" algn="just">
              <a:buFont typeface="Wingdings" panose="05000000000000000000" pitchFamily="2" charset="2"/>
              <a:buChar char="v"/>
            </a:pPr>
            <a:r>
              <a:rPr lang="ru-RU" sz="2400" i="1" dirty="0">
                <a:solidFill>
                  <a:srgbClr val="C00000"/>
                </a:solidFill>
                <a:latin typeface="Cambria" panose="02040503050406030204" pitchFamily="18" charset="0"/>
                <a:ea typeface="Cambria" panose="02040503050406030204" pitchFamily="18" charset="0"/>
              </a:rPr>
              <a:t> Широкополосная- </a:t>
            </a:r>
            <a:r>
              <a:rPr lang="ru-RU" sz="2400" dirty="0">
                <a:latin typeface="Cambria" panose="02040503050406030204" pitchFamily="18" charset="0"/>
                <a:ea typeface="Cambria" panose="02040503050406030204" pitchFamily="18" charset="0"/>
              </a:rPr>
              <a:t>с непрерывным спектром более одной октавы. </a:t>
            </a:r>
            <a:endParaRPr lang="ru-KZ" sz="2400" dirty="0">
              <a:latin typeface="Cambria" panose="02040503050406030204" pitchFamily="18" charset="0"/>
              <a:ea typeface="Cambria" panose="02040503050406030204" pitchFamily="18" charset="0"/>
            </a:endParaRPr>
          </a:p>
        </p:txBody>
      </p:sp>
      <p:sp>
        <p:nvSpPr>
          <p:cNvPr id="3" name="Прямоугольник 2">
            <a:extLst>
              <a:ext uri="{FF2B5EF4-FFF2-40B4-BE49-F238E27FC236}">
                <a16:creationId xmlns:a16="http://schemas.microsoft.com/office/drawing/2014/main" xmlns="" id="{6AAB90B8-3373-4B64-AF19-ED2E579F3CC2}"/>
              </a:ext>
            </a:extLst>
          </p:cNvPr>
          <p:cNvSpPr/>
          <p:nvPr/>
        </p:nvSpPr>
        <p:spPr>
          <a:xfrm>
            <a:off x="1209822" y="3024084"/>
            <a:ext cx="10325686" cy="304698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ru-RU" sz="2400" b="1" dirty="0">
                <a:solidFill>
                  <a:srgbClr val="C00000"/>
                </a:solidFill>
                <a:latin typeface="Cambria" panose="02040503050406030204" pitchFamily="18" charset="0"/>
                <a:ea typeface="Cambria" panose="02040503050406030204" pitchFamily="18" charset="0"/>
              </a:rPr>
              <a:t>По частотному составу: </a:t>
            </a:r>
          </a:p>
          <a:p>
            <a:pPr marL="342900" indent="-342900" algn="just">
              <a:buFont typeface="Wingdings" panose="05000000000000000000" pitchFamily="2" charset="2"/>
              <a:buChar char="q"/>
            </a:pPr>
            <a:r>
              <a:rPr lang="ru-RU" sz="2400" i="1" dirty="0">
                <a:solidFill>
                  <a:srgbClr val="C00000"/>
                </a:solidFill>
                <a:latin typeface="Cambria" panose="02040503050406030204" pitchFamily="18" charset="0"/>
                <a:ea typeface="Cambria" panose="02040503050406030204" pitchFamily="18" charset="0"/>
              </a:rPr>
              <a:t>Низкочастотная</a:t>
            </a:r>
            <a:r>
              <a:rPr lang="ru-RU" sz="2400" dirty="0">
                <a:latin typeface="Cambria" panose="02040503050406030204" pitchFamily="18" charset="0"/>
                <a:ea typeface="Cambria" panose="02040503050406030204" pitchFamily="18" charset="0"/>
              </a:rPr>
              <a:t> (с преобладанием максимальных уровней в октавных полосах частот 1-4 Гц для общих вибраций, 8-16 Гц- для </a:t>
            </a:r>
            <a:r>
              <a:rPr lang="ru-RU" sz="2400" dirty="0" err="1">
                <a:latin typeface="Cambria" panose="02040503050406030204" pitchFamily="18" charset="0"/>
                <a:ea typeface="Cambria" panose="02040503050406030204" pitchFamily="18" charset="0"/>
              </a:rPr>
              <a:t>локальных</a:t>
            </a:r>
            <a:r>
              <a:rPr lang="ru-RU" sz="2400" dirty="0">
                <a:latin typeface="Cambria" panose="02040503050406030204" pitchFamily="18" charset="0"/>
                <a:ea typeface="Cambria" panose="02040503050406030204" pitchFamily="18" charset="0"/>
              </a:rPr>
              <a:t> вибраций). </a:t>
            </a:r>
          </a:p>
          <a:p>
            <a:pPr marL="342900" indent="-342900" algn="just">
              <a:buFont typeface="Wingdings" panose="05000000000000000000" pitchFamily="2" charset="2"/>
              <a:buChar char="q"/>
            </a:pPr>
            <a:r>
              <a:rPr lang="ru-RU" sz="2400" i="1" dirty="0">
                <a:solidFill>
                  <a:srgbClr val="C00000"/>
                </a:solidFill>
                <a:latin typeface="Cambria" panose="02040503050406030204" pitchFamily="18" charset="0"/>
                <a:ea typeface="Cambria" panose="02040503050406030204" pitchFamily="18" charset="0"/>
              </a:rPr>
              <a:t>Среднечастотная</a:t>
            </a:r>
            <a:r>
              <a:rPr lang="ru-RU" sz="2400" dirty="0">
                <a:latin typeface="Cambria" panose="02040503050406030204" pitchFamily="18" charset="0"/>
                <a:ea typeface="Cambria" panose="02040503050406030204" pitchFamily="18" charset="0"/>
              </a:rPr>
              <a:t> (8-16 Гц - для общих вибраций, 31,5-63 Гц - для локальных вибраций). </a:t>
            </a:r>
          </a:p>
          <a:p>
            <a:pPr marL="342900" indent="-342900" algn="just">
              <a:buFont typeface="Wingdings" panose="05000000000000000000" pitchFamily="2" charset="2"/>
              <a:buChar char="q"/>
            </a:pPr>
            <a:r>
              <a:rPr lang="ru-RU" sz="2400" i="1" dirty="0">
                <a:solidFill>
                  <a:srgbClr val="C00000"/>
                </a:solidFill>
                <a:latin typeface="Cambria" panose="02040503050406030204" pitchFamily="18" charset="0"/>
                <a:ea typeface="Cambria" panose="02040503050406030204" pitchFamily="18" charset="0"/>
              </a:rPr>
              <a:t>Высокочастотная</a:t>
            </a:r>
            <a:r>
              <a:rPr lang="ru-RU" sz="2400" dirty="0">
                <a:latin typeface="Cambria" panose="02040503050406030204" pitchFamily="18" charset="0"/>
                <a:ea typeface="Cambria" panose="02040503050406030204" pitchFamily="18" charset="0"/>
              </a:rPr>
              <a:t> (31 ,5-63 Гц - для общих вибраций, 125-1000 Гц- для локальных вибраций). </a:t>
            </a:r>
            <a:endParaRPr lang="ru-KZ" sz="2400" dirty="0">
              <a:latin typeface="Cambria" panose="02040503050406030204" pitchFamily="18" charset="0"/>
              <a:ea typeface="Cambria" panose="02040503050406030204" pitchFamily="18" charset="0"/>
            </a:endParaRPr>
          </a:p>
        </p:txBody>
      </p:sp>
      <p:sp>
        <p:nvSpPr>
          <p:cNvPr id="4" name="Прямоугольник 3"/>
          <p:cNvSpPr/>
          <p:nvPr/>
        </p:nvSpPr>
        <p:spPr>
          <a:xfrm>
            <a:off x="5148471" y="446575"/>
            <a:ext cx="2050900" cy="461665"/>
          </a:xfrm>
          <a:prstGeom prst="rect">
            <a:avLst/>
          </a:prstGeom>
        </p:spPr>
        <p:txBody>
          <a:bodyPr wrap="square">
            <a:spAutoFit/>
          </a:bodyPr>
          <a:lstStyle/>
          <a:p>
            <a:r>
              <a:rPr lang="ru-RU" sz="2400" b="1" dirty="0">
                <a:solidFill>
                  <a:srgbClr val="C00000"/>
                </a:solidFill>
                <a:latin typeface="Cambria" panose="02040503050406030204" pitchFamily="18" charset="0"/>
                <a:ea typeface="Cambria" panose="02040503050406030204" pitchFamily="18" charset="0"/>
              </a:rPr>
              <a:t>Вибрация</a:t>
            </a:r>
            <a:endParaRPr lang="ru-KZ" sz="2400" dirty="0"/>
          </a:p>
        </p:txBody>
      </p:sp>
    </p:spTree>
    <p:extLst>
      <p:ext uri="{BB962C8B-B14F-4D97-AF65-F5344CB8AC3E}">
        <p14:creationId xmlns:p14="http://schemas.microsoft.com/office/powerpoint/2010/main" val="1878730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470C29B3-696A-46F6-945F-E06E89CB95CF}"/>
              </a:ext>
            </a:extLst>
          </p:cNvPr>
          <p:cNvSpPr/>
          <p:nvPr/>
        </p:nvSpPr>
        <p:spPr>
          <a:xfrm>
            <a:off x="1856936" y="919986"/>
            <a:ext cx="8707900" cy="513986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ru-RU" sz="2400" b="1" dirty="0">
                <a:solidFill>
                  <a:srgbClr val="C00000"/>
                </a:solidFill>
                <a:latin typeface="Cambria" panose="02040503050406030204" pitchFamily="18" charset="0"/>
                <a:ea typeface="Cambria" panose="02040503050406030204" pitchFamily="18" charset="0"/>
              </a:rPr>
              <a:t>По временным характеристикам: </a:t>
            </a:r>
          </a:p>
          <a:p>
            <a:pPr marL="342900" indent="-342900" algn="just">
              <a:buFont typeface="Wingdings" panose="05000000000000000000" pitchFamily="2" charset="2"/>
              <a:buChar char="v"/>
            </a:pPr>
            <a:r>
              <a:rPr lang="ru-RU" sz="2400" b="1" i="1" dirty="0">
                <a:solidFill>
                  <a:srgbClr val="C00000"/>
                </a:solidFill>
                <a:latin typeface="Cambria" panose="02040503050406030204" pitchFamily="18" charset="0"/>
                <a:ea typeface="Cambria" panose="02040503050406030204" pitchFamily="18" charset="0"/>
              </a:rPr>
              <a:t>Постоянная вибрация</a:t>
            </a:r>
            <a:r>
              <a:rPr lang="ru-RU" sz="2400" b="1" i="1" dirty="0">
                <a:latin typeface="Cambria" panose="02040503050406030204" pitchFamily="18" charset="0"/>
                <a:ea typeface="Cambria" panose="02040503050406030204" pitchFamily="18" charset="0"/>
              </a:rPr>
              <a:t>, </a:t>
            </a:r>
            <a:r>
              <a:rPr lang="ru-RU" sz="2400" dirty="0">
                <a:latin typeface="Cambria" panose="02040503050406030204" pitchFamily="18" charset="0"/>
                <a:ea typeface="Cambria" panose="02040503050406030204" pitchFamily="18" charset="0"/>
              </a:rPr>
              <a:t>для :которой величина нормируемых параметров изменяется не более чем на 6 дБ за время наблюдения. </a:t>
            </a:r>
          </a:p>
          <a:p>
            <a:pPr marL="342900" indent="-342900" algn="just">
              <a:buFont typeface="Wingdings" panose="05000000000000000000" pitchFamily="2" charset="2"/>
              <a:buChar char="v"/>
            </a:pPr>
            <a:r>
              <a:rPr lang="ru-RU" sz="2400" b="1" i="1" dirty="0">
                <a:solidFill>
                  <a:srgbClr val="C00000"/>
                </a:solidFill>
                <a:latin typeface="Cambria" panose="02040503050406030204" pitchFamily="18" charset="0"/>
                <a:ea typeface="Cambria" panose="02040503050406030204" pitchFamily="18" charset="0"/>
              </a:rPr>
              <a:t>Непостоянная</a:t>
            </a:r>
            <a:r>
              <a:rPr lang="ru-RU" sz="2400" dirty="0">
                <a:latin typeface="Cambria" panose="02040503050406030204" pitchFamily="18" charset="0"/>
                <a:ea typeface="Cambria" panose="02040503050406030204" pitchFamily="18" charset="0"/>
              </a:rPr>
              <a:t> - величина нормируемых параметров изменяется не менее, чем на 6 дБ за время наблюдения не менее 10 мин в том числе:</a:t>
            </a:r>
          </a:p>
          <a:p>
            <a:pPr algn="just"/>
            <a:r>
              <a:rPr lang="ru-RU" sz="2000" dirty="0">
                <a:latin typeface="Cambria" panose="02040503050406030204" pitchFamily="18" charset="0"/>
                <a:ea typeface="Cambria" panose="02040503050406030204" pitchFamily="18" charset="0"/>
              </a:rPr>
              <a:t>а) </a:t>
            </a:r>
            <a:r>
              <a:rPr lang="ru-RU" sz="2000" i="1" dirty="0">
                <a:solidFill>
                  <a:srgbClr val="C00000"/>
                </a:solidFill>
                <a:latin typeface="Cambria" panose="02040503050406030204" pitchFamily="18" charset="0"/>
                <a:ea typeface="Cambria" panose="02040503050406030204" pitchFamily="18" charset="0"/>
              </a:rPr>
              <a:t>колеблющиеся во времени вибрации</a:t>
            </a:r>
            <a:r>
              <a:rPr lang="ru-RU" sz="2000" dirty="0">
                <a:latin typeface="Cambria" panose="02040503050406030204" pitchFamily="18" charset="0"/>
                <a:ea typeface="Cambria" panose="02040503050406030204" pitchFamily="18" charset="0"/>
              </a:rPr>
              <a:t>, для которых величина нормируемых параметров непрерывно изменяется во времени; </a:t>
            </a:r>
          </a:p>
          <a:p>
            <a:pPr algn="just"/>
            <a:r>
              <a:rPr lang="ru-RU" sz="2000" dirty="0">
                <a:latin typeface="Cambria" panose="02040503050406030204" pitchFamily="18" charset="0"/>
                <a:ea typeface="Cambria" panose="02040503050406030204" pitchFamily="18" charset="0"/>
              </a:rPr>
              <a:t>б) </a:t>
            </a:r>
            <a:r>
              <a:rPr lang="ru-RU" sz="2000" i="1" dirty="0">
                <a:solidFill>
                  <a:srgbClr val="C00000"/>
                </a:solidFill>
                <a:latin typeface="Cambria" panose="02040503050406030204" pitchFamily="18" charset="0"/>
                <a:ea typeface="Cambria" panose="02040503050406030204" pitchFamily="18" charset="0"/>
              </a:rPr>
              <a:t>прерывистые вибрации</a:t>
            </a:r>
            <a:r>
              <a:rPr lang="ru-RU" sz="2000" dirty="0">
                <a:latin typeface="Cambria" panose="02040503050406030204" pitchFamily="18" charset="0"/>
                <a:ea typeface="Cambria" panose="02040503050406030204" pitchFamily="18" charset="0"/>
              </a:rPr>
              <a:t>, когда контакт человека с источником вибрации прерывается, причем длительность интервалов, в течение которых имеет место контакт, составляет более 1 с; </a:t>
            </a:r>
          </a:p>
          <a:p>
            <a:pPr algn="just"/>
            <a:r>
              <a:rPr lang="ru-RU" sz="2000" dirty="0">
                <a:latin typeface="Cambria" panose="02040503050406030204" pitchFamily="18" charset="0"/>
                <a:ea typeface="Cambria" panose="02040503050406030204" pitchFamily="18" charset="0"/>
              </a:rPr>
              <a:t>в) </a:t>
            </a:r>
            <a:r>
              <a:rPr lang="ru-RU" sz="2000" i="1" dirty="0">
                <a:solidFill>
                  <a:srgbClr val="C00000"/>
                </a:solidFill>
                <a:latin typeface="Cambria" panose="02040503050406030204" pitchFamily="18" charset="0"/>
                <a:ea typeface="Cambria" panose="02040503050406030204" pitchFamily="18" charset="0"/>
              </a:rPr>
              <a:t>импульсные вибрации</a:t>
            </a:r>
            <a:r>
              <a:rPr lang="ru-RU" sz="2000" dirty="0">
                <a:latin typeface="Cambria" panose="02040503050406030204" pitchFamily="18" charset="0"/>
                <a:ea typeface="Cambria" panose="02040503050406030204" pitchFamily="18" charset="0"/>
              </a:rPr>
              <a:t>, состоящие из одного или нескольких вибрационных воздействий (например, ударов), каждый длительностью менее 1 с.</a:t>
            </a:r>
            <a:endParaRPr lang="ru-KZ"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07958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14B2C721-6CFE-4AA7-BFBE-232376527C68}"/>
              </a:ext>
            </a:extLst>
          </p:cNvPr>
          <p:cNvSpPr/>
          <p:nvPr/>
        </p:nvSpPr>
        <p:spPr>
          <a:xfrm>
            <a:off x="1452489" y="428178"/>
            <a:ext cx="9287021" cy="600164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ru-RU" sz="2400" i="1" dirty="0">
                <a:solidFill>
                  <a:srgbClr val="C00000"/>
                </a:solidFill>
                <a:latin typeface="Cambria" panose="02040503050406030204" pitchFamily="18" charset="0"/>
                <a:ea typeface="Cambria" panose="02040503050406030204" pitchFamily="18" charset="0"/>
              </a:rPr>
              <a:t>Гигиеническая оценка постоянной и непостоянной вибрации </a:t>
            </a:r>
            <a:r>
              <a:rPr lang="ru-RU" sz="2400" dirty="0">
                <a:latin typeface="Cambria" panose="02040503050406030204" pitchFamily="18" charset="0"/>
                <a:ea typeface="Cambria" panose="02040503050406030204" pitchFamily="18" charset="0"/>
              </a:rPr>
              <a:t>в соответствии с указанным нормативным документом может производиться тремя методами: </a:t>
            </a:r>
          </a:p>
          <a:p>
            <a:pPr algn="just"/>
            <a:r>
              <a:rPr lang="ru-RU" sz="2400" dirty="0">
                <a:latin typeface="Cambria" panose="02040503050406030204" pitchFamily="18" charset="0"/>
                <a:ea typeface="Cambria" panose="02040503050406030204" pitchFamily="18" charset="0"/>
              </a:rPr>
              <a:t>• частотным (спектральным) анализом нормируемого параметра; </a:t>
            </a:r>
          </a:p>
          <a:p>
            <a:pPr algn="just"/>
            <a:r>
              <a:rPr lang="ru-RU" sz="2400" dirty="0">
                <a:latin typeface="Cambria" panose="02040503050406030204" pitchFamily="18" charset="0"/>
                <a:ea typeface="Cambria" panose="02040503050406030204" pitchFamily="18" charset="0"/>
              </a:rPr>
              <a:t>• интегральной оценкой по частоте нормируемого параметра; </a:t>
            </a:r>
          </a:p>
          <a:p>
            <a:pPr algn="just"/>
            <a:r>
              <a:rPr lang="ru-RU" sz="2400" dirty="0">
                <a:latin typeface="Cambria" panose="02040503050406030204" pitchFamily="18" charset="0"/>
                <a:ea typeface="Cambria" panose="02040503050406030204" pitchFamily="18" charset="0"/>
              </a:rPr>
              <a:t>• интегральной оценкой с учетом времени вибрационного воздействия по эквивалентному (по энергии) уровню нормируемого параметра. </a:t>
            </a:r>
          </a:p>
          <a:p>
            <a:pPr algn="just"/>
            <a:r>
              <a:rPr lang="ru-RU" sz="2400" i="1" dirty="0">
                <a:solidFill>
                  <a:srgbClr val="C00000"/>
                </a:solidFill>
                <a:latin typeface="Cambria" panose="02040503050406030204" pitchFamily="18" charset="0"/>
                <a:ea typeface="Cambria" panose="02040503050406030204" pitchFamily="18" charset="0"/>
              </a:rPr>
              <a:t>Локальная вибрация </a:t>
            </a:r>
            <a:r>
              <a:rPr lang="ru-RU" sz="2400" dirty="0">
                <a:latin typeface="Cambria" panose="02040503050406030204" pitchFamily="18" charset="0"/>
                <a:ea typeface="Cambria" panose="02040503050406030204" pitchFamily="18" charset="0"/>
              </a:rPr>
              <a:t>нормируется в октавных полосах со среднегеометрическими частотами: 8; 16; 31,5; 63; 125; 250; 500; 1000 Гц; </a:t>
            </a:r>
          </a:p>
          <a:p>
            <a:pPr algn="just"/>
            <a:r>
              <a:rPr lang="ru-RU" sz="2400" i="1" dirty="0">
                <a:solidFill>
                  <a:srgbClr val="C00000"/>
                </a:solidFill>
                <a:latin typeface="Cambria" panose="02040503050406030204" pitchFamily="18" charset="0"/>
                <a:ea typeface="Cambria" panose="02040503050406030204" pitchFamily="18" charset="0"/>
              </a:rPr>
              <a:t>Общая вибрация </a:t>
            </a:r>
            <a:r>
              <a:rPr lang="ru-RU" sz="2400" dirty="0">
                <a:latin typeface="Cambria" panose="02040503050406030204" pitchFamily="18" charset="0"/>
                <a:ea typeface="Cambria" panose="02040503050406030204" pitchFamily="18" charset="0"/>
              </a:rPr>
              <a:t>- в октавных или 1/3 октавных полосах со среднегеометрическими частотами: 0,8; 1; 1,25; 1,6; 2,0; 2,5; 3,15; 4,0; 5,0; 6,3; 8,0; 10,0; 12,5; 16,0; 20,0; 25,0; 31,5; 40,0; 50,0; 63,0; 80,0Гц.</a:t>
            </a:r>
            <a:endParaRPr lang="ru-KZ"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7316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34241BF2-8EC9-4C73-9A27-A913A9CC82AA}"/>
              </a:ext>
            </a:extLst>
          </p:cNvPr>
          <p:cNvSpPr/>
          <p:nvPr/>
        </p:nvSpPr>
        <p:spPr>
          <a:xfrm>
            <a:off x="868679" y="305068"/>
            <a:ext cx="10454641" cy="624786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ru-RU" sz="2000" b="1" dirty="0">
                <a:solidFill>
                  <a:srgbClr val="C00000"/>
                </a:solidFill>
                <a:latin typeface="Cambria" panose="02040503050406030204" pitchFamily="18" charset="0"/>
                <a:ea typeface="Cambria" panose="02040503050406030204" pitchFamily="18" charset="0"/>
              </a:rPr>
              <a:t>ДЕЙСТВИЕ ВИБРАЦИИ НА ОРГАНИЗМ ЧЕЛОВЕКА </a:t>
            </a:r>
          </a:p>
          <a:p>
            <a:pPr algn="just"/>
            <a:r>
              <a:rPr lang="ru-RU" sz="2000" dirty="0">
                <a:latin typeface="Cambria" panose="02040503050406030204" pitchFamily="18" charset="0"/>
                <a:ea typeface="Cambria" panose="02040503050406030204" pitchFamily="18" charset="0"/>
              </a:rPr>
              <a:t>Вибрация относится к факторам, обладающим высокой биологической активностью. Вибрационная патология в настоящее время стоит на втором месте среди профессиональных заболеваний. </a:t>
            </a:r>
          </a:p>
          <a:p>
            <a:pPr algn="just"/>
            <a:r>
              <a:rPr lang="ru-RU" sz="2000" b="1" i="1" dirty="0">
                <a:solidFill>
                  <a:srgbClr val="C00000"/>
                </a:solidFill>
                <a:latin typeface="Cambria" panose="02040503050406030204" pitchFamily="18" charset="0"/>
                <a:ea typeface="Cambria" panose="02040503050406030204" pitchFamily="18" charset="0"/>
              </a:rPr>
              <a:t>Клиническая картина вибрационной болезни</a:t>
            </a:r>
            <a:r>
              <a:rPr lang="ru-RU" sz="2000" dirty="0">
                <a:latin typeface="Cambria" panose="02040503050406030204" pitchFamily="18" charset="0"/>
                <a:ea typeface="Cambria" panose="02040503050406030204" pitchFamily="18" charset="0"/>
              </a:rPr>
              <a:t>, обусловленная общей или локальной вибрацией, складывается из: </a:t>
            </a:r>
          </a:p>
          <a:p>
            <a:pPr marL="342900" indent="-342900" algn="just">
              <a:buFont typeface="Wingdings" panose="05000000000000000000" pitchFamily="2" charset="2"/>
              <a:buChar char="ü"/>
            </a:pPr>
            <a:r>
              <a:rPr lang="ru-RU" sz="2000" dirty="0" err="1">
                <a:latin typeface="Cambria" panose="02040503050406030204" pitchFamily="18" charset="0"/>
                <a:ea typeface="Cambria" panose="02040503050406030204" pitchFamily="18" charset="0"/>
              </a:rPr>
              <a:t>нейрососудистых</a:t>
            </a:r>
            <a:r>
              <a:rPr lang="ru-RU" sz="2000" dirty="0">
                <a:latin typeface="Cambria" panose="02040503050406030204" pitchFamily="18" charset="0"/>
                <a:ea typeface="Cambria" panose="02040503050406030204" pitchFamily="18" charset="0"/>
              </a:rPr>
              <a:t> нарушений; </a:t>
            </a:r>
          </a:p>
          <a:p>
            <a:pPr marL="342900" indent="-342900" algn="just">
              <a:buFont typeface="Wingdings" panose="05000000000000000000" pitchFamily="2" charset="2"/>
              <a:buChar char="ü"/>
            </a:pPr>
            <a:r>
              <a:rPr lang="ru-RU" sz="2000" dirty="0">
                <a:latin typeface="Cambria" panose="02040503050406030204" pitchFamily="18" charset="0"/>
                <a:ea typeface="Cambria" panose="02040503050406030204" pitchFamily="18" charset="0"/>
              </a:rPr>
              <a:t>поражений нервно-мышечной системы; </a:t>
            </a:r>
          </a:p>
          <a:p>
            <a:pPr marL="342900" indent="-342900" algn="just">
              <a:buFont typeface="Wingdings" panose="05000000000000000000" pitchFamily="2" charset="2"/>
              <a:buChar char="ü"/>
            </a:pPr>
            <a:r>
              <a:rPr lang="ru-RU" sz="2000" dirty="0">
                <a:latin typeface="Cambria" panose="02040503050406030204" pitchFamily="18" charset="0"/>
                <a:ea typeface="Cambria" panose="02040503050406030204" pitchFamily="18" charset="0"/>
              </a:rPr>
              <a:t>опорно-двигательного аппарата;</a:t>
            </a:r>
          </a:p>
          <a:p>
            <a:pPr marL="342900" indent="-342900" algn="just">
              <a:buFont typeface="Wingdings" panose="05000000000000000000" pitchFamily="2" charset="2"/>
              <a:buChar char="ü"/>
            </a:pPr>
            <a:r>
              <a:rPr lang="ru-RU" sz="2000" dirty="0">
                <a:latin typeface="Cambria" panose="02040503050406030204" pitchFamily="18" charset="0"/>
                <a:ea typeface="Cambria" panose="02040503050406030204" pitchFamily="18" charset="0"/>
              </a:rPr>
              <a:t>изменений обмена веществ. </a:t>
            </a:r>
          </a:p>
          <a:p>
            <a:pPr algn="just"/>
            <a:r>
              <a:rPr lang="ru-RU" sz="2000" b="1" i="1" dirty="0">
                <a:solidFill>
                  <a:srgbClr val="C00000"/>
                </a:solidFill>
                <a:latin typeface="Cambria" panose="02040503050406030204" pitchFamily="18" charset="0"/>
                <a:ea typeface="Cambria" panose="02040503050406030204" pitchFamily="18" charset="0"/>
              </a:rPr>
              <a:t>Частота и особенности клинических проявлений заболеваний, вызванных воздействием вибрации, зависят главным образом от: </a:t>
            </a:r>
          </a:p>
          <a:p>
            <a:pPr algn="just"/>
            <a:r>
              <a:rPr lang="ru-RU" sz="2000" dirty="0">
                <a:latin typeface="Cambria" panose="02040503050406030204" pitchFamily="18" charset="0"/>
                <a:ea typeface="Cambria" panose="02040503050406030204" pitchFamily="18" charset="0"/>
              </a:rPr>
              <a:t>• спектрального состава вибрации; </a:t>
            </a:r>
          </a:p>
          <a:p>
            <a:pPr algn="just"/>
            <a:r>
              <a:rPr lang="ru-RU" sz="2000" dirty="0">
                <a:latin typeface="Cambria" panose="02040503050406030204" pitchFamily="18" charset="0"/>
                <a:ea typeface="Cambria" panose="02040503050406030204" pitchFamily="18" charset="0"/>
              </a:rPr>
              <a:t>• продолжительности воздействия; </a:t>
            </a:r>
          </a:p>
          <a:p>
            <a:pPr algn="just"/>
            <a:r>
              <a:rPr lang="ru-RU" sz="2000" dirty="0">
                <a:latin typeface="Cambria" panose="02040503050406030204" pitchFamily="18" charset="0"/>
                <a:ea typeface="Cambria" panose="02040503050406030204" pitchFamily="18" charset="0"/>
              </a:rPr>
              <a:t>• индивидуальных особенностей человека; </a:t>
            </a:r>
          </a:p>
          <a:p>
            <a:pPr algn="just"/>
            <a:r>
              <a:rPr lang="ru-RU" sz="2000" dirty="0">
                <a:latin typeface="Cambria" panose="02040503050406030204" pitchFamily="18" charset="0"/>
                <a:ea typeface="Cambria" panose="02040503050406030204" pitchFamily="18" charset="0"/>
              </a:rPr>
              <a:t>• направления вибрационного воздействия; </a:t>
            </a:r>
          </a:p>
          <a:p>
            <a:pPr algn="just"/>
            <a:r>
              <a:rPr lang="ru-RU" sz="2000" dirty="0">
                <a:latin typeface="Cambria" panose="02040503050406030204" pitchFamily="18" charset="0"/>
                <a:ea typeface="Cambria" panose="02040503050406030204" pitchFamily="18" charset="0"/>
              </a:rPr>
              <a:t>• места приложения; </a:t>
            </a:r>
          </a:p>
          <a:p>
            <a:pPr algn="just"/>
            <a:r>
              <a:rPr lang="ru-RU" sz="2000" dirty="0">
                <a:latin typeface="Cambria" panose="02040503050406030204" pitchFamily="18" charset="0"/>
                <a:ea typeface="Cambria" panose="02040503050406030204" pitchFamily="18" charset="0"/>
              </a:rPr>
              <a:t>• явлений резонанса; </a:t>
            </a:r>
          </a:p>
          <a:p>
            <a:pPr algn="just"/>
            <a:r>
              <a:rPr lang="ru-RU" sz="2000" dirty="0">
                <a:latin typeface="Cambria" panose="02040503050406030204" pitchFamily="18" charset="0"/>
                <a:ea typeface="Cambria" panose="02040503050406030204" pitchFamily="18" charset="0"/>
              </a:rPr>
              <a:t>• условий воздействия вибрации (факторов производственной </a:t>
            </a:r>
            <a:r>
              <a:rPr lang="ru-RU" sz="2000" dirty="0" err="1">
                <a:latin typeface="Cambria" panose="02040503050406030204" pitchFamily="18" charset="0"/>
                <a:ea typeface="Cambria" panose="02040503050406030204" pitchFamily="18" charset="0"/>
              </a:rPr>
              <a:t>среды</a:t>
            </a:r>
            <a:r>
              <a:rPr lang="ru-RU" sz="2000" dirty="0">
                <a:latin typeface="Cambria" panose="02040503050406030204" pitchFamily="18" charset="0"/>
                <a:ea typeface="Cambria" panose="02040503050406030204" pitchFamily="18" charset="0"/>
              </a:rPr>
              <a:t>, усугубляющих вредное воздействие вибрации на организм человека). </a:t>
            </a:r>
            <a:endParaRPr lang="ru-KZ"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98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C93CF881-1F3B-40D3-BCD4-D9F52B9BA43B}"/>
              </a:ext>
            </a:extLst>
          </p:cNvPr>
          <p:cNvSpPr/>
          <p:nvPr/>
        </p:nvSpPr>
        <p:spPr>
          <a:xfrm>
            <a:off x="1561513" y="335846"/>
            <a:ext cx="9931791" cy="618630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ru-RU" sz="2200" b="1" i="1" dirty="0">
                <a:solidFill>
                  <a:srgbClr val="C00000"/>
                </a:solidFill>
                <a:latin typeface="Cambria" panose="02040503050406030204" pitchFamily="18" charset="0"/>
                <a:ea typeface="Cambria" panose="02040503050406030204" pitchFamily="18" charset="0"/>
              </a:rPr>
              <a:t>Влияние общей вибрации </a:t>
            </a:r>
            <a:r>
              <a:rPr lang="ru-RU" sz="2200" dirty="0">
                <a:latin typeface="Cambria" panose="02040503050406030204" pitchFamily="18" charset="0"/>
                <a:ea typeface="Cambria" panose="02040503050406030204" pitchFamily="18" charset="0"/>
              </a:rPr>
              <a:t>на обменные процессы в организме человека проявляется в изменении углеводного обмена, биохимических показателей крови, характеризующих нарушения белкового, ферментативного, а также витаминного и холестеринового обмена. Наблюдаются также нарушения окислительно-восстановительных процессов, изменения показателей азотистого обмена и др. </a:t>
            </a:r>
            <a:r>
              <a:rPr lang="ru-RU" sz="2200" i="1" dirty="0">
                <a:solidFill>
                  <a:srgbClr val="C00000"/>
                </a:solidFill>
                <a:latin typeface="Cambria" panose="02040503050406030204" pitchFamily="18" charset="0"/>
                <a:ea typeface="Cambria" panose="02040503050406030204" pitchFamily="18" charset="0"/>
              </a:rPr>
              <a:t>Низкочастотная вибрация </a:t>
            </a:r>
            <a:r>
              <a:rPr lang="ru-RU" sz="2200" dirty="0">
                <a:latin typeface="Cambria" panose="02040503050406030204" pitchFamily="18" charset="0"/>
                <a:ea typeface="Cambria" panose="02040503050406030204" pitchFamily="18" charset="0"/>
              </a:rPr>
              <a:t>ведет также к изменению морфологического состава крови: лейкоцитозу, </a:t>
            </a:r>
            <a:r>
              <a:rPr lang="ru-RU" sz="2200" dirty="0" err="1">
                <a:latin typeface="Cambria" panose="02040503050406030204" pitchFamily="18" charset="0"/>
                <a:ea typeface="Cambria" panose="02040503050406030204" pitchFamily="18" charset="0"/>
              </a:rPr>
              <a:t>эритроцитопении</a:t>
            </a:r>
            <a:r>
              <a:rPr lang="ru-RU" sz="2200" dirty="0">
                <a:latin typeface="Cambria" panose="02040503050406030204" pitchFamily="18" charset="0"/>
                <a:ea typeface="Cambria" panose="02040503050406030204" pitchFamily="18" charset="0"/>
              </a:rPr>
              <a:t>; к снижению уровня гемоглобина. </a:t>
            </a:r>
          </a:p>
          <a:p>
            <a:pPr algn="just"/>
            <a:r>
              <a:rPr lang="ru-RU" sz="2200" dirty="0">
                <a:latin typeface="Cambria" panose="02040503050406030204" pitchFamily="18" charset="0"/>
                <a:ea typeface="Cambria" panose="02040503050406030204" pitchFamily="18" charset="0"/>
              </a:rPr>
              <a:t>Воздействию </a:t>
            </a:r>
            <a:r>
              <a:rPr lang="ru-RU" sz="2200" i="1" dirty="0">
                <a:solidFill>
                  <a:srgbClr val="C00000"/>
                </a:solidFill>
                <a:latin typeface="Cambria" panose="02040503050406030204" pitchFamily="18" charset="0"/>
                <a:ea typeface="Cambria" panose="02040503050406030204" pitchFamily="18" charset="0"/>
              </a:rPr>
              <a:t>локальной вибрации </a:t>
            </a:r>
            <a:r>
              <a:rPr lang="ru-RU" sz="2200" dirty="0">
                <a:latin typeface="Cambria" panose="02040503050406030204" pitchFamily="18" charset="0"/>
                <a:ea typeface="Cambria" panose="02040503050406030204" pitchFamily="18" charset="0"/>
              </a:rPr>
              <a:t>подвергаются главным образом люди, работающие с ручным механизированным инструментом. </a:t>
            </a:r>
          </a:p>
          <a:p>
            <a:pPr algn="just"/>
            <a:r>
              <a:rPr lang="ru-RU" sz="2200" b="1" i="1" dirty="0">
                <a:solidFill>
                  <a:srgbClr val="C00000"/>
                </a:solidFill>
                <a:latin typeface="Cambria" panose="02040503050406030204" pitchFamily="18" charset="0"/>
                <a:ea typeface="Cambria" panose="02040503050406030204" pitchFamily="18" charset="0"/>
              </a:rPr>
              <a:t>Локальная вибрация </a:t>
            </a:r>
            <a:r>
              <a:rPr lang="ru-RU" sz="2200" dirty="0">
                <a:latin typeface="Cambria" panose="02040503050406030204" pitchFamily="18" charset="0"/>
                <a:ea typeface="Cambria" panose="02040503050406030204" pitchFamily="18" charset="0"/>
              </a:rPr>
              <a:t>вызывает спазмы сосудов кисти, предплечий, нарушая снабжение конечностей кровью, что способствует развитию </a:t>
            </a:r>
            <a:r>
              <a:rPr lang="ru-RU" sz="2200" dirty="0" err="1">
                <a:latin typeface="Cambria" panose="02040503050406030204" pitchFamily="18" charset="0"/>
                <a:ea typeface="Cambria" panose="02040503050406030204" pitchFamily="18" charset="0"/>
              </a:rPr>
              <a:t>профессиональноrо</a:t>
            </a:r>
            <a:r>
              <a:rPr lang="ru-RU" sz="2200" dirty="0">
                <a:latin typeface="Cambria" panose="02040503050406030204" pitchFamily="18" charset="0"/>
                <a:ea typeface="Cambria" panose="02040503050406030204" pitchFamily="18" charset="0"/>
              </a:rPr>
              <a:t> заболевания (например, синдрома, связанного с </a:t>
            </a:r>
            <a:r>
              <a:rPr lang="ru-RU" sz="2200" dirty="0" err="1">
                <a:latin typeface="Cambria" panose="02040503050406030204" pitchFamily="18" charset="0"/>
                <a:ea typeface="Cambria" panose="02040503050406030204" pitchFamily="18" charset="0"/>
              </a:rPr>
              <a:t>побелением</a:t>
            </a:r>
            <a:r>
              <a:rPr lang="ru-RU" sz="2200" dirty="0">
                <a:latin typeface="Cambria" panose="02040503050406030204" pitchFamily="18" charset="0"/>
                <a:ea typeface="Cambria" panose="02040503050406030204" pitchFamily="18" charset="0"/>
              </a:rPr>
              <a:t> пальцев рук). Кроме сосудистой патологии, возникают и невротические расстройства, а воздействие локальной вибрации на мышечные и костные ткани приводит к снижению кожной чувствительности, отложению солей в суставах пальцев, деформации и уменьшению подвижности суставов. </a:t>
            </a:r>
            <a:endParaRPr lang="ru-KZ"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70287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7BD28166-55A3-49F5-8BB3-96A08476A315}"/>
              </a:ext>
            </a:extLst>
          </p:cNvPr>
          <p:cNvSpPr/>
          <p:nvPr/>
        </p:nvSpPr>
        <p:spPr>
          <a:xfrm>
            <a:off x="942536" y="305068"/>
            <a:ext cx="9753599" cy="624786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ru-RU" sz="2000" b="1" dirty="0">
                <a:solidFill>
                  <a:srgbClr val="C00000"/>
                </a:solidFill>
                <a:latin typeface="Cambria" panose="02040503050406030204" pitchFamily="18" charset="0"/>
                <a:ea typeface="Cambria" panose="02040503050406030204" pitchFamily="18" charset="0"/>
              </a:rPr>
              <a:t>Средства защиты </a:t>
            </a:r>
          </a:p>
          <a:p>
            <a:pPr algn="just"/>
            <a:r>
              <a:rPr lang="ru-RU" sz="2000" dirty="0">
                <a:latin typeface="Cambria" panose="02040503050406030204" pitchFamily="18" charset="0"/>
                <a:ea typeface="Cambria" panose="02040503050406030204" pitchFamily="18" charset="0"/>
              </a:rPr>
              <a:t>Средства защиты от вибрации по организационному признаку делятся на </a:t>
            </a:r>
            <a:r>
              <a:rPr lang="ru-RU" sz="2000" b="1" dirty="0">
                <a:solidFill>
                  <a:srgbClr val="C00000"/>
                </a:solidFill>
                <a:latin typeface="Cambria" panose="02040503050406030204" pitchFamily="18" charset="0"/>
                <a:ea typeface="Cambria" panose="02040503050406030204" pitchFamily="18" charset="0"/>
              </a:rPr>
              <a:t>коллективные</a:t>
            </a:r>
            <a:r>
              <a:rPr lang="ru-RU" sz="2000" dirty="0">
                <a:latin typeface="Cambria" panose="02040503050406030204" pitchFamily="18" charset="0"/>
                <a:ea typeface="Cambria" panose="02040503050406030204" pitchFamily="18" charset="0"/>
              </a:rPr>
              <a:t> и </a:t>
            </a:r>
            <a:r>
              <a:rPr lang="ru-RU" sz="2000" b="1" dirty="0">
                <a:solidFill>
                  <a:srgbClr val="C00000"/>
                </a:solidFill>
                <a:latin typeface="Cambria" panose="02040503050406030204" pitchFamily="18" charset="0"/>
                <a:ea typeface="Cambria" panose="02040503050406030204" pitchFamily="18" charset="0"/>
              </a:rPr>
              <a:t>индивидуальные. </a:t>
            </a:r>
          </a:p>
          <a:p>
            <a:pPr algn="just"/>
            <a:r>
              <a:rPr lang="ru-RU" sz="2000" dirty="0">
                <a:latin typeface="Cambria" panose="02040503050406030204" pitchFamily="18" charset="0"/>
                <a:ea typeface="Cambria" panose="02040503050406030204" pitchFamily="18" charset="0"/>
              </a:rPr>
              <a:t>По отношению к источнику возбуждения вибрации </a:t>
            </a:r>
            <a:r>
              <a:rPr lang="ru-RU" sz="2000" b="1" dirty="0">
                <a:solidFill>
                  <a:srgbClr val="C00000"/>
                </a:solidFill>
                <a:latin typeface="Cambria" panose="02040503050406030204" pitchFamily="18" charset="0"/>
                <a:ea typeface="Cambria" panose="02040503050406030204" pitchFamily="18" charset="0"/>
              </a:rPr>
              <a:t>методы коллективной защиты</a:t>
            </a:r>
            <a:r>
              <a:rPr lang="ru-RU" sz="2000" dirty="0">
                <a:latin typeface="Cambria" panose="02040503050406030204" pitchFamily="18" charset="0"/>
                <a:ea typeface="Cambria" panose="02040503050406030204" pitchFamily="18" charset="0"/>
              </a:rPr>
              <a:t> подразделяются на: </a:t>
            </a:r>
          </a:p>
          <a:p>
            <a:pPr marL="342900" indent="-342900" algn="just">
              <a:buFont typeface="Wingdings" panose="05000000000000000000" pitchFamily="2" charset="2"/>
              <a:buChar char="v"/>
            </a:pPr>
            <a:r>
              <a:rPr lang="ru-RU" sz="2000" dirty="0" smtClean="0">
                <a:latin typeface="Cambria" panose="02040503050406030204" pitchFamily="18" charset="0"/>
                <a:ea typeface="Cambria" panose="02040503050406030204" pitchFamily="18" charset="0"/>
              </a:rPr>
              <a:t> </a:t>
            </a:r>
            <a:r>
              <a:rPr lang="ru-RU" sz="2000" dirty="0">
                <a:latin typeface="Cambria" panose="02040503050406030204" pitchFamily="18" charset="0"/>
                <a:ea typeface="Cambria" panose="02040503050406030204" pitchFamily="18" charset="0"/>
              </a:rPr>
              <a:t>методы, снижающие параметры вибрации воздействием на источник возбуждения; </a:t>
            </a:r>
          </a:p>
          <a:p>
            <a:pPr marL="342900" indent="-342900" algn="just">
              <a:buFont typeface="Wingdings" panose="05000000000000000000" pitchFamily="2" charset="2"/>
              <a:buChar char="v"/>
            </a:pPr>
            <a:r>
              <a:rPr lang="ru-RU" sz="2000" dirty="0" smtClean="0">
                <a:latin typeface="Cambria" panose="02040503050406030204" pitchFamily="18" charset="0"/>
                <a:ea typeface="Cambria" panose="02040503050406030204" pitchFamily="18" charset="0"/>
              </a:rPr>
              <a:t> </a:t>
            </a:r>
            <a:r>
              <a:rPr lang="ru-RU" sz="2000" dirty="0">
                <a:latin typeface="Cambria" panose="02040503050406030204" pitchFamily="18" charset="0"/>
                <a:ea typeface="Cambria" panose="02040503050406030204" pitchFamily="18" charset="0"/>
              </a:rPr>
              <a:t>методы, снижающие параметры вибрации на путях ее распространения от источника возбуждения.</a:t>
            </a:r>
          </a:p>
          <a:p>
            <a:pPr algn="just"/>
            <a:r>
              <a:rPr lang="ru-RU" sz="2000" dirty="0">
                <a:latin typeface="Cambria" panose="02040503050406030204" pitchFamily="18" charset="0"/>
                <a:ea typeface="Cambria" panose="02040503050406030204" pitchFamily="18" charset="0"/>
              </a:rPr>
              <a:t>С точки зрения снижения вибраций наиболее предпочтительным является использование в качестве конструктивных материалов: пластмассы, дерева, резины. Так, в редукторах используют шестерни из капрона, текстолита. В некоторых случаях оказывается возможным также использовать шестерни из твердой резины. В результате происходит снижение вибраций оснований и фундаментов машин, а, следовательно, снижается вибрация рабочих мест. В настоящее время начат выпуск ручного механизированного инструмента в корпусах из полимерных материалов. Это в значительной мере ослабляет воздействие вибраций на руки работающих. На многих видах оборудования внедряется постановка в подшипниковые узлы вибродемпфирующих втулок, что значительно снижает уровень вибраций.</a:t>
            </a:r>
            <a:endParaRPr lang="ru-KZ"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7239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85A7271B-2CFE-464B-8481-01A76ED84DD5}"/>
              </a:ext>
            </a:extLst>
          </p:cNvPr>
          <p:cNvSpPr/>
          <p:nvPr/>
        </p:nvSpPr>
        <p:spPr>
          <a:xfrm>
            <a:off x="1073833" y="243512"/>
            <a:ext cx="10044333" cy="637097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ru-RU" sz="2400" b="1" dirty="0">
                <a:solidFill>
                  <a:srgbClr val="C00000"/>
                </a:solidFill>
                <a:latin typeface="Cambria" panose="02040503050406030204" pitchFamily="18" charset="0"/>
                <a:ea typeface="Cambria" panose="02040503050406030204" pitchFamily="18" charset="0"/>
              </a:rPr>
              <a:t>Средств индивидуальной защиты от вибрации </a:t>
            </a:r>
          </a:p>
          <a:p>
            <a:pPr algn="just"/>
            <a:r>
              <a:rPr lang="ru-RU" sz="2400" dirty="0">
                <a:latin typeface="Cambria" panose="02040503050406030204" pitchFamily="18" charset="0"/>
                <a:ea typeface="Cambria" panose="02040503050406030204" pitchFamily="18" charset="0"/>
              </a:rPr>
              <a:t>Средства индивидуальной защиты (СИЗ) рук, ног и тела оператора от вибрации используются на производстве в случае необходимости. В качестве СИЗ рук от вибрации применяются </a:t>
            </a:r>
            <a:r>
              <a:rPr lang="ru-RU" sz="2400" b="1" dirty="0">
                <a:solidFill>
                  <a:srgbClr val="C00000"/>
                </a:solidFill>
                <a:latin typeface="Cambria" panose="02040503050406030204" pitchFamily="18" charset="0"/>
                <a:ea typeface="Cambria" panose="02040503050406030204" pitchFamily="18" charset="0"/>
              </a:rPr>
              <a:t>антивибрационные рукавицы</a:t>
            </a:r>
            <a:r>
              <a:rPr lang="ru-RU" sz="2400" b="1" dirty="0">
                <a:latin typeface="Cambria" panose="02040503050406030204" pitchFamily="18" charset="0"/>
                <a:ea typeface="Cambria" panose="02040503050406030204" pitchFamily="18" charset="0"/>
              </a:rPr>
              <a:t>. </a:t>
            </a:r>
          </a:p>
          <a:p>
            <a:pPr algn="just"/>
            <a:r>
              <a:rPr lang="ru-RU" sz="2400" b="1" dirty="0">
                <a:latin typeface="Cambria" panose="02040503050406030204" pitchFamily="18" charset="0"/>
                <a:ea typeface="Cambria" panose="02040503050406030204" pitchFamily="18" charset="0"/>
              </a:rPr>
              <a:t>Основными требованиями, сформулированными в нормативной документации, являются: </a:t>
            </a:r>
          </a:p>
          <a:p>
            <a:pPr marL="342900" indent="-342900" algn="just">
              <a:buFont typeface="Wingdings" panose="05000000000000000000" pitchFamily="2" charset="2"/>
              <a:buChar char="v"/>
            </a:pPr>
            <a:r>
              <a:rPr lang="ru-RU" sz="2400" dirty="0">
                <a:latin typeface="Cambria" panose="02040503050406030204" pitchFamily="18" charset="0"/>
                <a:ea typeface="Cambria" panose="02040503050406030204" pitchFamily="18" charset="0"/>
              </a:rPr>
              <a:t>эффективность, которая регламентируется в частотном диапазоне 8 - 2000 Гц при фиксированной силе нажатия 50 - 200 Н; </a:t>
            </a:r>
          </a:p>
          <a:p>
            <a:pPr marL="342900" indent="-342900" algn="just">
              <a:buFont typeface="Wingdings" panose="05000000000000000000" pitchFamily="2" charset="2"/>
              <a:buChar char="v"/>
            </a:pPr>
            <a:r>
              <a:rPr lang="ru-RU" sz="2400" dirty="0">
                <a:latin typeface="Cambria" panose="02040503050406030204" pitchFamily="18" charset="0"/>
                <a:ea typeface="Cambria" panose="02040503050406030204" pitchFamily="18" charset="0"/>
              </a:rPr>
              <a:t>максимальная толщина упругодемпфирующего материала 5- 10 мм. В зависимости от области </a:t>
            </a:r>
            <a:r>
              <a:rPr lang="ru-RU" sz="2400" dirty="0" err="1">
                <a:latin typeface="Cambria" panose="02040503050406030204" pitchFamily="18" charset="0"/>
                <a:ea typeface="Cambria" panose="02040503050406030204" pitchFamily="18" charset="0"/>
              </a:rPr>
              <a:t>применеиия</a:t>
            </a:r>
            <a:r>
              <a:rPr lang="ru-RU" sz="2400" dirty="0">
                <a:latin typeface="Cambria" panose="02040503050406030204" pitchFamily="18" charset="0"/>
                <a:ea typeface="Cambria" panose="02040503050406030204" pitchFamily="18" charset="0"/>
              </a:rPr>
              <a:t> средства защиты ног подразделяются на обувь, подметки и наколенники. В них используются специальные вибродемпфирующие материалы, которые ослабляют вибрацию в диапазоне частот 11 - 90 Гц. Для защиты тела оператора используются нагрудники, пояса и специальные костюмы. Все виды защиты снижают вибрацию максимум на 10 дБ.</a:t>
            </a:r>
            <a:endParaRPr lang="ru-KZ"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37261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552333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TotalTime>
  <Words>2123</Words>
  <Application>Microsoft Office PowerPoint</Application>
  <PresentationFormat>Широкоэкранный</PresentationFormat>
  <Paragraphs>127</Paragraphs>
  <Slides>20</Slides>
  <Notes>1</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20</vt:i4>
      </vt:variant>
    </vt:vector>
  </HeadingPairs>
  <TitlesOfParts>
    <vt:vector size="27" baseType="lpstr">
      <vt:lpstr>Arial</vt:lpstr>
      <vt:lpstr>Calibri</vt:lpstr>
      <vt:lpstr>Calibri Light</vt:lpstr>
      <vt:lpstr>Cambria</vt:lpstr>
      <vt:lpstr>Times New Roman</vt:lpstr>
      <vt:lpstr>Wingdings</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admin</cp:lastModifiedBy>
  <cp:revision>22</cp:revision>
  <dcterms:created xsi:type="dcterms:W3CDTF">2025-02-17T16:16:11Z</dcterms:created>
  <dcterms:modified xsi:type="dcterms:W3CDTF">2026-02-07T06:52:10Z</dcterms:modified>
</cp:coreProperties>
</file>