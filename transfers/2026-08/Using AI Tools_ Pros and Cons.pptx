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Hedvig Letters Sans" charset="-122" pitchFamily="34"/>
      <p:regular r:id="rId15"/>
    </p:embeddedFont>
    <p:embeddedFont>
      <p:font typeface="Quattrocento Sans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p3o2dovgivrg/slide1_cover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D">
              <a:alpha val="8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409950" y="2152650"/>
            <a:ext cx="5372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Using AI Tools: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Pros and Cons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0" y="40957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6" name="Text 3"/>
          <p:cNvSpPr/>
          <p:nvPr/>
        </p:nvSpPr>
        <p:spPr>
          <a:xfrm>
            <a:off x="2673191" y="4362450"/>
            <a:ext cx="6848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AI helps us — and where it can cause problems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p3o2dovgivrg/slide2_what_is_ai.png">    </p:cNvPr>
          <p:cNvPicPr>
            <a:picLocks noChangeAspect="1"/>
          </p:cNvPicPr>
          <p:nvPr/>
        </p:nvPicPr>
        <p:blipFill>
          <a:blip r:embed="rId1"/>
          <a:srcRect l="43" r="43" t="0" b="0"/>
          <a:stretch/>
        </p:blipFill>
        <p:spPr>
          <a:xfrm>
            <a:off x="381000" y="1839635"/>
            <a:ext cx="5562600" cy="3181350"/>
          </a:xfrm>
          <a:prstGeom prst="roundRect">
            <a:avLst>
              <a:gd name="adj" fmla="val 239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248400" y="1176338"/>
            <a:ext cx="579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What are AI tools?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248400" y="1862138"/>
            <a:ext cx="5676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2A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tools are software programs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use artificial intelligence to perform tasks that typically require human intelligence.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0" y="3205163"/>
            <a:ext cx="5543550" cy="2476500"/>
          </a:xfrm>
          <a:custGeom>
            <a:avLst/>
            <a:gdLst/>
            <a:ahLst/>
            <a:cxnLst/>
            <a:rect l="l" t="t" r="r" b="b"/>
            <a:pathLst>
              <a:path w="5543550" h="2476500">
                <a:moveTo>
                  <a:pt x="3810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2400298"/>
                </a:lnTo>
                <a:cubicBezTo>
                  <a:pt x="5543550" y="2442383"/>
                  <a:pt x="5509433" y="2476500"/>
                  <a:pt x="5467348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8C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267450" y="3205163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6515100" y="3433763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Common examples: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27006" y="392894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9" name="Text 6"/>
          <p:cNvSpPr/>
          <p:nvPr/>
        </p:nvSpPr>
        <p:spPr>
          <a:xfrm>
            <a:off x="6867525" y="3890844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Chatbots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answer questions and have conversations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46056" y="43099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6856572" y="4271844"/>
            <a:ext cx="4819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generators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create artwork from text descriptions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12719" y="495764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6837759" y="4919544"/>
            <a:ext cx="4838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systems</a:t>
            </a:r>
            <a:pPr>
              <a:lnSpc>
                <a:spcPct val="12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suggest videos, music, products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p3o2dovgivrg/slide3_pros.png">    </p:cNvPr>
          <p:cNvPicPr>
            <a:picLocks noChangeAspect="1"/>
          </p:cNvPicPr>
          <p:nvPr/>
        </p:nvPicPr>
        <p:blipFill>
          <a:blip r:embed="rId1"/>
          <a:srcRect l="43" r="43" t="0" b="0"/>
          <a:stretch/>
        </p:blipFill>
        <p:spPr>
          <a:xfrm>
            <a:off x="381000" y="1839635"/>
            <a:ext cx="5562600" cy="3181350"/>
          </a:xfrm>
          <a:prstGeom prst="roundRect">
            <a:avLst>
              <a:gd name="adj" fmla="val 239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248400" y="1390770"/>
            <a:ext cx="579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Pros of using AI tools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48400" y="20765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5" name="Shape 2"/>
          <p:cNvSpPr/>
          <p:nvPr/>
        </p:nvSpPr>
        <p:spPr>
          <a:xfrm>
            <a:off x="6381750" y="22099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1A1D2D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0" y="2076570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Saves time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0" y="2457450"/>
            <a:ext cx="5048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complete tasks in seconds that would take humans hours — like summarizing long documents or organizing data.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400" y="3448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9" name="Shape 6"/>
          <p:cNvSpPr/>
          <p:nvPr/>
        </p:nvSpPr>
        <p:spPr>
          <a:xfrm>
            <a:off x="6369844" y="3581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1A1D2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3448050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Helps with learning and work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0" y="3828931"/>
            <a:ext cx="5048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tutors can explain difficult concepts, help with writing, and provide practice exercises tailored to your level.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48400" y="45528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357938" y="46861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1A1D2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4552831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Automates routine tasks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0" y="4933713"/>
            <a:ext cx="5048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Repetitive jobs like scheduling, sorting emails, or formatting documents can be handled automatically.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p3o2dovgivrg/slide4_more_benefits.png">    </p:cNvPr>
          <p:cNvPicPr>
            <a:picLocks noChangeAspect="1"/>
          </p:cNvPicPr>
          <p:nvPr/>
        </p:nvPicPr>
        <p:blipFill>
          <a:blip r:embed="rId1"/>
          <a:srcRect l="43" r="43" t="0" b="0"/>
          <a:stretch/>
        </p:blipFill>
        <p:spPr>
          <a:xfrm>
            <a:off x="381000" y="1839634"/>
            <a:ext cx="5562600" cy="3181350"/>
          </a:xfrm>
          <a:prstGeom prst="roundRect">
            <a:avLst>
              <a:gd name="adj" fmla="val 239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248400" y="952619"/>
            <a:ext cx="579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More benefits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48400" y="1638419"/>
            <a:ext cx="5562600" cy="1295400"/>
          </a:xfrm>
          <a:custGeom>
            <a:avLst/>
            <a:gdLst/>
            <a:ahLst/>
            <a:cxnLst/>
            <a:rect l="l" t="t" r="r" b="b"/>
            <a:pathLst>
              <a:path w="5562600" h="1295400">
                <a:moveTo>
                  <a:pt x="76195" y="0"/>
                </a:moveTo>
                <a:lnTo>
                  <a:pt x="5486405" y="0"/>
                </a:lnTo>
                <a:cubicBezTo>
                  <a:pt x="5528458" y="0"/>
                  <a:pt x="5562600" y="34142"/>
                  <a:pt x="5562600" y="76195"/>
                </a:cubicBezTo>
                <a:lnTo>
                  <a:pt x="5562600" y="1219205"/>
                </a:lnTo>
                <a:cubicBezTo>
                  <a:pt x="5562600" y="1261286"/>
                  <a:pt x="5528486" y="1295400"/>
                  <a:pt x="54864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5C8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67475" y="1866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6" name="Text 3"/>
          <p:cNvSpPr/>
          <p:nvPr/>
        </p:nvSpPr>
        <p:spPr>
          <a:xfrm>
            <a:off x="6838950" y="1828919"/>
            <a:ext cx="250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Improves productivity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38900" y="2209800"/>
            <a:ext cx="5276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handling repetitive tasks, AI frees up time for creative and strategic work that humans do best.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400" y="3124200"/>
            <a:ext cx="5562600" cy="1295400"/>
          </a:xfrm>
          <a:custGeom>
            <a:avLst/>
            <a:gdLst/>
            <a:ahLst/>
            <a:cxnLst/>
            <a:rect l="l" t="t" r="r" b="b"/>
            <a:pathLst>
              <a:path w="5562600" h="1295400">
                <a:moveTo>
                  <a:pt x="76195" y="0"/>
                </a:moveTo>
                <a:lnTo>
                  <a:pt x="5486405" y="0"/>
                </a:lnTo>
                <a:cubicBezTo>
                  <a:pt x="5528458" y="0"/>
                  <a:pt x="5562600" y="34142"/>
                  <a:pt x="5562600" y="76195"/>
                </a:cubicBezTo>
                <a:lnTo>
                  <a:pt x="5562600" y="1219205"/>
                </a:lnTo>
                <a:cubicBezTo>
                  <a:pt x="5562600" y="1261286"/>
                  <a:pt x="5528486" y="1295400"/>
                  <a:pt x="54864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5C8C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467475" y="3352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0" name="Text 7"/>
          <p:cNvSpPr/>
          <p:nvPr/>
        </p:nvSpPr>
        <p:spPr>
          <a:xfrm>
            <a:off x="6838950" y="3314700"/>
            <a:ext cx="3171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Quick access to information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38900" y="3695581"/>
            <a:ext cx="5276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can search through millions of sources instantly and present relevant information in an organized way.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48400" y="4609981"/>
            <a:ext cx="5562600" cy="1295400"/>
          </a:xfrm>
          <a:custGeom>
            <a:avLst/>
            <a:gdLst/>
            <a:ahLst/>
            <a:cxnLst/>
            <a:rect l="l" t="t" r="r" b="b"/>
            <a:pathLst>
              <a:path w="5562600" h="1295400">
                <a:moveTo>
                  <a:pt x="76195" y="0"/>
                </a:moveTo>
                <a:lnTo>
                  <a:pt x="5486405" y="0"/>
                </a:lnTo>
                <a:cubicBezTo>
                  <a:pt x="5528458" y="0"/>
                  <a:pt x="5562600" y="34142"/>
                  <a:pt x="5562600" y="76195"/>
                </a:cubicBezTo>
                <a:lnTo>
                  <a:pt x="5562600" y="1219205"/>
                </a:lnTo>
                <a:cubicBezTo>
                  <a:pt x="5562600" y="1261286"/>
                  <a:pt x="5528486" y="1295400"/>
                  <a:pt x="54864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5C8C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467475" y="48384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72107" y="75858"/>
                </a:moveTo>
                <a:cubicBezTo>
                  <a:pt x="66660" y="73536"/>
                  <a:pt x="60365" y="76036"/>
                  <a:pt x="58043" y="81483"/>
                </a:cubicBezTo>
                <a:cubicBezTo>
                  <a:pt x="55721" y="86931"/>
                  <a:pt x="58222" y="93226"/>
                  <a:pt x="63669" y="95548"/>
                </a:cubicBezTo>
                <a:lnTo>
                  <a:pt x="68982" y="97825"/>
                </a:lnTo>
                <a:cubicBezTo>
                  <a:pt x="76706" y="101129"/>
                  <a:pt x="84698" y="103584"/>
                  <a:pt x="92913" y="105102"/>
                </a:cubicBezTo>
                <a:lnTo>
                  <a:pt x="92913" y="127471"/>
                </a:lnTo>
                <a:cubicBezTo>
                  <a:pt x="92913" y="129391"/>
                  <a:pt x="92601" y="131311"/>
                  <a:pt x="91976" y="133097"/>
                </a:cubicBezTo>
                <a:lnTo>
                  <a:pt x="79162" y="171539"/>
                </a:lnTo>
                <a:cubicBezTo>
                  <a:pt x="77286" y="177165"/>
                  <a:pt x="80323" y="183237"/>
                  <a:pt x="85948" y="185112"/>
                </a:cubicBezTo>
                <a:cubicBezTo>
                  <a:pt x="91574" y="186988"/>
                  <a:pt x="97646" y="183952"/>
                  <a:pt x="99521" y="178326"/>
                </a:cubicBezTo>
                <a:lnTo>
                  <a:pt x="110416" y="145643"/>
                </a:lnTo>
                <a:cubicBezTo>
                  <a:pt x="110996" y="143947"/>
                  <a:pt x="112559" y="142786"/>
                  <a:pt x="114345" y="142786"/>
                </a:cubicBezTo>
                <a:cubicBezTo>
                  <a:pt x="116131" y="142786"/>
                  <a:pt x="117738" y="143947"/>
                  <a:pt x="118274" y="145643"/>
                </a:cubicBezTo>
                <a:lnTo>
                  <a:pt x="129168" y="178326"/>
                </a:lnTo>
                <a:cubicBezTo>
                  <a:pt x="131043" y="183952"/>
                  <a:pt x="137115" y="186988"/>
                  <a:pt x="142741" y="185112"/>
                </a:cubicBezTo>
                <a:cubicBezTo>
                  <a:pt x="148367" y="183237"/>
                  <a:pt x="151358" y="177254"/>
                  <a:pt x="149483" y="171629"/>
                </a:cubicBezTo>
                <a:lnTo>
                  <a:pt x="136669" y="133186"/>
                </a:lnTo>
                <a:cubicBezTo>
                  <a:pt x="136044" y="131356"/>
                  <a:pt x="135731" y="129480"/>
                  <a:pt x="135731" y="127561"/>
                </a:cubicBezTo>
                <a:lnTo>
                  <a:pt x="135731" y="105192"/>
                </a:lnTo>
                <a:cubicBezTo>
                  <a:pt x="143947" y="103629"/>
                  <a:pt x="151939" y="101218"/>
                  <a:pt x="159663" y="97914"/>
                </a:cubicBezTo>
                <a:lnTo>
                  <a:pt x="164976" y="95637"/>
                </a:lnTo>
                <a:cubicBezTo>
                  <a:pt x="170423" y="93315"/>
                  <a:pt x="172923" y="87020"/>
                  <a:pt x="170602" y="81573"/>
                </a:cubicBezTo>
                <a:cubicBezTo>
                  <a:pt x="168280" y="76126"/>
                  <a:pt x="161985" y="73625"/>
                  <a:pt x="156537" y="75947"/>
                </a:cubicBezTo>
                <a:lnTo>
                  <a:pt x="151224" y="78135"/>
                </a:lnTo>
                <a:cubicBezTo>
                  <a:pt x="139571" y="83135"/>
                  <a:pt x="127025" y="85725"/>
                  <a:pt x="114300" y="85725"/>
                </a:cubicBezTo>
                <a:cubicBezTo>
                  <a:pt x="101575" y="85725"/>
                  <a:pt x="89074" y="83135"/>
                  <a:pt x="77376" y="78135"/>
                </a:cubicBezTo>
                <a:lnTo>
                  <a:pt x="72063" y="75858"/>
                </a:lnTo>
                <a:close/>
                <a:moveTo>
                  <a:pt x="114300" y="71438"/>
                </a:moveTo>
                <a:cubicBezTo>
                  <a:pt x="124157" y="71438"/>
                  <a:pt x="132159" y="63435"/>
                  <a:pt x="132159" y="53578"/>
                </a:cubicBezTo>
                <a:cubicBezTo>
                  <a:pt x="132159" y="43721"/>
                  <a:pt x="124157" y="35719"/>
                  <a:pt x="114300" y="35719"/>
                </a:cubicBezTo>
                <a:cubicBezTo>
                  <a:pt x="104443" y="35719"/>
                  <a:pt x="96441" y="43721"/>
                  <a:pt x="96441" y="53578"/>
                </a:cubicBezTo>
                <a:cubicBezTo>
                  <a:pt x="96441" y="63435"/>
                  <a:pt x="104443" y="71438"/>
                  <a:pt x="114300" y="71438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4" name="Text 11"/>
          <p:cNvSpPr/>
          <p:nvPr/>
        </p:nvSpPr>
        <p:spPr>
          <a:xfrm>
            <a:off x="6838950" y="4800481"/>
            <a:ext cx="3305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Helps people with disabilities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38900" y="5181363"/>
            <a:ext cx="5276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assistants, real-time captions, and text-to-speech tools make technology accessible to everyone.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p3o2dovgivrg/slide5_cons.png">    </p:cNvPr>
          <p:cNvPicPr>
            <a:picLocks noChangeAspect="1"/>
          </p:cNvPicPr>
          <p:nvPr/>
        </p:nvPicPr>
        <p:blipFill>
          <a:blip r:embed="rId1"/>
          <a:srcRect l="43" r="43" t="0" b="0"/>
          <a:stretch/>
        </p:blipFill>
        <p:spPr>
          <a:xfrm>
            <a:off x="381000" y="1839634"/>
            <a:ext cx="5562600" cy="3181350"/>
          </a:xfrm>
          <a:prstGeom prst="roundRect">
            <a:avLst>
              <a:gd name="adj" fmla="val 239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248400" y="1524119"/>
            <a:ext cx="579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Cons of using AI tools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48400" y="22099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5" name="Shape 2"/>
          <p:cNvSpPr/>
          <p:nvPr/>
        </p:nvSpPr>
        <p:spPr>
          <a:xfrm>
            <a:off x="6381750" y="23432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1D2D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0" y="2209919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Can give incorrect information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0" y="2590800"/>
            <a:ext cx="5048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sometimes "hallucinates" — making up facts, sources, or data that sound convincing but are completely wrong.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400" y="3314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9" name="Shape 6"/>
          <p:cNvSpPr/>
          <p:nvPr/>
        </p:nvSpPr>
        <p:spPr>
          <a:xfrm>
            <a:off x="6381750" y="3448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3314700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Over-reliance reduces critical thinking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0" y="3695581"/>
            <a:ext cx="5048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Depending too much on AI can weaken problem-solving skills and independent thinking abilities.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48400" y="44194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5563" y="455283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1A1D2D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4419481"/>
            <a:ext cx="506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Privacy and data risks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0" y="4800363"/>
            <a:ext cx="5048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systems collect and store user data, which can be vulnerable to breaches or misuse.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p3o2dovgivrg/slide6_ethical.png">    </p:cNvPr>
          <p:cNvPicPr>
            <a:picLocks noChangeAspect="1"/>
          </p:cNvPicPr>
          <p:nvPr/>
        </p:nvPicPr>
        <p:blipFill>
          <a:blip r:embed="rId1"/>
          <a:srcRect l="43" r="43" t="0" b="0"/>
          <a:stretch/>
        </p:blipFill>
        <p:spPr>
          <a:xfrm>
            <a:off x="381000" y="1839634"/>
            <a:ext cx="5562600" cy="3181350"/>
          </a:xfrm>
          <a:prstGeom prst="roundRect">
            <a:avLst>
              <a:gd name="adj" fmla="val 239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248400" y="457319"/>
            <a:ext cx="579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Ethical and social concerns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67450" y="1600319"/>
            <a:ext cx="5543550" cy="1562100"/>
          </a:xfrm>
          <a:custGeom>
            <a:avLst/>
            <a:gdLst/>
            <a:ahLst/>
            <a:cxnLst/>
            <a:rect l="l" t="t" r="r" b="b"/>
            <a:pathLst>
              <a:path w="5543550" h="1562100">
                <a:moveTo>
                  <a:pt x="38100" y="0"/>
                </a:moveTo>
                <a:lnTo>
                  <a:pt x="5467351" y="0"/>
                </a:lnTo>
                <a:cubicBezTo>
                  <a:pt x="5509434" y="0"/>
                  <a:pt x="5543550" y="34116"/>
                  <a:pt x="5543550" y="76199"/>
                </a:cubicBezTo>
                <a:lnTo>
                  <a:pt x="5543550" y="1485901"/>
                </a:lnTo>
                <a:cubicBezTo>
                  <a:pt x="5543550" y="1527984"/>
                  <a:pt x="5509434" y="1562100"/>
                  <a:pt x="54673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8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267450" y="1600319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6" name="Shape 3"/>
          <p:cNvSpPr/>
          <p:nvPr/>
        </p:nvSpPr>
        <p:spPr>
          <a:xfrm>
            <a:off x="6477000" y="182891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6819900" y="1790819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Bias in AI decisions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77000" y="2171700"/>
            <a:ext cx="5238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systems can reflect and amplify human biases found in their training data, leading to unfair outcomes in hiring, lending, and law enforcement.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7450" y="3352800"/>
            <a:ext cx="5543550" cy="1562100"/>
          </a:xfrm>
          <a:custGeom>
            <a:avLst/>
            <a:gdLst/>
            <a:ahLst/>
            <a:cxnLst/>
            <a:rect l="l" t="t" r="r" b="b"/>
            <a:pathLst>
              <a:path w="5543550" h="1562100">
                <a:moveTo>
                  <a:pt x="38100" y="0"/>
                </a:moveTo>
                <a:lnTo>
                  <a:pt x="5467351" y="0"/>
                </a:lnTo>
                <a:cubicBezTo>
                  <a:pt x="5509434" y="0"/>
                  <a:pt x="5543550" y="34116"/>
                  <a:pt x="5543550" y="76199"/>
                </a:cubicBezTo>
                <a:lnTo>
                  <a:pt x="5543550" y="1485901"/>
                </a:lnTo>
                <a:cubicBezTo>
                  <a:pt x="5543550" y="1527984"/>
                  <a:pt x="5509434" y="1562100"/>
                  <a:pt x="5467351" y="1562100"/>
                </a:cubicBez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8C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267450" y="33528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3810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38100" y="1562100"/>
                </a:lnTo>
                <a:cubicBezTo>
                  <a:pt x="17072" y="1562100"/>
                  <a:pt x="0" y="1545028"/>
                  <a:pt x="0" y="1524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1" name="Shape 8"/>
          <p:cNvSpPr/>
          <p:nvPr/>
        </p:nvSpPr>
        <p:spPr>
          <a:xfrm>
            <a:off x="6505575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2" name="Text 9"/>
          <p:cNvSpPr/>
          <p:nvPr/>
        </p:nvSpPr>
        <p:spPr>
          <a:xfrm>
            <a:off x="6819900" y="35433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Job displacement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77000" y="3924184"/>
            <a:ext cx="5238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powered by AI may eliminate certain jobs, requiring workers to learn new skills and adapt to changing industries.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67450" y="5105284"/>
            <a:ext cx="5543550" cy="1295400"/>
          </a:xfrm>
          <a:custGeom>
            <a:avLst/>
            <a:gdLst/>
            <a:ahLst/>
            <a:cxnLst/>
            <a:rect l="l" t="t" r="r" b="b"/>
            <a:pathLst>
              <a:path w="5543550" h="1295400">
                <a:moveTo>
                  <a:pt x="38100" y="0"/>
                </a:moveTo>
                <a:lnTo>
                  <a:pt x="5467355" y="0"/>
                </a:lnTo>
                <a:cubicBezTo>
                  <a:pt x="5509408" y="0"/>
                  <a:pt x="5543550" y="34142"/>
                  <a:pt x="5543550" y="76195"/>
                </a:cubicBezTo>
                <a:lnTo>
                  <a:pt x="5543550" y="1219205"/>
                </a:lnTo>
                <a:cubicBezTo>
                  <a:pt x="5543550" y="1261286"/>
                  <a:pt x="5509436" y="1295400"/>
                  <a:pt x="5467355" y="1295400"/>
                </a:cubicBez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8C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267450" y="5105284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3810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38100" y="1295400"/>
                </a:lnTo>
                <a:cubicBezTo>
                  <a:pt x="17072" y="1295400"/>
                  <a:pt x="0" y="1278328"/>
                  <a:pt x="0" y="1257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6" name="Shape 13"/>
          <p:cNvSpPr/>
          <p:nvPr/>
        </p:nvSpPr>
        <p:spPr>
          <a:xfrm>
            <a:off x="6491288" y="533388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4837" y="13841"/>
                </a:moveTo>
                <a:cubicBezTo>
                  <a:pt x="118542" y="5135"/>
                  <a:pt x="108451" y="0"/>
                  <a:pt x="97735" y="0"/>
                </a:cubicBezTo>
                <a:cubicBezTo>
                  <a:pt x="79251" y="0"/>
                  <a:pt x="64294" y="14957"/>
                  <a:pt x="64294" y="33442"/>
                </a:cubicBezTo>
                <a:lnTo>
                  <a:pt x="64294" y="34513"/>
                </a:lnTo>
                <a:cubicBezTo>
                  <a:pt x="64294" y="63267"/>
                  <a:pt x="100905" y="94074"/>
                  <a:pt x="118854" y="107424"/>
                </a:cubicBezTo>
                <a:cubicBezTo>
                  <a:pt x="124658" y="111755"/>
                  <a:pt x="132472" y="111755"/>
                  <a:pt x="138276" y="107424"/>
                </a:cubicBezTo>
                <a:cubicBezTo>
                  <a:pt x="156225" y="94030"/>
                  <a:pt x="192837" y="63267"/>
                  <a:pt x="192837" y="34513"/>
                </a:cubicBezTo>
                <a:lnTo>
                  <a:pt x="192837" y="33442"/>
                </a:lnTo>
                <a:cubicBezTo>
                  <a:pt x="192837" y="14957"/>
                  <a:pt x="177879" y="0"/>
                  <a:pt x="159395" y="0"/>
                </a:cubicBezTo>
                <a:cubicBezTo>
                  <a:pt x="148679" y="0"/>
                  <a:pt x="138589" y="5135"/>
                  <a:pt x="132293" y="13841"/>
                </a:cubicBezTo>
                <a:lnTo>
                  <a:pt x="128588" y="19065"/>
                </a:lnTo>
                <a:lnTo>
                  <a:pt x="124837" y="13841"/>
                </a:ln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7" name="Text 14"/>
          <p:cNvSpPr/>
          <p:nvPr/>
        </p:nvSpPr>
        <p:spPr>
          <a:xfrm>
            <a:off x="6819900" y="5295784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Responsible use is required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77000" y="5676663"/>
            <a:ext cx="523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AI ethically means understanding its limitations, verifying information, and considering the impact on others.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p3o2dovgivrg/slide7_example.png">    </p:cNvPr>
          <p:cNvPicPr>
            <a:picLocks noChangeAspect="1"/>
          </p:cNvPicPr>
          <p:nvPr/>
        </p:nvPicPr>
        <p:blipFill>
          <a:blip r:embed="rId1"/>
          <a:srcRect l="43" r="43" t="0" b="0"/>
          <a:stretch/>
        </p:blipFill>
        <p:spPr>
          <a:xfrm>
            <a:off x="381000" y="1839637"/>
            <a:ext cx="5562600" cy="3181350"/>
          </a:xfrm>
          <a:prstGeom prst="roundRect">
            <a:avLst>
              <a:gd name="adj" fmla="val 239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248400" y="287299"/>
            <a:ext cx="579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Real-life example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48400" y="973099"/>
            <a:ext cx="5562600" cy="2419350"/>
          </a:xfrm>
          <a:custGeom>
            <a:avLst/>
            <a:gdLst/>
            <a:ahLst/>
            <a:cxnLst/>
            <a:rect l="l" t="t" r="r" b="b"/>
            <a:pathLst>
              <a:path w="5562600" h="2419350">
                <a:moveTo>
                  <a:pt x="76210" y="0"/>
                </a:moveTo>
                <a:lnTo>
                  <a:pt x="5486390" y="0"/>
                </a:lnTo>
                <a:cubicBezTo>
                  <a:pt x="5528480" y="0"/>
                  <a:pt x="5562600" y="34120"/>
                  <a:pt x="5562600" y="76210"/>
                </a:cubicBezTo>
                <a:lnTo>
                  <a:pt x="5562600" y="2343140"/>
                </a:lnTo>
                <a:cubicBezTo>
                  <a:pt x="5562600" y="2385230"/>
                  <a:pt x="5528480" y="2419350"/>
                  <a:pt x="548639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A5C8C">
              <a:alpha val="3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77000" y="1201699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✓</a:t>
            </a:r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Smart approach: Maria's study method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77000" y="1620678"/>
            <a:ext cx="5200650" cy="1552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Maria uses AI 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summarize long articles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study questions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But she always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checks facts against her textbooks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thinks critically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about the AI's suggestions. Result: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2A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understanding, higher grades.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48400" y="3625690"/>
            <a:ext cx="5562600" cy="2114550"/>
          </a:xfrm>
          <a:custGeom>
            <a:avLst/>
            <a:gdLst/>
            <a:ahLst/>
            <a:cxnLst/>
            <a:rect l="l" t="t" r="r" b="b"/>
            <a:pathLst>
              <a:path w="5562600" h="211455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2038342"/>
                </a:lnTo>
                <a:cubicBezTo>
                  <a:pt x="5562600" y="2080430"/>
                  <a:pt x="5528480" y="2114550"/>
                  <a:pt x="5486392" y="2114550"/>
                </a:cubicBezTo>
                <a:lnTo>
                  <a:pt x="76208" y="2114550"/>
                </a:lnTo>
                <a:cubicBezTo>
                  <a:pt x="34120" y="2114550"/>
                  <a:pt x="0" y="2080430"/>
                  <a:pt x="0" y="203834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4A5C8C">
              <a:alpha val="3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77000" y="3854290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✗</a:t>
            </a:r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Risky approach: Tom's shortcut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77000" y="4273274"/>
            <a:ext cx="52006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Tom copies AI-generated content directly for his essay without checking. The AI included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made-up statistics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fictional sources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Result: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F2A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Failed assignment, academic warning.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56020" y="5976344"/>
            <a:ext cx="5549265" cy="586740"/>
          </a:xfrm>
          <a:custGeom>
            <a:avLst/>
            <a:gdLst/>
            <a:ahLst/>
            <a:cxnLst/>
            <a:rect l="l" t="t" r="r" b="b"/>
            <a:pathLst>
              <a:path w="5549265" h="586740">
                <a:moveTo>
                  <a:pt x="76200" y="0"/>
                </a:moveTo>
                <a:lnTo>
                  <a:pt x="5473065" y="0"/>
                </a:lnTo>
                <a:cubicBezTo>
                  <a:pt x="5515149" y="0"/>
                  <a:pt x="5549265" y="34116"/>
                  <a:pt x="5549265" y="76200"/>
                </a:cubicBezTo>
                <a:lnTo>
                  <a:pt x="5549265" y="510540"/>
                </a:lnTo>
                <a:cubicBezTo>
                  <a:pt x="5549265" y="552624"/>
                  <a:pt x="5515149" y="586740"/>
                  <a:pt x="5473065" y="586740"/>
                </a:cubicBezTo>
                <a:lnTo>
                  <a:pt x="76200" y="586740"/>
                </a:lnTo>
                <a:cubicBezTo>
                  <a:pt x="34116" y="586740"/>
                  <a:pt x="0" y="552624"/>
                  <a:pt x="0" y="51054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2A900">
              <a:alpha val="20000"/>
            </a:srgbClr>
          </a:solidFill>
          <a:ln w="20320">
            <a:solidFill>
              <a:srgbClr val="F2A9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76800" y="617446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12" name="Text 9"/>
          <p:cNvSpPr/>
          <p:nvPr/>
        </p:nvSpPr>
        <p:spPr>
          <a:xfrm>
            <a:off x="6663690" y="6136365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Lesson: AI helps, but you must stay in control.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p3o2dovgivrg/slide8_conclusion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D">
              <a:alpha val="8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538538" y="1472803"/>
            <a:ext cx="51149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2A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key takeaway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34916" y="2417685"/>
            <a:ext cx="59221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b="1" dirty="0">
                <a:solidFill>
                  <a:srgbClr val="F2A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is a tool, not a replacement for thinking.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38800" y="3042047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3149203" y="3308747"/>
            <a:ext cx="5895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B95A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 are real. Risks are real.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72796" y="3962163"/>
            <a:ext cx="36464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2A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and ethical use is the key.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6353" y="4661297"/>
            <a:ext cx="5781675" cy="723900"/>
          </a:xfrm>
          <a:custGeom>
            <a:avLst/>
            <a:gdLst/>
            <a:ahLst/>
            <a:cxnLst/>
            <a:rect l="l" t="t" r="r" b="b"/>
            <a:pathLst>
              <a:path w="5781675" h="723900">
                <a:moveTo>
                  <a:pt x="76198" y="0"/>
                </a:moveTo>
                <a:lnTo>
                  <a:pt x="5705477" y="0"/>
                </a:lnTo>
                <a:cubicBezTo>
                  <a:pt x="5747532" y="0"/>
                  <a:pt x="5781675" y="34143"/>
                  <a:pt x="5781675" y="76198"/>
                </a:cubicBezTo>
                <a:lnTo>
                  <a:pt x="5781675" y="647702"/>
                </a:lnTo>
                <a:cubicBezTo>
                  <a:pt x="5781675" y="689757"/>
                  <a:pt x="5747532" y="723900"/>
                  <a:pt x="57054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5C8C">
              <a:alpha val="4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387328" y="4889897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8E8E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"Use AI to enhance your abilities, not replace your judgment."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AI Tools: Pros and Cons</dc:title>
  <dc:subject>Using AI Tools: Pros and Cons</dc:subject>
  <dc:creator>Kimi</dc:creator>
  <cp:lastModifiedBy>Kimi</cp:lastModifiedBy>
  <cp:revision>1</cp:revision>
  <dcterms:created xsi:type="dcterms:W3CDTF">2026-02-18T10:28:29Z</dcterms:created>
  <dcterms:modified xsi:type="dcterms:W3CDTF">2026-02-18T10:28:29Z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{"Label":"Using AI Tools: Pros and Cons","ContentProducer":"001191110108MACG2KBH8F10000","ProduceID":"19c7049d-a862-883a-8000-000047006587","ReservedCode1":"","ContentPropagator":"001191110108MACG2KBH8F20000","PropagateID":"19c7049d-a862-883a-8000-000047006587","ReservedCode2":""}</vt:lpwstr>
  </property>
</Properties>
</file>