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2" r:id="rId6"/>
    <p:sldId id="263" r:id="rId7"/>
    <p:sldId id="264" r:id="rId8"/>
    <p:sldId id="265" r:id="rId9"/>
    <p:sldId id="266" r:id="rId10"/>
    <p:sldId id="268"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59" autoAdjust="0"/>
    <p:restoredTop sz="94660"/>
  </p:normalViewPr>
  <p:slideViewPr>
    <p:cSldViewPr snapToGrid="0">
      <p:cViewPr varScale="1">
        <p:scale>
          <a:sx n="116" d="100"/>
          <a:sy n="116" d="100"/>
        </p:scale>
        <p:origin x="10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2477507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14326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3001800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E3B53104-E534-42B5-959A-0938A8A7B249}" type="datetimeFigureOut">
              <a:rPr lang="ru-RU" smtClean="0"/>
              <a:t>14.02.2026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2126289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E3B53104-E534-42B5-959A-0938A8A7B249}" type="datetimeFigureOut">
              <a:rPr lang="ru-RU" smtClean="0"/>
              <a:t>14.02.2026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236471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E3B53104-E534-42B5-959A-0938A8A7B249}" type="datetimeFigureOut">
              <a:rPr lang="ru-RU" smtClean="0"/>
              <a:t>14.02.2026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1922221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B53104-E534-42B5-959A-0938A8A7B249}" type="datetimeFigureOut">
              <a:rPr lang="ru-RU" smtClean="0"/>
              <a:t>14.02.2026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3862668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smtClean="0"/>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E3B53104-E534-42B5-959A-0938A8A7B249}" type="datetimeFigureOut">
              <a:rPr lang="ru-RU" smtClean="0"/>
              <a:t>14.02.2026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121043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E3B53104-E534-42B5-959A-0938A8A7B249}" type="datetimeFigureOut">
              <a:rPr lang="ru-RU" smtClean="0"/>
              <a:t>14.02.2026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3538482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107242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09986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2220573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59895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2728126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2505178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E3B53104-E534-42B5-959A-0938A8A7B249}" type="datetimeFigureOut">
              <a:rPr lang="ru-RU" smtClean="0"/>
              <a:t>14.02.2026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0D2B09C-27A5-41B5-B17B-446359AB4EA4}" type="slidenum">
              <a:rPr lang="ru-RU" smtClean="0"/>
              <a:t>‹#›</a:t>
            </a:fld>
            <a:endParaRPr lang="ru-RU"/>
          </a:p>
        </p:txBody>
      </p:sp>
    </p:spTree>
    <p:extLst>
      <p:ext uri="{BB962C8B-B14F-4D97-AF65-F5344CB8AC3E}">
        <p14:creationId xmlns:p14="http://schemas.microsoft.com/office/powerpoint/2010/main" val="305686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3B53104-E534-42B5-959A-0938A8A7B249}" type="datetimeFigureOut">
              <a:rPr lang="ru-RU" smtClean="0"/>
              <a:t>14.02.2026</a:t>
            </a:fld>
            <a:endParaRPr lang="ru-R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0D2B09C-27A5-41B5-B17B-446359AB4EA4}" type="slidenum">
              <a:rPr lang="ru-RU" smtClean="0"/>
              <a:t>‹#›</a:t>
            </a:fld>
            <a:endParaRPr lang="ru-RU"/>
          </a:p>
        </p:txBody>
      </p:sp>
    </p:spTree>
    <p:extLst>
      <p:ext uri="{BB962C8B-B14F-4D97-AF65-F5344CB8AC3E}">
        <p14:creationId xmlns:p14="http://schemas.microsoft.com/office/powerpoint/2010/main" val="999149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087394" y="600495"/>
            <a:ext cx="10091351" cy="4893647"/>
          </a:xfrm>
          <a:prstGeom prst="rect">
            <a:avLst/>
          </a:prstGeom>
        </p:spPr>
        <p:txBody>
          <a:bodyPr wrap="square">
            <a:spAutoFit/>
          </a:bodyPr>
          <a:lstStyle/>
          <a:p>
            <a:pPr algn="ctr">
              <a:spcAft>
                <a:spcPts val="0"/>
              </a:spcAft>
            </a:pPr>
            <a:r>
              <a:rPr lang="kk-KZ" sz="3200" b="1" dirty="0" smtClean="0">
                <a:solidFill>
                  <a:srgbClr val="FF0000"/>
                </a:solidFill>
                <a:effectLst/>
                <a:latin typeface="Times New Roman" panose="02020603050405020304" pitchFamily="18" charset="0"/>
                <a:ea typeface="Times New Roman" panose="02020603050405020304" pitchFamily="18" charset="0"/>
              </a:rPr>
              <a:t>Дәріс 6.</a:t>
            </a:r>
            <a:endParaRPr lang="ru-RU" sz="3200" dirty="0" smtClean="0">
              <a:effectLst/>
              <a:latin typeface="Times New Roman" panose="02020603050405020304" pitchFamily="18" charset="0"/>
              <a:ea typeface="Times New Roman" panose="02020603050405020304" pitchFamily="18" charset="0"/>
            </a:endParaRPr>
          </a:p>
          <a:p>
            <a:pPr algn="ctr">
              <a:spcAft>
                <a:spcPts val="0"/>
              </a:spcAft>
            </a:pPr>
            <a:r>
              <a:rPr lang="kk-KZ" sz="3200" b="1" dirty="0" smtClean="0">
                <a:solidFill>
                  <a:srgbClr val="FF0000"/>
                </a:solidFill>
                <a:effectLst/>
                <a:latin typeface="Times New Roman" panose="02020603050405020304" pitchFamily="18" charset="0"/>
                <a:ea typeface="Times New Roman" panose="02020603050405020304" pitchFamily="18" charset="0"/>
              </a:rPr>
              <a:t>Жұмыс орындарын жарықтандыру мәселелері.</a:t>
            </a:r>
          </a:p>
          <a:p>
            <a:pPr algn="ctr">
              <a:spcAft>
                <a:spcPts val="0"/>
              </a:spcAft>
            </a:pPr>
            <a:endParaRPr lang="ru-RU" sz="2400" dirty="0" smtClean="0">
              <a:effectLst/>
              <a:latin typeface="Times New Roman" panose="02020603050405020304" pitchFamily="18" charset="0"/>
              <a:ea typeface="Times New Roman" panose="02020603050405020304" pitchFamily="18" charset="0"/>
            </a:endParaRPr>
          </a:p>
          <a:p>
            <a:pPr algn="just">
              <a:spcAft>
                <a:spcPts val="0"/>
              </a:spcAft>
            </a:pPr>
            <a:r>
              <a:rPr lang="kk-KZ" sz="3200" dirty="0" smtClean="0">
                <a:effectLst/>
                <a:latin typeface="Times New Roman" panose="02020603050405020304" pitchFamily="18" charset="0"/>
                <a:ea typeface="Times New Roman" panose="02020603050405020304" pitchFamily="18" charset="0"/>
              </a:rPr>
              <a:t>6.1.Жарықтың өлшем бірліктері. Өндірістік жарықтандыру түрлері.</a:t>
            </a:r>
            <a:endParaRPr lang="ru-RU" sz="3200" dirty="0" smtClean="0">
              <a:effectLst/>
              <a:latin typeface="Times New Roman" panose="02020603050405020304" pitchFamily="18" charset="0"/>
              <a:ea typeface="Times New Roman" panose="02020603050405020304" pitchFamily="18" charset="0"/>
            </a:endParaRPr>
          </a:p>
          <a:p>
            <a:pPr algn="just">
              <a:spcAft>
                <a:spcPts val="0"/>
              </a:spcAft>
            </a:pPr>
            <a:r>
              <a:rPr lang="kk-KZ" sz="3200" dirty="0" smtClean="0">
                <a:effectLst/>
                <a:latin typeface="Times New Roman" panose="02020603050405020304" pitchFamily="18" charset="0"/>
                <a:ea typeface="Times New Roman" panose="02020603050405020304" pitchFamily="18" charset="0"/>
              </a:rPr>
              <a:t>6.2. Жұмыс орындарын жарықтандыру әдістері. </a:t>
            </a:r>
            <a:endParaRPr lang="ru-RU" sz="3200" dirty="0" smtClean="0">
              <a:effectLst/>
              <a:latin typeface="Times New Roman" panose="02020603050405020304" pitchFamily="18" charset="0"/>
              <a:ea typeface="Times New Roman" panose="02020603050405020304" pitchFamily="18" charset="0"/>
            </a:endParaRPr>
          </a:p>
          <a:p>
            <a:pPr algn="just">
              <a:spcAft>
                <a:spcPts val="0"/>
              </a:spcAft>
            </a:pPr>
            <a:r>
              <a:rPr lang="kk-KZ" sz="3200" dirty="0" smtClean="0">
                <a:effectLst/>
                <a:latin typeface="Times New Roman" panose="02020603050405020304" pitchFamily="18" charset="0"/>
                <a:ea typeface="Times New Roman" panose="02020603050405020304" pitchFamily="18" charset="0"/>
              </a:rPr>
              <a:t>6.3. Электр қауіпсіздігі негіздері </a:t>
            </a:r>
            <a:endParaRPr lang="ru-RU" sz="3200" dirty="0" smtClean="0">
              <a:effectLst/>
              <a:latin typeface="Times New Roman" panose="02020603050405020304" pitchFamily="18" charset="0"/>
              <a:ea typeface="Times New Roman" panose="02020603050405020304" pitchFamily="18" charset="0"/>
            </a:endParaRPr>
          </a:p>
          <a:p>
            <a:pPr algn="just">
              <a:spcAft>
                <a:spcPts val="0"/>
              </a:spcAft>
            </a:pPr>
            <a:r>
              <a:rPr lang="kk-KZ" sz="3200" dirty="0" smtClean="0">
                <a:effectLst/>
                <a:latin typeface="Times New Roman" panose="02020603050405020304" pitchFamily="18" charset="0"/>
                <a:ea typeface="Times New Roman" panose="02020603050405020304" pitchFamily="18" charset="0"/>
              </a:rPr>
              <a:t>6.4. Электр тоғының адам ағзасына әсері. Электр тоғы зақымынан қорғанудың техникалық әдістері.Электр тоғынан зардап шегушіге көрсетілетін алғашқы көмек.</a:t>
            </a:r>
            <a:endParaRPr lang="ru-RU"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1042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68411" y="326584"/>
            <a:ext cx="10972800" cy="6832640"/>
          </a:xfrm>
          <a:prstGeom prst="rect">
            <a:avLst/>
          </a:prstGeom>
        </p:spPr>
        <p:txBody>
          <a:bodyPr wrap="square">
            <a:spAutoFit/>
          </a:bodyPr>
          <a:lstStyle/>
          <a:p>
            <a:pPr algn="just">
              <a:spcAft>
                <a:spcPts val="0"/>
              </a:spcAft>
            </a:pPr>
            <a:r>
              <a:rPr lang="kk-KZ" sz="2000" b="1" dirty="0" smtClean="0">
                <a:solidFill>
                  <a:srgbClr val="FF0000"/>
                </a:solidFill>
                <a:effectLst/>
                <a:latin typeface="Times New Roman" panose="02020603050405020304" pitchFamily="18" charset="0"/>
                <a:ea typeface="Times New Roman" panose="02020603050405020304" pitchFamily="18" charset="0"/>
              </a:rPr>
              <a:t>Өндірістік жарықтану</a:t>
            </a:r>
            <a:r>
              <a:rPr lang="kk-KZ" sz="2000" dirty="0" smtClean="0">
                <a:solidFill>
                  <a:srgbClr val="FF0000"/>
                </a:solidFill>
                <a:effectLst/>
                <a:latin typeface="Times New Roman" panose="02020603050405020304" pitchFamily="18" charset="0"/>
                <a:ea typeface="Times New Roman" panose="02020603050405020304" pitchFamily="18" charset="0"/>
              </a:rPr>
              <a:t> </a:t>
            </a:r>
            <a:r>
              <a:rPr lang="kk-KZ" sz="2000" dirty="0" smtClean="0">
                <a:effectLst/>
                <a:latin typeface="Times New Roman" panose="02020603050405020304" pitchFamily="18" charset="0"/>
                <a:ea typeface="Times New Roman" panose="02020603050405020304" pitchFamily="18" charset="0"/>
              </a:rPr>
              <a:t>– </a:t>
            </a:r>
            <a:r>
              <a:rPr lang="kk-KZ" sz="2000" b="1" dirty="0" smtClean="0">
                <a:effectLst/>
                <a:latin typeface="Times New Roman" panose="02020603050405020304" pitchFamily="18" charset="0"/>
                <a:ea typeface="Times New Roman" panose="02020603050405020304" pitchFamily="18" charset="0"/>
              </a:rPr>
              <a:t>еңбек гигиенасының ең маңызды шамасы (СНж/еЕ ҚР 2.04.05 – 2002 (Табиғи және жасанды жарықтандыру)</a:t>
            </a:r>
            <a:r>
              <a:rPr lang="kk-KZ" sz="2000" dirty="0" smtClean="0">
                <a:effectLst/>
                <a:latin typeface="Times New Roman" panose="02020603050405020304" pitchFamily="18" charset="0"/>
                <a:ea typeface="Times New Roman" panose="02020603050405020304" pitchFamily="18" charset="0"/>
              </a:rPr>
              <a:t>. Жарықтылық сыртқы ортамен қатынаста ең маңызды рөл атқарады. Жарықтылық түсті және обьектінің көлемін ажыратуға көмектеседі. Сонымен қатар жұмысқа қабілеттілікті артады, еңбек қауіпсіздігін қамтамасыз етеді. Жұмысшының психологиясына әсер етеді. Жарықтылық табиғи, күн сәулесімен пайда болатын және жасанды электршамдарынан пайда болатын болды</a:t>
            </a:r>
            <a:r>
              <a:rPr lang="kk-KZ" sz="2000" b="1" dirty="0" smtClean="0">
                <a:effectLst/>
                <a:latin typeface="Times New Roman" panose="02020603050405020304" pitchFamily="18" charset="0"/>
                <a:ea typeface="Times New Roman" panose="02020603050405020304" pitchFamily="18" charset="0"/>
              </a:rPr>
              <a:t>. </a:t>
            </a:r>
          </a:p>
          <a:p>
            <a:pPr algn="just">
              <a:spcAft>
                <a:spcPts val="0"/>
              </a:spcAft>
            </a:pPr>
            <a:r>
              <a:rPr lang="kk-KZ" sz="2000" b="1" dirty="0" smtClean="0">
                <a:solidFill>
                  <a:srgbClr val="FF0000"/>
                </a:solidFill>
                <a:effectLst/>
                <a:latin typeface="Times New Roman" panose="02020603050405020304" pitchFamily="18" charset="0"/>
                <a:ea typeface="Times New Roman" panose="02020603050405020304" pitchFamily="18" charset="0"/>
              </a:rPr>
              <a:t>Жарық</a:t>
            </a:r>
            <a:r>
              <a:rPr lang="kk-KZ" sz="2000" dirty="0" smtClean="0">
                <a:solidFill>
                  <a:srgbClr val="FF0000"/>
                </a:solidFill>
                <a:effectLst/>
                <a:latin typeface="Times New Roman" panose="02020603050405020304" pitchFamily="18" charset="0"/>
                <a:ea typeface="Times New Roman" panose="02020603050405020304" pitchFamily="18" charset="0"/>
              </a:rPr>
              <a:t> </a:t>
            </a:r>
            <a:r>
              <a:rPr lang="kk-KZ" sz="2000" dirty="0" smtClean="0">
                <a:effectLst/>
                <a:latin typeface="Times New Roman" panose="02020603050405020304" pitchFamily="18" charset="0"/>
                <a:ea typeface="Times New Roman" panose="02020603050405020304" pitchFamily="18" charset="0"/>
              </a:rPr>
              <a:t>– </a:t>
            </a:r>
            <a:r>
              <a:rPr lang="kk-KZ" sz="2000" b="1" dirty="0" smtClean="0">
                <a:effectLst/>
                <a:latin typeface="Times New Roman" panose="02020603050405020304" pitchFamily="18" charset="0"/>
                <a:ea typeface="Times New Roman" panose="02020603050405020304" pitchFamily="18" charset="0"/>
              </a:rPr>
              <a:t>көрінетін сәулелердің электромагниттік спектрінің бір бөлігі болып табылады. </a:t>
            </a:r>
            <a:r>
              <a:rPr lang="kk-KZ" sz="2000" i="1" dirty="0" smtClean="0">
                <a:effectLst/>
                <a:latin typeface="Times New Roman" panose="02020603050405020304" pitchFamily="18" charset="0"/>
                <a:ea typeface="Times New Roman" panose="02020603050405020304" pitchFamily="18" charset="0"/>
              </a:rPr>
              <a:t>Көздің әр участкіде көру спектрі әр түрлі</a:t>
            </a:r>
            <a:r>
              <a:rPr lang="kk-KZ" sz="2000" dirty="0" smtClean="0">
                <a:effectLst/>
                <a:latin typeface="Times New Roman" panose="02020603050405020304" pitchFamily="18" charset="0"/>
                <a:ea typeface="Times New Roman" panose="02020603050405020304" pitchFamily="18" charset="0"/>
              </a:rPr>
              <a:t>. Толқын ұзындығы </a:t>
            </a:r>
            <a:r>
              <a:rPr lang="ru-RU" sz="2000" b="1" dirty="0" smtClean="0">
                <a:solidFill>
                  <a:srgbClr val="FF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kk-KZ" sz="2000" dirty="0" smtClean="0">
                <a:effectLst/>
                <a:latin typeface="Times New Roman" panose="02020603050405020304" pitchFamily="18" charset="0"/>
                <a:ea typeface="Times New Roman" panose="02020603050405020304" pitchFamily="18" charset="0"/>
              </a:rPr>
              <a:t> және айналу жиілігі </a:t>
            </a:r>
            <a:r>
              <a:rPr lang="ru-RU" sz="2000" b="1" dirty="0" smtClean="0">
                <a:solidFill>
                  <a:srgbClr val="FF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kk-KZ" sz="2000" dirty="0" smtClean="0">
                <a:effectLst/>
                <a:latin typeface="Times New Roman" panose="02020603050405020304" pitchFamily="18" charset="0"/>
                <a:ea typeface="Times New Roman" panose="02020603050405020304" pitchFamily="18" charset="0"/>
              </a:rPr>
              <a:t> спектрдің негізгі мінездемесі болып табылады. Олар бір – біріне тәуелді байланысқан: </a:t>
            </a:r>
            <a:r>
              <a:rPr lang="ru-RU" sz="2000" b="1" dirty="0" smtClean="0">
                <a:solidFill>
                  <a:srgbClr val="FF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kk-KZ" sz="2000" b="1" dirty="0" smtClean="0">
                <a:solidFill>
                  <a:srgbClr val="FF0000"/>
                </a:solidFill>
                <a:effectLst/>
                <a:latin typeface="Times New Roman" panose="02020603050405020304" pitchFamily="18" charset="0"/>
                <a:ea typeface="Times New Roman" panose="02020603050405020304" pitchFamily="18" charset="0"/>
              </a:rPr>
              <a:t>с/</a:t>
            </a:r>
            <a:r>
              <a:rPr lang="ru-RU" sz="2000" b="1" dirty="0" smtClean="0">
                <a:solidFill>
                  <a:srgbClr val="FF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kk-KZ" sz="2000" b="1" dirty="0" smtClean="0">
                <a:solidFill>
                  <a:srgbClr val="FF0000"/>
                </a:solidFill>
                <a:effectLst/>
                <a:latin typeface="Times New Roman" panose="02020603050405020304" pitchFamily="18" charset="0"/>
                <a:ea typeface="Times New Roman" panose="02020603050405020304" pitchFamily="18" charset="0"/>
              </a:rPr>
              <a:t>; с</a:t>
            </a:r>
            <a:r>
              <a:rPr lang="kk-KZ" sz="2000" dirty="0" smtClean="0">
                <a:solidFill>
                  <a:srgbClr val="FF0000"/>
                </a:solidFill>
                <a:effectLst/>
                <a:latin typeface="Times New Roman" panose="02020603050405020304" pitchFamily="18" charset="0"/>
                <a:ea typeface="Times New Roman" panose="02020603050405020304" pitchFamily="18" charset="0"/>
              </a:rPr>
              <a:t> </a:t>
            </a:r>
            <a:r>
              <a:rPr lang="kk-KZ" sz="2000" dirty="0" smtClean="0">
                <a:effectLst/>
                <a:latin typeface="Times New Roman" panose="02020603050405020304" pitchFamily="18" charset="0"/>
                <a:ea typeface="Times New Roman" panose="02020603050405020304" pitchFamily="18" charset="0"/>
              </a:rPr>
              <a:t>– жарықтың таралу жылдамдығы. </a:t>
            </a:r>
            <a:r>
              <a:rPr lang="ru-RU" sz="2000" b="1" dirty="0" smtClean="0">
                <a:solidFill>
                  <a:srgbClr val="FF0000"/>
                </a:solidFill>
                <a:effectLst/>
                <a:latin typeface="Times New Roman" panose="02020603050405020304" pitchFamily="18" charset="0"/>
                <a:ea typeface="Times New Roman" panose="02020603050405020304" pitchFamily="18" charset="0"/>
                <a:sym typeface="Symbol" panose="05050102010706020507" pitchFamily="18" charset="2"/>
              </a:rPr>
              <a:t></a:t>
            </a:r>
            <a:r>
              <a:rPr lang="ru-RU" sz="2000" b="1" dirty="0" smtClean="0">
                <a:solidFill>
                  <a:srgbClr val="FF0000"/>
                </a:solidFill>
                <a:effectLst/>
                <a:latin typeface="Times New Roman" panose="02020603050405020304" pitchFamily="18" charset="0"/>
                <a:ea typeface="Times New Roman" panose="02020603050405020304" pitchFamily="18" charset="0"/>
              </a:rPr>
              <a:t>554 </a:t>
            </a:r>
            <a:r>
              <a:rPr lang="ru-RU" sz="2000" b="1" dirty="0" err="1" smtClean="0">
                <a:solidFill>
                  <a:srgbClr val="FF0000"/>
                </a:solidFill>
                <a:effectLst/>
                <a:latin typeface="Times New Roman" panose="02020603050405020304" pitchFamily="18" charset="0"/>
                <a:ea typeface="Times New Roman" panose="02020603050405020304" pitchFamily="18" charset="0"/>
              </a:rPr>
              <a:t>нм</a:t>
            </a:r>
            <a:r>
              <a:rPr lang="ru-RU" sz="2000" dirty="0" smtClean="0">
                <a:solidFill>
                  <a:srgbClr val="FF0000"/>
                </a:solidFill>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толқын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ұзындығына</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тең</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жасыл</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түсті</a:t>
            </a:r>
            <a:r>
              <a:rPr lang="ru-RU" sz="2000" dirty="0" smtClean="0">
                <a:effectLst/>
                <a:latin typeface="Times New Roman" panose="02020603050405020304" pitchFamily="18" charset="0"/>
                <a:ea typeface="Times New Roman" panose="02020603050405020304" pitchFamily="18" charset="0"/>
              </a:rPr>
              <a:t> спектр </a:t>
            </a:r>
            <a:r>
              <a:rPr lang="ru-RU" sz="2000" dirty="0" err="1" smtClean="0">
                <a:effectLst/>
                <a:latin typeface="Times New Roman" panose="02020603050405020304" pitchFamily="18" charset="0"/>
                <a:ea typeface="Times New Roman" panose="02020603050405020304" pitchFamily="18" charset="0"/>
              </a:rPr>
              <a:t>аймағында</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ол</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максималды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болады</a:t>
            </a:r>
            <a:r>
              <a:rPr lang="ru-RU" sz="2000" dirty="0" smtClean="0">
                <a:effectLst/>
                <a:latin typeface="Times New Roman" panose="02020603050405020304" pitchFamily="18" charset="0"/>
                <a:ea typeface="Times New Roman" panose="02020603050405020304" pitchFamily="18" charset="0"/>
              </a:rPr>
              <a:t>.</a:t>
            </a:r>
          </a:p>
          <a:p>
            <a:pPr algn="just"/>
            <a:r>
              <a:rPr lang="ru-RU" sz="2000" b="1" dirty="0" err="1">
                <a:solidFill>
                  <a:srgbClr val="FF0000"/>
                </a:solidFill>
                <a:latin typeface="Times New Roman" panose="02020603050405020304" pitchFamily="18" charset="0"/>
                <a:cs typeface="Times New Roman" panose="02020603050405020304" pitchFamily="18" charset="0"/>
              </a:rPr>
              <a:t>Жарықтылықтың</a:t>
            </a:r>
            <a:r>
              <a:rPr lang="ru-RU" sz="2000" b="1" dirty="0">
                <a:solidFill>
                  <a:srgbClr val="FF0000"/>
                </a:solidFill>
                <a:latin typeface="Times New Roman" panose="02020603050405020304" pitchFamily="18" charset="0"/>
                <a:cs typeface="Times New Roman" panose="02020603050405020304" pitchFamily="18" charset="0"/>
              </a:rPr>
              <a:t> </a:t>
            </a:r>
            <a:r>
              <a:rPr lang="ru-RU" sz="2000" b="1" dirty="0" err="1">
                <a:solidFill>
                  <a:srgbClr val="FF0000"/>
                </a:solidFill>
                <a:latin typeface="Times New Roman" panose="02020603050405020304" pitchFamily="18" charset="0"/>
                <a:cs typeface="Times New Roman" panose="02020603050405020304" pitchFamily="18" charset="0"/>
              </a:rPr>
              <a:t>сапасын</a:t>
            </a:r>
            <a:r>
              <a:rPr lang="ru-RU" sz="2000" b="1" dirty="0">
                <a:solidFill>
                  <a:srgbClr val="FF0000"/>
                </a:solidFill>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бағалау</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үшін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қолданылатын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жарықтехникалық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өлшемдерінің</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негізгілеріне</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мыналар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жатады</a:t>
            </a:r>
            <a:r>
              <a:rPr lang="ru-RU" sz="2000" dirty="0">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жарық</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күші</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жарықтылық</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бейнелеу</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коэффиц</a:t>
            </a:r>
            <a:r>
              <a:rPr lang="kk-KZ" sz="2000" b="1" dirty="0">
                <a:solidFill>
                  <a:srgbClr val="00B050"/>
                </a:solidFill>
                <a:latin typeface="Times New Roman" panose="02020603050405020304" pitchFamily="18" charset="0"/>
                <a:cs typeface="Times New Roman" panose="02020603050405020304" pitchFamily="18" charset="0"/>
              </a:rPr>
              <a:t>и</a:t>
            </a:r>
            <a:r>
              <a:rPr lang="ru-RU" sz="2000" b="1" dirty="0" err="1">
                <a:solidFill>
                  <a:srgbClr val="00B050"/>
                </a:solidFill>
                <a:latin typeface="Times New Roman" panose="02020603050405020304" pitchFamily="18" charset="0"/>
                <a:cs typeface="Times New Roman" panose="02020603050405020304" pitchFamily="18" charset="0"/>
              </a:rPr>
              <a:t>енті</a:t>
            </a:r>
            <a:r>
              <a:rPr lang="ru-RU" sz="2000" b="1" dirty="0">
                <a:solidFill>
                  <a:srgbClr val="00B050"/>
                </a:solidFill>
                <a:latin typeface="Times New Roman" panose="02020603050405020304" pitchFamily="18" charset="0"/>
                <a:cs typeface="Times New Roman" panose="02020603050405020304" pitchFamily="18" charset="0"/>
              </a:rPr>
              <a:t>, </a:t>
            </a:r>
            <a:r>
              <a:rPr lang="kk-KZ" sz="2000" b="1" dirty="0">
                <a:solidFill>
                  <a:srgbClr val="00B050"/>
                </a:solidFill>
                <a:latin typeface="Times New Roman" panose="02020603050405020304" pitchFamily="18" charset="0"/>
                <a:cs typeface="Times New Roman" panose="02020603050405020304" pitchFamily="18" charset="0"/>
              </a:rPr>
              <a:t>жарықтың</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жарықтылығы</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және</a:t>
            </a:r>
            <a:r>
              <a:rPr lang="ru-RU" sz="2000" b="1" dirty="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т.б</a:t>
            </a:r>
            <a:r>
              <a:rPr lang="ru-RU" sz="2000" dirty="0">
                <a:latin typeface="Times New Roman" panose="02020603050405020304" pitchFamily="18" charset="0"/>
                <a:cs typeface="Times New Roman" panose="02020603050405020304" pitchFamily="18" charset="0"/>
              </a:rPr>
              <a:t>.   </a:t>
            </a:r>
            <a:endParaRPr lang="ru-RU" sz="2000" dirty="0" smtClean="0">
              <a:latin typeface="Times New Roman" panose="02020603050405020304" pitchFamily="18" charset="0"/>
              <a:cs typeface="Times New Roman" panose="02020603050405020304" pitchFamily="18" charset="0"/>
            </a:endParaRPr>
          </a:p>
          <a:p>
            <a:pPr algn="just"/>
            <a:r>
              <a:rPr lang="ru-RU" sz="2000" b="1" dirty="0" err="1" smtClean="0">
                <a:latin typeface="Times New Roman" panose="02020603050405020304" pitchFamily="18" charset="0"/>
                <a:cs typeface="Times New Roman" panose="02020603050405020304" pitchFamily="18" charset="0"/>
              </a:rPr>
              <a:t>Жарықтылық</a:t>
            </a:r>
            <a:r>
              <a:rPr lang="ru-RU" sz="2000" b="1" dirty="0" smtClean="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ағынының</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кеңістік</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қаттылығын</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бағалайтын</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өлшем</a:t>
            </a:r>
            <a:r>
              <a:rPr lang="ru-RU" sz="2000" b="1" dirty="0">
                <a:latin typeface="Times New Roman" panose="02020603050405020304" pitchFamily="18" charset="0"/>
                <a:cs typeface="Times New Roman" panose="02020603050405020304" pitchFamily="18" charset="0"/>
              </a:rPr>
              <a:t> </a:t>
            </a:r>
            <a:r>
              <a:rPr lang="ru-RU" sz="2000" b="1" dirty="0" err="1">
                <a:solidFill>
                  <a:srgbClr val="FF0000"/>
                </a:solidFill>
                <a:latin typeface="Times New Roman" panose="02020603050405020304" pitchFamily="18" charset="0"/>
                <a:cs typeface="Times New Roman" panose="02020603050405020304" pitchFamily="18" charset="0"/>
              </a:rPr>
              <a:t>жарық</a:t>
            </a:r>
            <a:r>
              <a:rPr lang="ru-RU" sz="2000" b="1" dirty="0">
                <a:solidFill>
                  <a:srgbClr val="FF0000"/>
                </a:solidFill>
                <a:latin typeface="Times New Roman" panose="02020603050405020304" pitchFamily="18" charset="0"/>
                <a:cs typeface="Times New Roman" panose="02020603050405020304" pitchFamily="18" charset="0"/>
              </a:rPr>
              <a:t> </a:t>
            </a:r>
            <a:r>
              <a:rPr lang="ru-RU" sz="2000" b="1" dirty="0" err="1">
                <a:solidFill>
                  <a:srgbClr val="FF0000"/>
                </a:solidFill>
                <a:latin typeface="Times New Roman" panose="02020603050405020304" pitchFamily="18" charset="0"/>
                <a:cs typeface="Times New Roman" panose="02020603050405020304" pitchFamily="18" charset="0"/>
              </a:rPr>
              <a:t>күші</a:t>
            </a:r>
            <a:r>
              <a:rPr lang="ru-RU" sz="2000" b="1" dirty="0">
                <a:solidFill>
                  <a:srgbClr val="FF0000"/>
                </a:solidFill>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деп</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аталады</a:t>
            </a:r>
            <a:r>
              <a:rPr lang="ru-RU" sz="2000" dirty="0">
                <a:latin typeface="Times New Roman" panose="02020603050405020304" pitchFamily="18" charset="0"/>
                <a:cs typeface="Times New Roman" panose="02020603050405020304" pitchFamily="18" charset="0"/>
              </a:rPr>
              <a:t>. </a:t>
            </a:r>
            <a:endParaRPr lang="ru-RU" sz="2000" dirty="0" smtClean="0">
              <a:latin typeface="Times New Roman" panose="02020603050405020304" pitchFamily="18" charset="0"/>
              <a:cs typeface="Times New Roman" panose="02020603050405020304" pitchFamily="18" charset="0"/>
            </a:endParaRPr>
          </a:p>
          <a:p>
            <a:pPr algn="just"/>
            <a:r>
              <a:rPr lang="ru-RU" sz="2000" b="1" dirty="0" err="1" smtClean="0">
                <a:solidFill>
                  <a:srgbClr val="00B050"/>
                </a:solidFill>
                <a:latin typeface="Times New Roman" panose="02020603050405020304" pitchFamily="18" charset="0"/>
                <a:cs typeface="Times New Roman" panose="02020603050405020304" pitchFamily="18" charset="0"/>
              </a:rPr>
              <a:t>Жарық</a:t>
            </a:r>
            <a:r>
              <a:rPr lang="ru-RU" sz="2000" b="1" dirty="0" smtClean="0">
                <a:solidFill>
                  <a:srgbClr val="00B050"/>
                </a:solidFill>
                <a:latin typeface="Times New Roman" panose="02020603050405020304" pitchFamily="18" charset="0"/>
                <a:cs typeface="Times New Roman" panose="02020603050405020304" pitchFamily="18" charset="0"/>
              </a:rPr>
              <a:t> </a:t>
            </a:r>
            <a:r>
              <a:rPr lang="ru-RU" sz="2000" b="1" dirty="0" err="1">
                <a:solidFill>
                  <a:srgbClr val="00B050"/>
                </a:solidFill>
                <a:latin typeface="Times New Roman" panose="02020603050405020304" pitchFamily="18" charset="0"/>
                <a:cs typeface="Times New Roman" panose="02020603050405020304" pitchFamily="18" charset="0"/>
              </a:rPr>
              <a:t>күші</a:t>
            </a:r>
            <a:r>
              <a:rPr lang="ru-RU" sz="2000" b="1" dirty="0">
                <a:solidFill>
                  <a:srgbClr val="00B050"/>
                </a:solidFill>
                <a:latin typeface="Times New Roman" panose="02020603050405020304" pitchFamily="18" charset="0"/>
                <a:cs typeface="Times New Roman" panose="02020603050405020304" pitchFamily="18" charset="0"/>
              </a:rPr>
              <a:t> І </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бұл</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ағынының</a:t>
            </a:r>
            <a:r>
              <a:rPr lang="ru-RU" sz="2000" dirty="0">
                <a:latin typeface="Times New Roman" panose="02020603050405020304" pitchFamily="18" charset="0"/>
                <a:cs typeface="Times New Roman" panose="02020603050405020304" pitchFamily="18" charset="0"/>
              </a:rPr>
              <a:t> </a:t>
            </a:r>
            <a:r>
              <a:rPr lang="ru-RU" sz="2000" b="1" dirty="0" smtClean="0">
                <a:solidFill>
                  <a:srgbClr val="FF0000"/>
                </a:solidFill>
                <a:latin typeface="Times New Roman" panose="02020603050405020304" pitchFamily="18" charset="0"/>
                <a:cs typeface="Times New Roman" panose="02020603050405020304" pitchFamily="18" charset="0"/>
              </a:rPr>
              <a:t>Ф</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бұрышқа</a:t>
            </a:r>
            <a:r>
              <a:rPr lang="ru-RU" sz="2000" dirty="0">
                <a:latin typeface="Times New Roman" panose="02020603050405020304" pitchFamily="18" charset="0"/>
                <a:cs typeface="Times New Roman" panose="02020603050405020304" pitchFamily="18" charset="0"/>
              </a:rPr>
              <a:t> </a:t>
            </a:r>
            <a:r>
              <a:rPr lang="ru-RU" sz="2000" b="1"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ru-RU" sz="2000" dirty="0" smtClean="0">
                <a:solidFill>
                  <a:srgbClr val="FF0000"/>
                </a:solidFill>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қатынасына</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тең</a:t>
            </a:r>
            <a:r>
              <a:rPr lang="ru-RU" sz="2000" dirty="0">
                <a:latin typeface="Times New Roman" panose="02020603050405020304" pitchFamily="18" charset="0"/>
                <a:cs typeface="Times New Roman" panose="02020603050405020304" pitchFamily="18" charset="0"/>
              </a:rPr>
              <a:t>. </a:t>
            </a:r>
            <a:endParaRPr lang="ru-RU" sz="2000" dirty="0" smtClean="0">
              <a:latin typeface="Times New Roman" panose="02020603050405020304" pitchFamily="18" charset="0"/>
              <a:cs typeface="Times New Roman" panose="02020603050405020304" pitchFamily="18" charset="0"/>
            </a:endParaRPr>
          </a:p>
          <a:p>
            <a:pPr algn="just"/>
            <a:r>
              <a:rPr lang="ru-RU" sz="2000" b="1" dirty="0" smtClean="0">
                <a:solidFill>
                  <a:srgbClr val="FF0000"/>
                </a:solidFill>
                <a:latin typeface="Times New Roman" panose="02020603050405020304" pitchFamily="18" charset="0"/>
                <a:cs typeface="Times New Roman" panose="02020603050405020304" pitchFamily="18" charset="0"/>
              </a:rPr>
              <a:t>                                      І</a:t>
            </a:r>
            <a:r>
              <a:rPr lang="ru-RU" sz="2000" b="1"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ru-RU" sz="2000" b="1" dirty="0" smtClean="0">
                <a:solidFill>
                  <a:srgbClr val="FF0000"/>
                </a:solidFill>
                <a:latin typeface="Times New Roman" panose="02020603050405020304" pitchFamily="18" charset="0"/>
                <a:cs typeface="Times New Roman" panose="02020603050405020304" pitchFamily="18" charset="0"/>
              </a:rPr>
              <a:t>Ф/</a:t>
            </a:r>
            <a:r>
              <a:rPr lang="ru-RU" sz="2000" b="1"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ru-RU" sz="2000" dirty="0" smtClean="0">
                <a:latin typeface="Times New Roman" panose="02020603050405020304" pitchFamily="18" charset="0"/>
                <a:cs typeface="Times New Roman" panose="02020603050405020304" pitchFamily="18" charset="0"/>
                <a:sym typeface="Symbol" panose="05050102010706020507" pitchFamily="18" charset="2"/>
              </a:rPr>
              <a:t>,</a:t>
            </a:r>
            <a:r>
              <a:rPr lang="ru-RU" sz="2000" dirty="0" smtClean="0">
                <a:latin typeface="Times New Roman" panose="02020603050405020304" pitchFamily="18" charset="0"/>
                <a:cs typeface="Times New Roman" panose="02020603050405020304" pitchFamily="18" charset="0"/>
              </a:rPr>
              <a:t> </a:t>
            </a:r>
            <a:r>
              <a:rPr lang="ru-RU" sz="2000" dirty="0" smtClean="0">
                <a:effectLst/>
                <a:latin typeface="Times New Roman" panose="02020603050405020304" pitchFamily="18" charset="0"/>
                <a:cs typeface="Times New Roman" panose="02020603050405020304" pitchFamily="18" charset="0"/>
              </a:rPr>
              <a:t>ω – </a:t>
            </a:r>
            <a:r>
              <a:rPr lang="ru-RU" sz="2000" dirty="0" err="1" smtClean="0">
                <a:effectLst/>
                <a:latin typeface="Times New Roman" panose="02020603050405020304" pitchFamily="18" charset="0"/>
                <a:cs typeface="Times New Roman" panose="02020603050405020304" pitchFamily="18" charset="0"/>
              </a:rPr>
              <a:t>кеңістіктегі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таралу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бұрышы</a:t>
            </a:r>
            <a:r>
              <a:rPr lang="ru-RU" sz="2000" dirty="0" smtClean="0">
                <a:latin typeface="Times New Roman" panose="02020603050405020304" pitchFamily="18" charset="0"/>
                <a:cs typeface="Times New Roman" panose="02020603050405020304" pitchFamily="18" charset="0"/>
              </a:rPr>
              <a:t>. </a:t>
            </a:r>
            <a:r>
              <a:rPr lang="ru-RU" sz="2000" dirty="0" err="1" smtClean="0">
                <a:latin typeface="Times New Roman" panose="02020603050405020304" pitchFamily="18" charset="0"/>
                <a:cs typeface="Times New Roman" panose="02020603050405020304" pitchFamily="18" charset="0"/>
              </a:rPr>
              <a:t>Өлшем</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бірлігі</a:t>
            </a:r>
            <a:r>
              <a:rPr lang="ru-RU" sz="2000" dirty="0">
                <a:latin typeface="Times New Roman" panose="02020603050405020304" pitchFamily="18" charset="0"/>
                <a:cs typeface="Times New Roman" panose="02020603050405020304" pitchFamily="18" charset="0"/>
              </a:rPr>
              <a:t> – </a:t>
            </a:r>
            <a:r>
              <a:rPr lang="ru-RU" sz="2000" b="1" dirty="0" smtClean="0">
                <a:latin typeface="Times New Roman" panose="02020603050405020304" pitchFamily="18" charset="0"/>
                <a:cs typeface="Times New Roman" panose="02020603050405020304" pitchFamily="18" charset="0"/>
              </a:rPr>
              <a:t>Кандел</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ағыны</a:t>
            </a:r>
            <a:r>
              <a:rPr lang="ru-RU" sz="2000" dirty="0">
                <a:latin typeface="Times New Roman" panose="02020603050405020304" pitchFamily="18" charset="0"/>
                <a:cs typeface="Times New Roman" panose="02020603050405020304" pitchFamily="18" charset="0"/>
              </a:rPr>
              <a:t> </a:t>
            </a:r>
            <a:r>
              <a:rPr lang="ru-RU" sz="2000" b="1" dirty="0" smtClean="0">
                <a:latin typeface="Times New Roman" panose="02020603050405020304" pitchFamily="18" charset="0"/>
                <a:cs typeface="Times New Roman" panose="02020603050405020304" pitchFamily="18" charset="0"/>
              </a:rPr>
              <a:t>Ф</a:t>
            </a:r>
            <a:r>
              <a:rPr lang="ru-RU" sz="2000" dirty="0" smtClean="0">
                <a:latin typeface="Times New Roman" panose="02020603050405020304" pitchFamily="18" charset="0"/>
                <a:cs typeface="Times New Roman" panose="02020603050405020304" pitchFamily="18" charset="0"/>
              </a:rPr>
              <a:t> </a:t>
            </a:r>
            <a:r>
              <a:rPr lang="ru-RU" sz="2000" dirty="0" err="1" smtClean="0">
                <a:latin typeface="Times New Roman" panose="02020603050405020304" pitchFamily="18" charset="0"/>
                <a:cs typeface="Times New Roman" panose="02020603050405020304" pitchFamily="18" charset="0"/>
              </a:rPr>
              <a:t>Люменмен</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өлшенеді</a:t>
            </a:r>
            <a:r>
              <a:rPr lang="ru-RU" sz="2000" dirty="0">
                <a:latin typeface="Times New Roman" panose="02020603050405020304" pitchFamily="18" charset="0"/>
                <a:cs typeface="Times New Roman" panose="02020603050405020304" pitchFamily="18" charset="0"/>
              </a:rPr>
              <a:t>. </a:t>
            </a:r>
            <a:endParaRPr lang="ru-RU" sz="2000" dirty="0" smtClean="0">
              <a:latin typeface="Times New Roman" panose="02020603050405020304" pitchFamily="18" charset="0"/>
              <a:cs typeface="Times New Roman" panose="02020603050405020304" pitchFamily="18" charset="0"/>
            </a:endParaRPr>
          </a:p>
          <a:p>
            <a:pPr algn="just"/>
            <a:r>
              <a:rPr lang="ru-RU" sz="2000" dirty="0" err="1" smtClean="0">
                <a:latin typeface="Times New Roman" panose="02020603050405020304" pitchFamily="18" charset="0"/>
                <a:cs typeface="Times New Roman" panose="02020603050405020304" pitchFamily="18" charset="0"/>
              </a:rPr>
              <a:t>Ол</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сәуленің</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жарықтылық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қуатымен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сипатталады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және</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адам</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көзімен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яғни</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оған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түскен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жарықпен</a:t>
            </a:r>
            <a:r>
              <a:rPr lang="ru-RU" sz="2000" dirty="0">
                <a:latin typeface="Times New Roman" panose="02020603050405020304" pitchFamily="18" charset="0"/>
                <a:cs typeface="Times New Roman" panose="02020603050405020304" pitchFamily="18" charset="0"/>
              </a:rPr>
              <a:t> </a:t>
            </a:r>
            <a:r>
              <a:rPr lang="ru-RU" sz="2000" dirty="0" err="1" smtClean="0">
                <a:latin typeface="Times New Roman" panose="02020603050405020304" pitchFamily="18" charset="0"/>
                <a:cs typeface="Times New Roman" panose="02020603050405020304" pitchFamily="18" charset="0"/>
              </a:rPr>
              <a:t>бағаланады.</a:t>
            </a:r>
            <a:r>
              <a:rPr lang="ru-RU" sz="2000" b="1" dirty="0" err="1" smtClean="0">
                <a:solidFill>
                  <a:srgbClr val="FF0000"/>
                </a:solidFill>
                <a:latin typeface="Times New Roman" panose="02020603050405020304" pitchFamily="18" charset="0"/>
                <a:cs typeface="Times New Roman" panose="02020603050405020304" pitchFamily="18" charset="0"/>
              </a:rPr>
              <a:t>Ф</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ағынының</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жоғарғы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қаттылығы</a:t>
            </a:r>
            <a:r>
              <a:rPr lang="ru-RU" sz="2000" dirty="0">
                <a:latin typeface="Times New Roman" panose="02020603050405020304" pitchFamily="18" charset="0"/>
                <a:cs typeface="Times New Roman" panose="02020603050405020304" pitchFamily="18" charset="0"/>
              </a:rPr>
              <a:t> </a:t>
            </a:r>
            <a:r>
              <a:rPr lang="ru-RU" sz="2000" b="1" dirty="0">
                <a:solidFill>
                  <a:srgbClr val="FF0000"/>
                </a:solidFill>
                <a:latin typeface="Times New Roman" panose="02020603050405020304" pitchFamily="18" charset="0"/>
                <a:cs typeface="Times New Roman" panose="02020603050405020304" pitchFamily="18" charset="0"/>
              </a:rPr>
              <a:t>Е </a:t>
            </a:r>
            <a:r>
              <a:rPr lang="ru-RU" sz="2000" dirty="0" err="1">
                <a:latin typeface="Times New Roman" panose="02020603050405020304" pitchFamily="18" charset="0"/>
                <a:cs typeface="Times New Roman" panose="02020603050405020304" pitchFamily="18" charset="0"/>
              </a:rPr>
              <a:t>жарықтылығы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деп</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аталады</a:t>
            </a:r>
            <a:r>
              <a:rPr lang="ru-RU" sz="2000" dirty="0">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өлшем</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бірлігі</a:t>
            </a:r>
            <a:r>
              <a:rPr lang="ru-RU" sz="2000" dirty="0" smtClean="0">
                <a:effectLst/>
                <a:latin typeface="Times New Roman" panose="02020603050405020304" pitchFamily="18" charset="0"/>
                <a:cs typeface="Times New Roman" panose="02020603050405020304" pitchFamily="18" charset="0"/>
              </a:rPr>
              <a:t> люкс (</a:t>
            </a:r>
            <a:r>
              <a:rPr lang="ru-RU" sz="2000" dirty="0" err="1" smtClean="0">
                <a:effectLst/>
                <a:latin typeface="Times New Roman" panose="02020603050405020304" pitchFamily="18" charset="0"/>
                <a:cs typeface="Times New Roman" panose="02020603050405020304" pitchFamily="18" charset="0"/>
              </a:rPr>
              <a:t>лк</a:t>
            </a:r>
            <a:r>
              <a:rPr lang="ru-RU" sz="2000" dirty="0" smtClean="0">
                <a:effectLst/>
                <a:latin typeface="Times New Roman" panose="02020603050405020304" pitchFamily="18" charset="0"/>
                <a:cs typeface="Times New Roman" panose="02020603050405020304" pitchFamily="18" charset="0"/>
              </a:rPr>
              <a:t>)</a:t>
            </a:r>
            <a:r>
              <a:rPr lang="ru-RU" sz="2000" b="1" dirty="0" smtClean="0">
                <a:latin typeface="Times New Roman" panose="02020603050405020304" pitchFamily="18" charset="0"/>
                <a:cs typeface="Times New Roman" panose="02020603050405020304" pitchFamily="18" charset="0"/>
              </a:rPr>
              <a:t>                                </a:t>
            </a:r>
            <a:r>
              <a:rPr lang="ru-RU" sz="2000" b="1" dirty="0" smtClean="0">
                <a:solidFill>
                  <a:srgbClr val="FF0000"/>
                </a:solidFill>
                <a:latin typeface="Times New Roman" panose="02020603050405020304" pitchFamily="18" charset="0"/>
                <a:cs typeface="Times New Roman" panose="02020603050405020304" pitchFamily="18" charset="0"/>
              </a:rPr>
              <a:t>Е </a:t>
            </a:r>
            <a:r>
              <a:rPr lang="ru-RU" sz="2000" b="1" dirty="0" smtClean="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ru-RU" sz="2000" b="1" dirty="0" smtClean="0">
                <a:solidFill>
                  <a:srgbClr val="FF0000"/>
                </a:solidFill>
                <a:latin typeface="Times New Roman" panose="02020603050405020304" pitchFamily="18" charset="0"/>
                <a:cs typeface="Times New Roman" panose="02020603050405020304" pitchFamily="18" charset="0"/>
              </a:rPr>
              <a:t>Ф/S,  S</a:t>
            </a:r>
            <a:r>
              <a:rPr lang="ru-RU" sz="2000" dirty="0" smtClean="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жарық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ағыны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түсетін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деңгейдің</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ауданы</a:t>
            </a:r>
            <a:r>
              <a:rPr lang="ru-RU" sz="2000" dirty="0">
                <a:latin typeface="Times New Roman" panose="02020603050405020304" pitchFamily="18" charset="0"/>
                <a:cs typeface="Times New Roman" panose="02020603050405020304" pitchFamily="18" charset="0"/>
              </a:rPr>
              <a:t>.</a:t>
            </a:r>
          </a:p>
          <a:p>
            <a:pPr algn="just">
              <a:spcAft>
                <a:spcPts val="0"/>
              </a:spcAft>
            </a:pPr>
            <a:endParaRPr lang="ru-RU"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38279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28367" y="193752"/>
            <a:ext cx="9168714" cy="7017306"/>
          </a:xfrm>
          <a:prstGeom prst="rect">
            <a:avLst/>
          </a:prstGeom>
        </p:spPr>
        <p:txBody>
          <a:bodyPr wrap="square">
            <a:spAutoFit/>
          </a:bodyPr>
          <a:lstStyle/>
          <a:p>
            <a:pPr algn="just">
              <a:spcAft>
                <a:spcPts val="0"/>
              </a:spcAft>
            </a:pPr>
            <a:r>
              <a:rPr lang="ru-RU" b="1" dirty="0" err="1" smtClean="0">
                <a:solidFill>
                  <a:srgbClr val="FF0000"/>
                </a:solidFill>
                <a:effectLst/>
                <a:latin typeface="Times New Roman" panose="02020603050405020304" pitchFamily="18" charset="0"/>
                <a:ea typeface="Times New Roman" panose="02020603050405020304" pitchFamily="18" charset="0"/>
              </a:rPr>
              <a:t>Сондықтан</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өндірістік</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жарықтылыққа</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төмендегідей</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талаптар</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қойылады</a:t>
            </a:r>
            <a:r>
              <a:rPr lang="ru-RU" b="1" dirty="0" smtClean="0">
                <a:solidFill>
                  <a:srgbClr val="FF0000"/>
                </a:solidFill>
                <a:effectLst/>
                <a:latin typeface="Times New Roman" panose="02020603050405020304" pitchFamily="18" charset="0"/>
                <a:ea typeface="Times New Roman" panose="02020603050405020304" pitchFamily="18" charset="0"/>
              </a:rPr>
              <a:t>:</a:t>
            </a:r>
          </a:p>
          <a:p>
            <a:pPr marL="342900" lvl="0" indent="-342900" algn="just">
              <a:spcAft>
                <a:spcPts val="0"/>
              </a:spcAft>
              <a:buFont typeface="+mj-lt"/>
              <a:buAutoNum type="arabicPeriod"/>
              <a:tabLst>
                <a:tab pos="180340" algn="ctr"/>
                <a:tab pos="540385" algn="ctr"/>
              </a:tabLst>
            </a:pPr>
            <a:r>
              <a:rPr lang="ru-RU" b="1" dirty="0" err="1" smtClean="0">
                <a:effectLst/>
                <a:latin typeface="Times New Roman" panose="02020603050405020304" pitchFamily="18" charset="0"/>
                <a:ea typeface="Times New Roman" panose="02020603050405020304" pitchFamily="18" charset="0"/>
              </a:rPr>
              <a:t>жұмыс</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орнының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жарықтылығы</a:t>
            </a:r>
            <a:r>
              <a:rPr lang="ru-RU" b="1" dirty="0" smtClean="0">
                <a:effectLst/>
                <a:latin typeface="Times New Roman" panose="02020603050405020304" pitchFamily="18" charset="0"/>
                <a:ea typeface="Times New Roman" panose="02020603050405020304" pitchFamily="18" charset="0"/>
              </a:rPr>
              <a:t> мен </a:t>
            </a:r>
            <a:r>
              <a:rPr lang="ru-RU" b="1" dirty="0" err="1" smtClean="0">
                <a:effectLst/>
                <a:latin typeface="Times New Roman" panose="02020603050405020304" pitchFamily="18" charset="0"/>
                <a:ea typeface="Times New Roman" panose="02020603050405020304" pitchFamily="18" charset="0"/>
              </a:rPr>
              <a:t>оның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құрамы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күннің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жарығына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жақын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болуы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тиіс</a:t>
            </a:r>
            <a:r>
              <a:rPr lang="ru-RU" b="1" dirty="0" smtClean="0">
                <a:effectLst/>
                <a:latin typeface="Times New Roman" panose="02020603050405020304" pitchFamily="18" charset="0"/>
                <a:ea typeface="Times New Roman" panose="02020603050405020304" pitchFamily="18" charset="0"/>
              </a:rPr>
              <a:t>;</a:t>
            </a:r>
          </a:p>
          <a:p>
            <a:pPr marL="342900" lvl="0" indent="-342900" algn="just">
              <a:spcAft>
                <a:spcPts val="0"/>
              </a:spcAft>
              <a:buFont typeface="+mj-lt"/>
              <a:buAutoNum type="arabicPeriod"/>
              <a:tabLst>
                <a:tab pos="180340" algn="ctr"/>
                <a:tab pos="540385" algn="ctr"/>
              </a:tabLst>
            </a:pPr>
            <a:r>
              <a:rPr lang="ru-RU" b="1" dirty="0" err="1" smtClean="0">
                <a:effectLst/>
                <a:latin typeface="Times New Roman" panose="02020603050405020304" pitchFamily="18" charset="0"/>
                <a:ea typeface="Times New Roman" panose="02020603050405020304" pitchFamily="18" charset="0"/>
              </a:rPr>
              <a:t>жарықтылықтың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деңгейі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нормаға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сай</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жұмыс</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жасауға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жеткілікті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дәрежеде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болуы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тиіс</a:t>
            </a:r>
            <a:r>
              <a:rPr lang="ru-RU" b="1" dirty="0" smtClean="0">
                <a:effectLst/>
                <a:latin typeface="Times New Roman" panose="02020603050405020304" pitchFamily="18" charset="0"/>
                <a:ea typeface="Times New Roman" panose="02020603050405020304" pitchFamily="18" charset="0"/>
              </a:rPr>
              <a:t>;</a:t>
            </a:r>
          </a:p>
          <a:p>
            <a:pPr marL="342900" lvl="0" indent="-342900" algn="just">
              <a:spcAft>
                <a:spcPts val="0"/>
              </a:spcAft>
              <a:buFont typeface="+mj-lt"/>
              <a:buAutoNum type="arabicPeriod"/>
              <a:tabLst>
                <a:tab pos="180340" algn="ctr"/>
                <a:tab pos="540385" algn="ctr"/>
              </a:tabLst>
            </a:pPr>
            <a:r>
              <a:rPr lang="ru-RU" b="1" dirty="0" err="1" smtClean="0">
                <a:effectLst/>
                <a:latin typeface="Times New Roman" panose="02020603050405020304" pitchFamily="18" charset="0"/>
                <a:ea typeface="Times New Roman" panose="02020603050405020304" pitchFamily="18" charset="0"/>
              </a:rPr>
              <a:t>жарықтылық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бірқалыпты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тұрақты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болуы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тиіс</a:t>
            </a:r>
            <a:r>
              <a:rPr lang="ru-RU" b="1" dirty="0" smtClean="0">
                <a:effectLst/>
                <a:latin typeface="Times New Roman" panose="02020603050405020304" pitchFamily="18" charset="0"/>
                <a:ea typeface="Times New Roman" panose="02020603050405020304" pitchFamily="18" charset="0"/>
              </a:rPr>
              <a:t>;</a:t>
            </a:r>
          </a:p>
          <a:p>
            <a:pPr marL="342900" lvl="0" indent="-342900" algn="just">
              <a:spcAft>
                <a:spcPts val="0"/>
              </a:spcAft>
              <a:buFont typeface="+mj-lt"/>
              <a:buAutoNum type="arabicPeriod"/>
              <a:tabLst>
                <a:tab pos="180340" algn="ctr"/>
                <a:tab pos="540385" algn="ctr"/>
              </a:tabLst>
            </a:pPr>
            <a:r>
              <a:rPr lang="ru-RU" b="1" dirty="0" err="1" smtClean="0">
                <a:effectLst/>
                <a:latin typeface="Times New Roman" panose="02020603050405020304" pitchFamily="18" charset="0"/>
                <a:ea typeface="Times New Roman" panose="02020603050405020304" pitchFamily="18" charset="0"/>
              </a:rPr>
              <a:t>жарықтылықтың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деңгейі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шамадан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тыс</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жоғары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болса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жұмыс</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орнындағы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заттарды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жылтыратып</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көзге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кері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әсер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жасауы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мүмкін</a:t>
            </a:r>
            <a:r>
              <a:rPr lang="ru-RU" b="1" dirty="0" smtClean="0">
                <a:effectLst/>
                <a:latin typeface="Times New Roman" panose="02020603050405020304" pitchFamily="18" charset="0"/>
                <a:ea typeface="Times New Roman" panose="02020603050405020304" pitchFamily="18" charset="0"/>
              </a:rPr>
              <a:t>.</a:t>
            </a:r>
          </a:p>
          <a:p>
            <a:pPr algn="just"/>
            <a:r>
              <a:rPr lang="ru-RU" b="1" dirty="0" err="1">
                <a:solidFill>
                  <a:srgbClr val="00B050"/>
                </a:solidFill>
                <a:latin typeface="Times New Roman" panose="02020603050405020304" pitchFamily="18" charset="0"/>
                <a:cs typeface="Times New Roman" panose="02020603050405020304" pitchFamily="18" charset="0"/>
              </a:rPr>
              <a:t>Өндірістегі</a:t>
            </a:r>
            <a:r>
              <a:rPr lang="ru-RU" b="1" dirty="0">
                <a:solidFill>
                  <a:srgbClr val="00B050"/>
                </a:solidFill>
                <a:latin typeface="Times New Roman" panose="02020603050405020304" pitchFamily="18" charset="0"/>
                <a:cs typeface="Times New Roman" panose="02020603050405020304" pitchFamily="18" charset="0"/>
              </a:rPr>
              <a:t> </a:t>
            </a:r>
            <a:r>
              <a:rPr lang="ru-RU" b="1" dirty="0" err="1">
                <a:solidFill>
                  <a:srgbClr val="00B050"/>
                </a:solidFill>
                <a:latin typeface="Times New Roman" panose="02020603050405020304" pitchFamily="18" charset="0"/>
                <a:cs typeface="Times New Roman" panose="02020603050405020304" pitchFamily="18" charset="0"/>
              </a:rPr>
              <a:t>жарықтандыру</a:t>
            </a:r>
            <a:r>
              <a:rPr lang="ru-RU" dirty="0">
                <a:solidFill>
                  <a:srgbClr val="00B050"/>
                </a:solidFill>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екі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түрлі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жолмен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яғни</a:t>
            </a:r>
            <a:r>
              <a:rPr lang="ru-RU" dirty="0">
                <a:latin typeface="Times New Roman" panose="02020603050405020304" pitchFamily="18" charset="0"/>
                <a:cs typeface="Times New Roman" panose="02020603050405020304" pitchFamily="18" charset="0"/>
              </a:rPr>
              <a:t> </a:t>
            </a:r>
            <a:r>
              <a:rPr lang="ru-RU" b="1" u="sng" dirty="0" err="1">
                <a:solidFill>
                  <a:srgbClr val="FF0000"/>
                </a:solidFill>
                <a:latin typeface="Times New Roman" panose="02020603050405020304" pitchFamily="18" charset="0"/>
                <a:cs typeface="Times New Roman" panose="02020603050405020304" pitchFamily="18" charset="0"/>
              </a:rPr>
              <a:t>табиғи</a:t>
            </a:r>
            <a:r>
              <a:rPr lang="ru-RU" b="1" u="sng" dirty="0">
                <a:solidFill>
                  <a:srgbClr val="FF0000"/>
                </a:solidFill>
                <a:latin typeface="Times New Roman" panose="02020603050405020304" pitchFamily="18" charset="0"/>
                <a:cs typeface="Times New Roman" panose="02020603050405020304" pitchFamily="18" charset="0"/>
              </a:rPr>
              <a:t> </a:t>
            </a:r>
            <a:r>
              <a:rPr lang="ru-RU" b="1" u="sng" dirty="0" err="1">
                <a:solidFill>
                  <a:srgbClr val="FF0000"/>
                </a:solidFill>
                <a:latin typeface="Times New Roman" panose="02020603050405020304" pitchFamily="18" charset="0"/>
                <a:cs typeface="Times New Roman" panose="02020603050405020304" pitchFamily="18" charset="0"/>
              </a:rPr>
              <a:t>және</a:t>
            </a:r>
            <a:r>
              <a:rPr lang="ru-RU" b="1" u="sng" dirty="0">
                <a:solidFill>
                  <a:srgbClr val="FF0000"/>
                </a:solidFill>
                <a:latin typeface="Times New Roman" panose="02020603050405020304" pitchFamily="18" charset="0"/>
                <a:cs typeface="Times New Roman" panose="02020603050405020304" pitchFamily="18" charset="0"/>
              </a:rPr>
              <a:t> </a:t>
            </a:r>
            <a:r>
              <a:rPr lang="ru-RU" b="1" u="sng" dirty="0" err="1">
                <a:solidFill>
                  <a:srgbClr val="FF0000"/>
                </a:solidFill>
                <a:latin typeface="Times New Roman" panose="02020603050405020304" pitchFamily="18" charset="0"/>
                <a:cs typeface="Times New Roman" panose="02020603050405020304" pitchFamily="18" charset="0"/>
              </a:rPr>
              <a:t>жасанды</a:t>
            </a:r>
            <a:r>
              <a:rPr lang="ru-RU" b="1" u="sng" dirty="0">
                <a:solidFill>
                  <a:srgbClr val="FF0000"/>
                </a:solidFill>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жарықтармен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атқарылады</a:t>
            </a:r>
            <a:r>
              <a:rPr lang="ru-RU" dirty="0">
                <a:latin typeface="Times New Roman" panose="02020603050405020304" pitchFamily="18" charset="0"/>
                <a:cs typeface="Times New Roman" panose="02020603050405020304" pitchFamily="18" charset="0"/>
              </a:rPr>
              <a:t>. </a:t>
            </a:r>
            <a:r>
              <a:rPr lang="ru-RU" b="1" dirty="0" err="1">
                <a:solidFill>
                  <a:srgbClr val="FF0000"/>
                </a:solidFill>
                <a:latin typeface="Times New Roman" panose="02020603050405020304" pitchFamily="18" charset="0"/>
                <a:cs typeface="Times New Roman" panose="02020603050405020304" pitchFamily="18" charset="0"/>
              </a:rPr>
              <a:t>Табиғи</a:t>
            </a:r>
            <a:r>
              <a:rPr lang="ru-RU" b="1" dirty="0">
                <a:solidFill>
                  <a:srgbClr val="FF0000"/>
                </a:solidFill>
                <a:latin typeface="Times New Roman" panose="02020603050405020304" pitchFamily="18" charset="0"/>
                <a:cs typeface="Times New Roman" panose="02020603050405020304" pitchFamily="18" charset="0"/>
              </a:rPr>
              <a:t> </a:t>
            </a:r>
            <a:r>
              <a:rPr lang="ru-RU" b="1" dirty="0" err="1">
                <a:solidFill>
                  <a:srgbClr val="FF0000"/>
                </a:solidFill>
                <a:latin typeface="Times New Roman" panose="02020603050405020304" pitchFamily="18" charset="0"/>
                <a:cs typeface="Times New Roman" panose="02020603050405020304" pitchFamily="18" charset="0"/>
              </a:rPr>
              <a:t>жарықтандыру</a:t>
            </a:r>
            <a:r>
              <a:rPr lang="ru-RU" b="1" dirty="0">
                <a:solidFill>
                  <a:srgbClr val="FF0000"/>
                </a:solidFill>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бөлмеде</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тікелей</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күн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шуағынан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аспанннан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түскен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жарықтан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болады</a:t>
            </a:r>
            <a:r>
              <a:rPr lang="ru-RU" dirty="0">
                <a:latin typeface="Times New Roman" panose="02020603050405020304" pitchFamily="18" charset="0"/>
                <a:cs typeface="Times New Roman" panose="02020603050405020304" pitchFamily="18" charset="0"/>
              </a:rPr>
              <a:t>. </a:t>
            </a:r>
            <a:endParaRPr lang="ru-RU" dirty="0" smtClean="0">
              <a:latin typeface="Times New Roman" panose="02020603050405020304" pitchFamily="18" charset="0"/>
              <a:cs typeface="Times New Roman" panose="02020603050405020304" pitchFamily="18" charset="0"/>
            </a:endParaRPr>
          </a:p>
          <a:p>
            <a:pPr algn="just"/>
            <a:r>
              <a:rPr lang="ru-RU" b="1" dirty="0" err="1" smtClean="0">
                <a:solidFill>
                  <a:srgbClr val="FF0000"/>
                </a:solidFill>
                <a:latin typeface="Times New Roman" panose="02020603050405020304" pitchFamily="18" charset="0"/>
                <a:cs typeface="Times New Roman" panose="02020603050405020304" pitchFamily="18" charset="0"/>
              </a:rPr>
              <a:t>Табиғи</a:t>
            </a:r>
            <a:r>
              <a:rPr lang="ru-RU" b="1" dirty="0" smtClean="0">
                <a:solidFill>
                  <a:srgbClr val="FF0000"/>
                </a:solidFill>
                <a:latin typeface="Times New Roman" panose="02020603050405020304" pitchFamily="18" charset="0"/>
                <a:cs typeface="Times New Roman" panose="02020603050405020304" pitchFamily="18" charset="0"/>
              </a:rPr>
              <a:t> </a:t>
            </a:r>
            <a:r>
              <a:rPr lang="ru-RU" b="1" dirty="0" err="1">
                <a:solidFill>
                  <a:srgbClr val="FF0000"/>
                </a:solidFill>
                <a:latin typeface="Times New Roman" panose="02020603050405020304" pitchFamily="18" charset="0"/>
                <a:cs typeface="Times New Roman" panose="02020603050405020304" pitchFamily="18" charset="0"/>
              </a:rPr>
              <a:t>жарықтандыру</a:t>
            </a:r>
            <a:r>
              <a:rPr lang="ru-RU" b="1" dirty="0">
                <a:solidFill>
                  <a:srgbClr val="FF0000"/>
                </a:solidFill>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бөлмеде</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терезе</a:t>
            </a:r>
            <a:r>
              <a:rPr lang="ru-RU" b="1" dirty="0">
                <a:latin typeface="Times New Roman" panose="02020603050405020304" pitchFamily="18" charset="0"/>
                <a:cs typeface="Times New Roman" panose="02020603050405020304" pitchFamily="18" charset="0"/>
              </a:rPr>
              <a:t> – </a:t>
            </a:r>
            <a:r>
              <a:rPr lang="ru-RU" b="1" dirty="0" err="1">
                <a:latin typeface="Times New Roman" panose="02020603050405020304" pitchFamily="18" charset="0"/>
                <a:cs typeface="Times New Roman" panose="02020603050405020304" pitchFamily="18" charset="0"/>
              </a:rPr>
              <a:t>жанынан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жарықтандыру</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фонарлар</a:t>
            </a:r>
            <a:r>
              <a:rPr lang="ru-RU" b="1" dirty="0">
                <a:latin typeface="Times New Roman" panose="02020603050405020304" pitchFamily="18" charset="0"/>
                <a:cs typeface="Times New Roman" panose="02020603050405020304" pitchFamily="18" charset="0"/>
              </a:rPr>
              <a:t> – </a:t>
            </a:r>
            <a:r>
              <a:rPr lang="ru-RU" b="1" dirty="0" err="1">
                <a:latin typeface="Times New Roman" panose="02020603050405020304" pitchFamily="18" charset="0"/>
                <a:cs typeface="Times New Roman" panose="02020603050405020304" pitchFamily="18" charset="0"/>
              </a:rPr>
              <a:t>жоғарыдан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жарықтандыру</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жанынан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жарықтандыру</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және</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жоғарыдан</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жарықтандыру</a:t>
            </a:r>
            <a:r>
              <a:rPr lang="ru-RU" b="1" dirty="0">
                <a:latin typeface="Times New Roman" panose="02020603050405020304" pitchFamily="18" charset="0"/>
                <a:cs typeface="Times New Roman" panose="02020603050405020304" pitchFamily="18" charset="0"/>
              </a:rPr>
              <a:t> – </a:t>
            </a:r>
            <a:r>
              <a:rPr lang="ru-RU" b="1" dirty="0" err="1">
                <a:latin typeface="Times New Roman" panose="02020603050405020304" pitchFamily="18" charset="0"/>
                <a:cs typeface="Times New Roman" panose="02020603050405020304" pitchFamily="18" charset="0"/>
              </a:rPr>
              <a:t>құрама</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жарықтандыру</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болады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Табиғи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жарықтандырудың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деңгейі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қысқа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уақыт</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мезетінде</a:t>
            </a:r>
            <a:r>
              <a:rPr lang="ru-RU" dirty="0">
                <a:latin typeface="Times New Roman" panose="02020603050405020304" pitchFamily="18" charset="0"/>
                <a:cs typeface="Times New Roman" panose="02020603050405020304" pitchFamily="18" charset="0"/>
              </a:rPr>
              <a:t> тез </a:t>
            </a:r>
            <a:r>
              <a:rPr lang="ru-RU" dirty="0" err="1">
                <a:latin typeface="Times New Roman" panose="02020603050405020304" pitchFamily="18" charset="0"/>
                <a:cs typeface="Times New Roman" panose="02020603050405020304" pitchFamily="18" charset="0"/>
              </a:rPr>
              <a:t>өзгеретін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болғандықтан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ол</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жұмыс</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орнының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жарықтылығымен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емес</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табиғи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жарықтандыру</a:t>
            </a:r>
            <a:r>
              <a:rPr lang="ru-RU" dirty="0">
                <a:latin typeface="Times New Roman" panose="02020603050405020304" pitchFamily="18" charset="0"/>
                <a:cs typeface="Times New Roman" panose="02020603050405020304" pitchFamily="18" charset="0"/>
              </a:rPr>
              <a:t> </a:t>
            </a:r>
            <a:r>
              <a:rPr lang="ru-RU" dirty="0" err="1" smtClean="0">
                <a:latin typeface="Times New Roman" panose="02020603050405020304" pitchFamily="18" charset="0"/>
                <a:cs typeface="Times New Roman" panose="02020603050405020304" pitchFamily="18" charset="0"/>
              </a:rPr>
              <a:t>коэффициенттерімен</a:t>
            </a:r>
            <a:r>
              <a:rPr lang="ru-RU" dirty="0" smtClean="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реттеледі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яғни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табиғи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жарықтылықтың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деңгейі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оның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коэффициентімен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бағаланады</a:t>
            </a:r>
            <a:r>
              <a:rPr lang="ru-RU" dirty="0">
                <a:latin typeface="Times New Roman" panose="02020603050405020304" pitchFamily="18" charset="0"/>
                <a:cs typeface="Times New Roman" panose="02020603050405020304" pitchFamily="18" charset="0"/>
              </a:rPr>
              <a:t> /е/. </a:t>
            </a:r>
            <a:r>
              <a:rPr lang="ru-RU" dirty="0" err="1">
                <a:latin typeface="Times New Roman" panose="02020603050405020304" pitchFamily="18" charset="0"/>
                <a:cs typeface="Times New Roman" panose="02020603050405020304" pitchFamily="18" charset="0"/>
              </a:rPr>
              <a:t>Мысалы</a:t>
            </a:r>
            <a:r>
              <a:rPr lang="ru-RU" dirty="0">
                <a:latin typeface="Times New Roman" panose="02020603050405020304" pitchFamily="18" charset="0"/>
                <a:cs typeface="Times New Roman" panose="02020603050405020304" pitchFamily="18" charset="0"/>
              </a:rPr>
              <a:t>: машина </a:t>
            </a:r>
            <a:r>
              <a:rPr lang="ru-RU" dirty="0" err="1">
                <a:latin typeface="Times New Roman" panose="02020603050405020304" pitchFamily="18" charset="0"/>
                <a:cs typeface="Times New Roman" panose="02020603050405020304" pitchFamily="18" charset="0"/>
              </a:rPr>
              <a:t>жөндеу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жеберханасында</a:t>
            </a:r>
            <a:r>
              <a:rPr lang="ru-RU" dirty="0">
                <a:latin typeface="Times New Roman" panose="02020603050405020304" pitchFamily="18" charset="0"/>
                <a:cs typeface="Times New Roman" panose="02020603050405020304" pitchFamily="18" charset="0"/>
              </a:rPr>
              <a:t> 2-3, мал </a:t>
            </a:r>
            <a:r>
              <a:rPr lang="ru-RU" dirty="0" err="1">
                <a:latin typeface="Times New Roman" panose="02020603050405020304" pitchFamily="18" charset="0"/>
                <a:cs typeface="Times New Roman" panose="02020603050405020304" pitchFamily="18" charset="0"/>
              </a:rPr>
              <a:t>қораларында</a:t>
            </a:r>
            <a:r>
              <a:rPr lang="ru-RU" dirty="0">
                <a:latin typeface="Times New Roman" panose="02020603050405020304" pitchFamily="18" charset="0"/>
                <a:cs typeface="Times New Roman" panose="02020603050405020304" pitchFamily="18" charset="0"/>
              </a:rPr>
              <a:t> 2, </a:t>
            </a:r>
            <a:r>
              <a:rPr lang="ru-RU" dirty="0" err="1">
                <a:latin typeface="Times New Roman" panose="02020603050405020304" pitchFamily="18" charset="0"/>
                <a:cs typeface="Times New Roman" panose="02020603050405020304" pitchFamily="18" charset="0"/>
              </a:rPr>
              <a:t>қоймалар</a:t>
            </a:r>
            <a:r>
              <a:rPr lang="ru-RU" dirty="0">
                <a:latin typeface="Times New Roman" panose="02020603050405020304" pitchFamily="18" charset="0"/>
                <a:cs typeface="Times New Roman" panose="02020603050405020304" pitchFamily="18" charset="0"/>
              </a:rPr>
              <a:t> мен  </a:t>
            </a:r>
            <a:r>
              <a:rPr lang="ru-RU" dirty="0" err="1">
                <a:latin typeface="Times New Roman" panose="02020603050405020304" pitchFamily="18" charset="0"/>
                <a:cs typeface="Times New Roman" panose="02020603050405020304" pitchFamily="18" charset="0"/>
              </a:rPr>
              <a:t>гараждарда</a:t>
            </a:r>
            <a:r>
              <a:rPr lang="ru-RU" dirty="0">
                <a:latin typeface="Times New Roman" panose="02020603050405020304" pitchFamily="18" charset="0"/>
                <a:cs typeface="Times New Roman" panose="02020603050405020304" pitchFamily="18" charset="0"/>
              </a:rPr>
              <a:t> 1-ге </a:t>
            </a:r>
            <a:r>
              <a:rPr lang="ru-RU" dirty="0" err="1">
                <a:latin typeface="Times New Roman" panose="02020603050405020304" pitchFamily="18" charset="0"/>
                <a:cs typeface="Times New Roman" panose="02020603050405020304" pitchFamily="18" charset="0"/>
              </a:rPr>
              <a:t>тең</a:t>
            </a:r>
            <a:r>
              <a:rPr lang="ru-RU" dirty="0">
                <a:latin typeface="Times New Roman" panose="02020603050405020304" pitchFamily="18" charset="0"/>
                <a:cs typeface="Times New Roman" panose="02020603050405020304" pitchFamily="18" charset="0"/>
              </a:rPr>
              <a:t>.</a:t>
            </a:r>
          </a:p>
          <a:p>
            <a:pPr algn="just"/>
            <a:r>
              <a:rPr lang="ru-RU" dirty="0" err="1">
                <a:latin typeface="Times New Roman" panose="02020603050405020304" pitchFamily="18" charset="0"/>
                <a:cs typeface="Times New Roman" panose="02020603050405020304" pitchFamily="18" charset="0"/>
              </a:rPr>
              <a:t>Табиғи</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жарықтылықтың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нақты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мөлшерін</a:t>
            </a:r>
            <a:r>
              <a:rPr lang="ru-RU" dirty="0">
                <a:latin typeface="Times New Roman" panose="02020603050405020304" pitchFamily="18" charset="0"/>
                <a:cs typeface="Times New Roman" panose="02020603050405020304" pitchFamily="18" charset="0"/>
              </a:rPr>
              <a:t> </a:t>
            </a:r>
            <a:r>
              <a:rPr lang="ru-RU" b="1" u="sng" dirty="0">
                <a:solidFill>
                  <a:srgbClr val="FF0000"/>
                </a:solidFill>
                <a:latin typeface="Times New Roman" panose="02020603050405020304" pitchFamily="18" charset="0"/>
                <a:cs typeface="Times New Roman" panose="02020603050405020304" pitchFamily="18" charset="0"/>
              </a:rPr>
              <a:t>люксметр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деген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құралмен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анықтайды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селеналық</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фотоэлементке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түскен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кезде</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электр</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қозғауыш</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күш</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пайда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болады</a:t>
            </a:r>
            <a:r>
              <a:rPr lang="ru-RU" dirty="0">
                <a:latin typeface="Times New Roman" panose="02020603050405020304" pitchFamily="18" charset="0"/>
                <a:cs typeface="Times New Roman" panose="02020603050405020304" pitchFamily="18" charset="0"/>
              </a:rPr>
              <a:t> да </a:t>
            </a:r>
            <a:r>
              <a:rPr lang="ru-RU" dirty="0" err="1">
                <a:latin typeface="Times New Roman" panose="02020603050405020304" pitchFamily="18" charset="0"/>
                <a:cs typeface="Times New Roman" panose="02020603050405020304" pitchFamily="18" charset="0"/>
              </a:rPr>
              <a:t>гальванометрдің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стрелкасын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бұрады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Ол</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люкспен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өлшенетін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етіліп</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шкалаланған</a:t>
            </a:r>
            <a:r>
              <a:rPr lang="ru-RU" dirty="0">
                <a:latin typeface="Times New Roman" panose="02020603050405020304" pitchFamily="18" charset="0"/>
                <a:cs typeface="Times New Roman" panose="02020603050405020304" pitchFamily="18" charset="0"/>
              </a:rPr>
              <a:t>.</a:t>
            </a:r>
          </a:p>
          <a:p>
            <a:pPr algn="just"/>
            <a:r>
              <a:rPr lang="ru-RU" b="1" dirty="0" err="1">
                <a:solidFill>
                  <a:srgbClr val="FF0000"/>
                </a:solidFill>
                <a:latin typeface="Times New Roman" panose="02020603050405020304" pitchFamily="18" charset="0"/>
                <a:cs typeface="Times New Roman" panose="02020603050405020304" pitchFamily="18" charset="0"/>
              </a:rPr>
              <a:t>Табиғи</a:t>
            </a:r>
            <a:r>
              <a:rPr lang="ru-RU" b="1" dirty="0">
                <a:solidFill>
                  <a:srgbClr val="FF0000"/>
                </a:solidFill>
                <a:latin typeface="Times New Roman" panose="02020603050405020304" pitchFamily="18" charset="0"/>
                <a:cs typeface="Times New Roman" panose="02020603050405020304" pitchFamily="18" charset="0"/>
              </a:rPr>
              <a:t> </a:t>
            </a:r>
            <a:r>
              <a:rPr lang="ru-RU" b="1" dirty="0" err="1">
                <a:solidFill>
                  <a:srgbClr val="FF0000"/>
                </a:solidFill>
                <a:latin typeface="Times New Roman" panose="02020603050405020304" pitchFamily="18" charset="0"/>
                <a:cs typeface="Times New Roman" panose="02020603050405020304" pitchFamily="18" charset="0"/>
              </a:rPr>
              <a:t>жарықтылық</a:t>
            </a:r>
            <a:r>
              <a:rPr lang="ru-RU" b="1" dirty="0">
                <a:solidFill>
                  <a:srgbClr val="FF0000"/>
                </a:solidFill>
                <a:latin typeface="Times New Roman" panose="02020603050405020304" pitchFamily="18" charset="0"/>
                <a:cs typeface="Times New Roman" panose="02020603050405020304" pitchFamily="18" charset="0"/>
              </a:rPr>
              <a:t> </a:t>
            </a:r>
            <a:r>
              <a:rPr lang="ru-RU" b="1" dirty="0" err="1">
                <a:solidFill>
                  <a:srgbClr val="FF0000"/>
                </a:solidFill>
                <a:latin typeface="Times New Roman" panose="02020603050405020304" pitchFamily="18" charset="0"/>
                <a:cs typeface="Times New Roman" panose="02020603050405020304" pitchFamily="18" charset="0"/>
              </a:rPr>
              <a:t>коэффиц</a:t>
            </a:r>
            <a:r>
              <a:rPr lang="kk-KZ" b="1" dirty="0">
                <a:solidFill>
                  <a:srgbClr val="FF0000"/>
                </a:solidFill>
                <a:latin typeface="Times New Roman" panose="02020603050405020304" pitchFamily="18" charset="0"/>
                <a:cs typeface="Times New Roman" panose="02020603050405020304" pitchFamily="18" charset="0"/>
              </a:rPr>
              <a:t>и</a:t>
            </a:r>
            <a:r>
              <a:rPr lang="ru-RU" b="1" dirty="0" err="1">
                <a:solidFill>
                  <a:srgbClr val="FF0000"/>
                </a:solidFill>
                <a:latin typeface="Times New Roman" panose="02020603050405020304" pitchFamily="18" charset="0"/>
                <a:cs typeface="Times New Roman" panose="02020603050405020304" pitchFamily="18" charset="0"/>
              </a:rPr>
              <a:t>енті</a:t>
            </a:r>
            <a:r>
              <a:rPr lang="ru-RU" dirty="0">
                <a:solidFill>
                  <a:srgbClr val="FF0000"/>
                </a:solidFill>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бөлменің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ішіндегі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жарықтылықтың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сырттағы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жарықтылыққа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қатынасына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тең</a:t>
            </a:r>
            <a:r>
              <a:rPr lang="ru-RU" dirty="0">
                <a:latin typeface="Times New Roman" panose="02020603050405020304" pitchFamily="18" charset="0"/>
                <a:cs typeface="Times New Roman" panose="02020603050405020304" pitchFamily="18" charset="0"/>
              </a:rPr>
              <a:t>:  </a:t>
            </a:r>
            <a:r>
              <a:rPr lang="ru-RU" b="1" dirty="0">
                <a:solidFill>
                  <a:srgbClr val="FF0000"/>
                </a:solidFill>
                <a:latin typeface="Times New Roman" panose="02020603050405020304" pitchFamily="18" charset="0"/>
                <a:cs typeface="Times New Roman" panose="02020603050405020304" pitchFamily="18" charset="0"/>
              </a:rPr>
              <a:t>Е= </a:t>
            </a:r>
            <a:r>
              <a:rPr lang="ru-RU" b="1" dirty="0" err="1">
                <a:solidFill>
                  <a:srgbClr val="FF0000"/>
                </a:solidFill>
                <a:latin typeface="Times New Roman" panose="02020603050405020304" pitchFamily="18" charset="0"/>
                <a:cs typeface="Times New Roman" panose="02020603050405020304" pitchFamily="18" charset="0"/>
              </a:rPr>
              <a:t>Еішкі</a:t>
            </a:r>
            <a:r>
              <a:rPr lang="ru-RU" b="1" dirty="0">
                <a:solidFill>
                  <a:srgbClr val="FF0000"/>
                </a:solidFill>
                <a:latin typeface="Times New Roman" panose="02020603050405020304" pitchFamily="18" charset="0"/>
                <a:cs typeface="Times New Roman" panose="02020603050405020304" pitchFamily="18" charset="0"/>
              </a:rPr>
              <a:t>/</a:t>
            </a:r>
            <a:r>
              <a:rPr lang="ru-RU" b="1" dirty="0" err="1">
                <a:solidFill>
                  <a:srgbClr val="FF0000"/>
                </a:solidFill>
                <a:latin typeface="Times New Roman" panose="02020603050405020304" pitchFamily="18" charset="0"/>
                <a:cs typeface="Times New Roman" panose="02020603050405020304" pitchFamily="18" charset="0"/>
              </a:rPr>
              <a:t>Есыртқы</a:t>
            </a:r>
            <a:r>
              <a:rPr lang="ru-RU" b="1" dirty="0">
                <a:solidFill>
                  <a:srgbClr val="FF0000"/>
                </a:solidFill>
                <a:latin typeface="Times New Roman" panose="02020603050405020304" pitchFamily="18" charset="0"/>
                <a:cs typeface="Times New Roman" panose="02020603050405020304" pitchFamily="18" charset="0"/>
              </a:rPr>
              <a:t> *100</a:t>
            </a:r>
            <a:endParaRPr lang="ru-RU" dirty="0">
              <a:solidFill>
                <a:srgbClr val="FF0000"/>
              </a:solidFill>
              <a:latin typeface="Times New Roman" panose="02020603050405020304" pitchFamily="18" charset="0"/>
              <a:cs typeface="Times New Roman" panose="02020603050405020304" pitchFamily="18" charset="0"/>
            </a:endParaRPr>
          </a:p>
          <a:p>
            <a:pPr lvl="0" algn="just">
              <a:spcAft>
                <a:spcPts val="0"/>
              </a:spcAft>
              <a:tabLst>
                <a:tab pos="180340" algn="ctr"/>
                <a:tab pos="540385" algn="ctr"/>
              </a:tabLst>
            </a:pPr>
            <a:endParaRPr lang="ru-RU" b="1" dirty="0" smtClean="0">
              <a:effectLst/>
              <a:latin typeface="Times New Roman" panose="02020603050405020304" pitchFamily="18" charset="0"/>
              <a:ea typeface="Times New Roman" panose="02020603050405020304" pitchFamily="18" charset="0"/>
            </a:endParaRPr>
          </a:p>
          <a:p>
            <a:pPr lvl="0" algn="just">
              <a:spcAft>
                <a:spcPts val="0"/>
              </a:spcAft>
              <a:tabLst>
                <a:tab pos="180340" algn="ctr"/>
                <a:tab pos="540385" algn="ctr"/>
              </a:tabLst>
            </a:pPr>
            <a:endParaRPr lang="ru-RU"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06392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22422" y="182933"/>
            <a:ext cx="9514702" cy="5909310"/>
          </a:xfrm>
          <a:prstGeom prst="rect">
            <a:avLst/>
          </a:prstGeom>
        </p:spPr>
        <p:txBody>
          <a:bodyPr wrap="square">
            <a:spAutoFit/>
          </a:bodyPr>
          <a:lstStyle/>
          <a:p>
            <a:pPr algn="just">
              <a:spcAft>
                <a:spcPts val="0"/>
              </a:spcAft>
            </a:pPr>
            <a:r>
              <a:rPr lang="ru-RU" b="1" dirty="0" err="1" smtClean="0">
                <a:solidFill>
                  <a:srgbClr val="FF0000"/>
                </a:solidFill>
                <a:effectLst/>
                <a:latin typeface="Times New Roman" panose="02020603050405020304" pitchFamily="18" charset="0"/>
                <a:ea typeface="Times New Roman" panose="02020603050405020304" pitchFamily="18" charset="0"/>
              </a:rPr>
              <a:t>Жасанды</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жарықтандыру</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жалпы</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және</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құрама</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мүмкін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Сонымен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қатар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жасанды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жарықтандыру</a:t>
            </a:r>
            <a:r>
              <a:rPr lang="ru-RU" dirty="0" smtClean="0">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қызметтік</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және</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авариялық</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мүмкін</a:t>
            </a:r>
            <a:r>
              <a:rPr lang="ru-RU" dirty="0" smtClean="0">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Жұмыстық</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жарықтандыру</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кез</a:t>
            </a:r>
            <a:r>
              <a:rPr lang="ru-RU" b="1" dirty="0" smtClean="0">
                <a:effectLst/>
                <a:latin typeface="Times New Roman" panose="02020603050405020304" pitchFamily="18" charset="0"/>
                <a:ea typeface="Times New Roman" panose="02020603050405020304" pitchFamily="18" charset="0"/>
              </a:rPr>
              <a:t> – </a:t>
            </a:r>
            <a:r>
              <a:rPr lang="ru-RU" b="1" dirty="0" err="1" smtClean="0">
                <a:effectLst/>
                <a:latin typeface="Times New Roman" panose="02020603050405020304" pitchFamily="18" charset="0"/>
                <a:ea typeface="Times New Roman" panose="02020603050405020304" pitchFamily="18" charset="0"/>
              </a:rPr>
              <a:t>келген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жағдайда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жақсы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жұмысты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қамтамасыз</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етуді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қалыптастырады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адамдар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транспорттардың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жүруі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үшін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табиғи</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жарықтандырудың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жетіспеген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сәтінде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қолданылады</a:t>
            </a:r>
            <a:r>
              <a:rPr lang="ru-RU" b="1" dirty="0" smtClean="0">
                <a:effectLst/>
                <a:latin typeface="Times New Roman" panose="02020603050405020304" pitchFamily="18" charset="0"/>
                <a:ea typeface="Times New Roman" panose="02020603050405020304" pitchFamily="18" charset="0"/>
              </a:rPr>
              <a:t>. </a:t>
            </a:r>
          </a:p>
          <a:p>
            <a:pPr algn="just">
              <a:spcAft>
                <a:spcPts val="0"/>
              </a:spcAft>
            </a:pPr>
            <a:r>
              <a:rPr lang="ru-RU" b="1" dirty="0" err="1" smtClean="0">
                <a:solidFill>
                  <a:srgbClr val="00B050"/>
                </a:solidFill>
                <a:effectLst/>
                <a:latin typeface="Times New Roman" panose="02020603050405020304" pitchFamily="18" charset="0"/>
                <a:ea typeface="Times New Roman" panose="02020603050405020304" pitchFamily="18" charset="0"/>
              </a:rPr>
              <a:t>Авариялық</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жарықтандыру</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бұл</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қызметтік</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жарықтандыру</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қатарынан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шыққан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жұмысты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жалғастыру</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үшін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қызмет</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етеді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авариялық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жарықтандыру</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кез</a:t>
            </a:r>
            <a:r>
              <a:rPr lang="ru-RU" b="1" dirty="0" smtClean="0">
                <a:effectLst/>
                <a:latin typeface="Times New Roman" panose="02020603050405020304" pitchFamily="18" charset="0"/>
                <a:ea typeface="Times New Roman" panose="02020603050405020304" pitchFamily="18" charset="0"/>
              </a:rPr>
              <a:t>–</a:t>
            </a:r>
            <a:r>
              <a:rPr lang="ru-RU" b="1" dirty="0" err="1" smtClean="0">
                <a:effectLst/>
                <a:latin typeface="Times New Roman" panose="02020603050405020304" pitchFamily="18" charset="0"/>
                <a:ea typeface="Times New Roman" panose="02020603050405020304" pitchFamily="18" charset="0"/>
              </a:rPr>
              <a:t>келген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жағдайда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яғни</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негізгі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жарықтандырудың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аяқ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астынан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өшуі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салдарынан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жарылыс</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өрт</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адамдардың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улануы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технологиялық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процестердің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бұзылуы</a:t>
            </a:r>
            <a:r>
              <a:rPr lang="ru-RU" b="1" dirty="0" smtClean="0">
                <a:effectLst/>
                <a:latin typeface="Times New Roman" panose="02020603050405020304" pitchFamily="18" charset="0"/>
                <a:ea typeface="Times New Roman" panose="02020603050405020304" pitchFamily="18" charset="0"/>
              </a:rPr>
              <a:t>, су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газ </a:t>
            </a:r>
            <a:r>
              <a:rPr lang="ru-RU" b="1" dirty="0" err="1" smtClean="0">
                <a:effectLst/>
                <a:latin typeface="Times New Roman" panose="02020603050405020304" pitchFamily="18" charset="0"/>
                <a:ea typeface="Times New Roman" panose="02020603050405020304" pitchFamily="18" charset="0"/>
              </a:rPr>
              <a:t>құбырлары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жұмысының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бұзылуы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көмекші</a:t>
            </a:r>
            <a:r>
              <a:rPr lang="ru-RU" b="1" dirty="0" smtClean="0">
                <a:effectLst/>
                <a:latin typeface="Times New Roman" panose="02020603050405020304" pitchFamily="18" charset="0"/>
                <a:ea typeface="Times New Roman" panose="02020603050405020304" pitchFamily="18" charset="0"/>
              </a:rPr>
              <a:t> пост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әр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түрлі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жүйелерді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басқару</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пунктінің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жұмысының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бұзылуы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болады</a:t>
            </a:r>
            <a:r>
              <a:rPr lang="ru-RU" b="1" dirty="0" smtClean="0">
                <a:effectLst/>
                <a:latin typeface="Times New Roman" panose="02020603050405020304" pitchFamily="18" charset="0"/>
                <a:ea typeface="Times New Roman" panose="02020603050405020304" pitchFamily="18" charset="0"/>
              </a:rPr>
              <a:t>.</a:t>
            </a:r>
          </a:p>
          <a:p>
            <a:pPr algn="just">
              <a:spcAft>
                <a:spcPts val="0"/>
              </a:spcAft>
            </a:pPr>
            <a:r>
              <a:rPr lang="ru-RU" dirty="0" err="1" smtClean="0">
                <a:effectLst/>
                <a:latin typeface="Times New Roman" panose="02020603050405020304" pitchFamily="18" charset="0"/>
                <a:ea typeface="Times New Roman" panose="02020603050405020304" pitchFamily="18" charset="0"/>
              </a:rPr>
              <a:t>Жасанды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жарықтандыру</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есебі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кезінде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бөлменің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ондағы</a:t>
            </a:r>
            <a:r>
              <a:rPr lang="ru-RU" dirty="0" smtClean="0">
                <a:effectLst/>
                <a:latin typeface="Times New Roman" panose="02020603050405020304" pitchFamily="18" charset="0"/>
                <a:ea typeface="Times New Roman" panose="02020603050405020304" pitchFamily="18" charset="0"/>
              </a:rPr>
              <a:t> орта </a:t>
            </a:r>
            <a:r>
              <a:rPr lang="ru-RU" dirty="0" err="1" smtClean="0">
                <a:effectLst/>
                <a:latin typeface="Times New Roman" panose="02020603050405020304" pitchFamily="18" charset="0"/>
                <a:ea typeface="Times New Roman" panose="02020603050405020304" pitchFamily="18" charset="0"/>
              </a:rPr>
              <a:t>сипаттамаларын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орындалатын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жұмыстың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нақтылығын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жұмыс</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орындалатын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жердің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фонының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және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т.б</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өлшемдерін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ескеру</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қажет</a:t>
            </a:r>
            <a:r>
              <a:rPr lang="ru-RU" dirty="0" smtClean="0">
                <a:effectLst/>
                <a:latin typeface="Times New Roman" panose="02020603050405020304" pitchFamily="18" charset="0"/>
                <a:ea typeface="Times New Roman" panose="02020603050405020304" pitchFamily="18" charset="0"/>
              </a:rPr>
              <a:t>.</a:t>
            </a:r>
          </a:p>
          <a:p>
            <a:r>
              <a:rPr lang="ru-RU" dirty="0" err="1">
                <a:latin typeface="Times New Roman" panose="02020603050405020304" pitchFamily="18" charset="0"/>
                <a:cs typeface="Times New Roman" panose="02020603050405020304" pitchFamily="18" charset="0"/>
              </a:rPr>
              <a:t>Жасанды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жарықтандыру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есебі</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мына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сұрақтардың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шешімімен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қорытындыланады</a:t>
            </a:r>
            <a:r>
              <a:rPr lang="ru-RU" dirty="0">
                <a:latin typeface="Times New Roman" panose="02020603050405020304" pitchFamily="18" charset="0"/>
                <a:cs typeface="Times New Roman" panose="02020603050405020304" pitchFamily="18" charset="0"/>
              </a:rPr>
              <a:t>:</a:t>
            </a:r>
          </a:p>
          <a:p>
            <a:pPr lvl="0"/>
            <a:r>
              <a:rPr lang="ru-RU" b="1" i="1" dirty="0" err="1">
                <a:latin typeface="Times New Roman" panose="02020603050405020304" pitchFamily="18" charset="0"/>
                <a:cs typeface="Times New Roman" panose="02020603050405020304" pitchFamily="18" charset="0"/>
              </a:rPr>
              <a:t>Жарық</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тарихшысының</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типін</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анықтау</a:t>
            </a:r>
            <a:r>
              <a:rPr lang="ru-RU" b="1" i="1" dirty="0">
                <a:latin typeface="Times New Roman" panose="02020603050405020304" pitchFamily="18" charset="0"/>
                <a:cs typeface="Times New Roman" panose="02020603050405020304" pitchFamily="18" charset="0"/>
              </a:rPr>
              <a:t>;</a:t>
            </a:r>
          </a:p>
          <a:p>
            <a:pPr lvl="0"/>
            <a:r>
              <a:rPr lang="ru-RU" b="1" i="1" dirty="0" err="1">
                <a:latin typeface="Times New Roman" panose="02020603050405020304" pitchFamily="18" charset="0"/>
                <a:cs typeface="Times New Roman" panose="02020603050405020304" pitchFamily="18" charset="0"/>
              </a:rPr>
              <a:t>Жарықтандару</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жүйесін</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таңдау</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жалпы</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және</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құрама</a:t>
            </a:r>
            <a:r>
              <a:rPr lang="ru-RU" b="1" i="1" dirty="0">
                <a:latin typeface="Times New Roman" panose="02020603050405020304" pitchFamily="18" charset="0"/>
                <a:cs typeface="Times New Roman" panose="02020603050405020304" pitchFamily="18" charset="0"/>
              </a:rPr>
              <a:t>/;</a:t>
            </a:r>
          </a:p>
          <a:p>
            <a:pPr lvl="0"/>
            <a:r>
              <a:rPr lang="ru-RU" b="1" i="1" dirty="0" err="1">
                <a:latin typeface="Times New Roman" panose="02020603050405020304" pitchFamily="18" charset="0"/>
                <a:cs typeface="Times New Roman" panose="02020603050405020304" pitchFamily="18" charset="0"/>
              </a:rPr>
              <a:t>Светильниктің</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типін</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анықтау</a:t>
            </a:r>
            <a:r>
              <a:rPr lang="ru-RU" b="1" i="1" dirty="0">
                <a:latin typeface="Times New Roman" panose="02020603050405020304" pitchFamily="18" charset="0"/>
                <a:cs typeface="Times New Roman" panose="02020603050405020304" pitchFamily="18" charset="0"/>
              </a:rPr>
              <a:t>;</a:t>
            </a:r>
          </a:p>
          <a:p>
            <a:pPr lvl="0"/>
            <a:r>
              <a:rPr lang="ru-RU" b="1" i="1" dirty="0" err="1">
                <a:latin typeface="Times New Roman" panose="02020603050405020304" pitchFamily="18" charset="0"/>
                <a:cs typeface="Times New Roman" panose="02020603050405020304" pitchFamily="18" charset="0"/>
              </a:rPr>
              <a:t>Светильниктер</a:t>
            </a:r>
            <a:r>
              <a:rPr lang="ru-RU" b="1" i="1" dirty="0">
                <a:latin typeface="Times New Roman" panose="02020603050405020304" pitchFamily="18" charset="0"/>
                <a:cs typeface="Times New Roman" panose="02020603050405020304" pitchFamily="18" charset="0"/>
              </a:rPr>
              <a:t> </a:t>
            </a:r>
            <a:r>
              <a:rPr lang="ru-RU" b="1" i="1" dirty="0" err="1">
                <a:latin typeface="Times New Roman" panose="02020603050405020304" pitchFamily="18" charset="0"/>
                <a:cs typeface="Times New Roman" panose="02020603050405020304" pitchFamily="18" charset="0"/>
              </a:rPr>
              <a:t>санын</a:t>
            </a:r>
            <a:r>
              <a:rPr lang="ru-RU" b="1" i="1" dirty="0">
                <a:latin typeface="Times New Roman" panose="02020603050405020304" pitchFamily="18" charset="0"/>
                <a:cs typeface="Times New Roman" panose="02020603050405020304" pitchFamily="18" charset="0"/>
              </a:rPr>
              <a:t> </a:t>
            </a:r>
            <a:r>
              <a:rPr lang="ru-RU" b="1" i="1" dirty="0" err="1" smtClean="0">
                <a:latin typeface="Times New Roman" panose="02020603050405020304" pitchFamily="18" charset="0"/>
                <a:cs typeface="Times New Roman" panose="02020603050405020304" pitchFamily="18" charset="0"/>
              </a:rPr>
              <a:t>анықтау</a:t>
            </a:r>
            <a:r>
              <a:rPr lang="ru-RU" b="1" i="1" dirty="0" smtClean="0">
                <a:latin typeface="Times New Roman" panose="02020603050405020304" pitchFamily="18" charset="0"/>
                <a:cs typeface="Times New Roman" panose="02020603050405020304" pitchFamily="18" charset="0"/>
              </a:rPr>
              <a:t>.</a:t>
            </a:r>
          </a:p>
          <a:p>
            <a:pPr lvl="0"/>
            <a:endParaRPr lang="ru-RU" b="1" i="1" dirty="0">
              <a:latin typeface="Times New Roman" panose="02020603050405020304" pitchFamily="18" charset="0"/>
              <a:cs typeface="Times New Roman" panose="02020603050405020304" pitchFamily="18" charset="0"/>
            </a:endParaRPr>
          </a:p>
          <a:p>
            <a:pPr algn="just">
              <a:spcAft>
                <a:spcPts val="0"/>
              </a:spcAft>
            </a:pPr>
            <a:endParaRPr lang="ru-RU"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11300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489784"/>
            <a:ext cx="9918357" cy="5940088"/>
          </a:xfrm>
          <a:prstGeom prst="rect">
            <a:avLst/>
          </a:prstGeom>
        </p:spPr>
        <p:txBody>
          <a:bodyPr wrap="square">
            <a:spAutoFit/>
          </a:bodyPr>
          <a:lstStyle/>
          <a:p>
            <a:pPr algn="just"/>
            <a:r>
              <a:rPr lang="ru-RU" sz="2000" dirty="0" err="1" smtClean="0">
                <a:effectLst/>
                <a:latin typeface="Times New Roman" panose="02020603050405020304" pitchFamily="18" charset="0"/>
                <a:cs typeface="Times New Roman" panose="02020603050405020304" pitchFamily="18" charset="0"/>
              </a:rPr>
              <a:t>Табиғи</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жарықтандыру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күн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сәулесін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бүйірден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түсіру</a:t>
            </a:r>
            <a:r>
              <a:rPr lang="ru-RU" sz="2000" dirty="0" smtClean="0">
                <a:effectLst/>
                <a:latin typeface="Times New Roman" panose="02020603050405020304" pitchFamily="18" charset="0"/>
                <a:cs typeface="Times New Roman" panose="02020603050405020304" pitchFamily="18" charset="0"/>
              </a:rPr>
              <a:t> , </a:t>
            </a:r>
            <a:r>
              <a:rPr lang="ru-RU" sz="2000" dirty="0" err="1" smtClean="0">
                <a:effectLst/>
                <a:latin typeface="Times New Roman" panose="02020603050405020304" pitchFamily="18" charset="0"/>
                <a:cs typeface="Times New Roman" panose="02020603050405020304" pitchFamily="18" charset="0"/>
              </a:rPr>
              <a:t>жоғарыдан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түсіру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және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аралас</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болып</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бөлінеді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Бөлмені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табиғи</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жарықтандырудың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геометриялық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мөлшерлеу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мәні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болып</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түсетін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ойық</a:t>
            </a:r>
            <a:r>
              <a:rPr lang="ru-RU" sz="2000" dirty="0" smtClean="0">
                <a:effectLst/>
                <a:latin typeface="Times New Roman" panose="02020603050405020304" pitchFamily="18" charset="0"/>
                <a:cs typeface="Times New Roman" panose="02020603050405020304" pitchFamily="18" charset="0"/>
              </a:rPr>
              <a:t> пен </a:t>
            </a:r>
            <a:r>
              <a:rPr lang="ru-RU" sz="2000" dirty="0" err="1" smtClean="0">
                <a:effectLst/>
                <a:latin typeface="Times New Roman" panose="02020603050405020304" pitchFamily="18" charset="0"/>
                <a:cs typeface="Times New Roman" panose="02020603050405020304" pitchFamily="18" charset="0"/>
              </a:rPr>
              <a:t>бөлме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едені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ауданы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арасындағы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қатынасты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анықтау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болып</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табылады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Ол</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әрине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бөлменің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пайдалану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жағдайына</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байланысты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Өндірістік</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бөлмелер</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үшін</a:t>
            </a:r>
            <a:r>
              <a:rPr lang="ru-RU" sz="2000" dirty="0" smtClean="0">
                <a:effectLst/>
                <a:latin typeface="Times New Roman" panose="02020603050405020304" pitchFamily="18" charset="0"/>
                <a:cs typeface="Times New Roman" panose="02020603050405020304" pitchFamily="18" charset="0"/>
              </a:rPr>
              <a:t> – </a:t>
            </a:r>
            <a:r>
              <a:rPr lang="ru-RU" sz="2000" b="1" dirty="0" err="1" smtClean="0">
                <a:effectLst/>
                <a:latin typeface="Times New Roman" panose="02020603050405020304" pitchFamily="18" charset="0"/>
                <a:cs typeface="Times New Roman" panose="02020603050405020304" pitchFamily="18" charset="0"/>
              </a:rPr>
              <a:t>табиғи</a:t>
            </a:r>
            <a:r>
              <a:rPr lang="ru-RU" sz="2000" b="1" dirty="0" smtClean="0">
                <a:effectLst/>
                <a:latin typeface="Times New Roman" panose="02020603050405020304" pitchFamily="18" charset="0"/>
                <a:cs typeface="Times New Roman" panose="02020603050405020304" pitchFamily="18" charset="0"/>
              </a:rPr>
              <a:t> </a:t>
            </a:r>
            <a:r>
              <a:rPr lang="ru-RU" sz="2000" b="1" dirty="0" err="1" smtClean="0">
                <a:effectLst/>
                <a:latin typeface="Times New Roman" panose="02020603050405020304" pitchFamily="18" charset="0"/>
                <a:cs typeface="Times New Roman" panose="02020603050405020304" pitchFamily="18" charset="0"/>
              </a:rPr>
              <a:t>жарық</a:t>
            </a:r>
            <a:r>
              <a:rPr lang="ru-RU" sz="2000" b="1" dirty="0" smtClean="0">
                <a:effectLst/>
                <a:latin typeface="Times New Roman" panose="02020603050405020304" pitchFamily="18" charset="0"/>
                <a:cs typeface="Times New Roman" panose="02020603050405020304" pitchFamily="18" charset="0"/>
              </a:rPr>
              <a:t> </a:t>
            </a:r>
            <a:r>
              <a:rPr lang="ru-RU" sz="2000" b="1" dirty="0" err="1" smtClean="0">
                <a:effectLst/>
                <a:latin typeface="Times New Roman" panose="02020603050405020304" pitchFamily="18" charset="0"/>
                <a:cs typeface="Times New Roman" panose="02020603050405020304" pitchFamily="18" charset="0"/>
              </a:rPr>
              <a:t>коэффициенті</a:t>
            </a:r>
            <a:r>
              <a:rPr lang="ru-RU" sz="2000" b="1" dirty="0" smtClean="0">
                <a:effectLst/>
                <a:latin typeface="Times New Roman" panose="02020603050405020304" pitchFamily="18" charset="0"/>
                <a:cs typeface="Times New Roman" panose="02020603050405020304" pitchFamily="18" charset="0"/>
              </a:rPr>
              <a:t> </a:t>
            </a:r>
            <a:r>
              <a:rPr lang="ru-RU" sz="2000" b="1" dirty="0" smtClean="0">
                <a:solidFill>
                  <a:srgbClr val="FF0000"/>
                </a:solidFill>
                <a:effectLst/>
                <a:latin typeface="Times New Roman" panose="02020603050405020304" pitchFamily="18" charset="0"/>
                <a:cs typeface="Times New Roman" panose="02020603050405020304" pitchFamily="18" charset="0"/>
              </a:rPr>
              <a:t>е = F*n/f  = 1/10</a:t>
            </a:r>
            <a:endParaRPr lang="ru-RU" sz="2000" dirty="0" smtClean="0">
              <a:solidFill>
                <a:srgbClr val="FF0000"/>
              </a:solidFill>
              <a:effectLst/>
              <a:latin typeface="Times New Roman" panose="02020603050405020304" pitchFamily="18" charset="0"/>
              <a:cs typeface="Times New Roman" panose="02020603050405020304" pitchFamily="18" charset="0"/>
            </a:endParaRPr>
          </a:p>
          <a:p>
            <a:pPr algn="just"/>
            <a:r>
              <a:rPr lang="ru-RU" sz="2000" b="1" dirty="0" smtClean="0">
                <a:solidFill>
                  <a:srgbClr val="FF0000"/>
                </a:solidFill>
                <a:effectLst/>
                <a:latin typeface="Times New Roman" panose="02020603050405020304" pitchFamily="18" charset="0"/>
                <a:cs typeface="Times New Roman" panose="02020603050405020304" pitchFamily="18" charset="0"/>
              </a:rPr>
              <a:t>F</a:t>
            </a:r>
            <a:r>
              <a:rPr lang="ru-RU" sz="2000" dirty="0" smtClean="0">
                <a:solidFill>
                  <a:srgbClr val="FF0000"/>
                </a:solidFill>
                <a:effectLst/>
                <a:latin typeface="Times New Roman" panose="02020603050405020304" pitchFamily="18" charset="0"/>
                <a:cs typeface="Times New Roman" panose="02020603050405020304" pitchFamily="18" charset="0"/>
              </a:rPr>
              <a:t> </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терезе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ойығы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ауданы</a:t>
            </a:r>
            <a:r>
              <a:rPr lang="ru-RU" sz="2000" dirty="0" smtClean="0">
                <a:effectLst/>
                <a:latin typeface="Times New Roman" panose="02020603050405020304" pitchFamily="18" charset="0"/>
                <a:cs typeface="Times New Roman" panose="02020603050405020304" pitchFamily="18" charset="0"/>
              </a:rPr>
              <a:t>,  </a:t>
            </a:r>
            <a:r>
              <a:rPr lang="ru-RU" sz="2000" b="1" dirty="0" smtClean="0">
                <a:solidFill>
                  <a:srgbClr val="FF0000"/>
                </a:solidFill>
                <a:effectLst/>
                <a:latin typeface="Times New Roman" panose="02020603050405020304" pitchFamily="18" charset="0"/>
                <a:cs typeface="Times New Roman" panose="02020603050405020304" pitchFamily="18" charset="0"/>
              </a:rPr>
              <a:t>n</a:t>
            </a:r>
            <a:r>
              <a:rPr lang="ru-RU" sz="2000" dirty="0" smtClean="0">
                <a:solidFill>
                  <a:srgbClr val="FF0000"/>
                </a:solidFill>
                <a:effectLst/>
                <a:latin typeface="Times New Roman" panose="02020603050405020304" pitchFamily="18" charset="0"/>
                <a:cs typeface="Times New Roman" panose="02020603050405020304" pitchFamily="18" charset="0"/>
              </a:rPr>
              <a:t> </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терезе</a:t>
            </a:r>
            <a:r>
              <a:rPr lang="ru-RU" sz="2000" dirty="0" smtClean="0">
                <a:effectLst/>
                <a:latin typeface="Times New Roman" panose="02020603050405020304" pitchFamily="18" charset="0"/>
                <a:cs typeface="Times New Roman" panose="02020603050405020304" pitchFamily="18" charset="0"/>
              </a:rPr>
              <a:t> саны, </a:t>
            </a:r>
            <a:r>
              <a:rPr lang="ru-RU" sz="2000" b="1" dirty="0" smtClean="0">
                <a:solidFill>
                  <a:srgbClr val="FF0000"/>
                </a:solidFill>
                <a:effectLst/>
                <a:latin typeface="Times New Roman" panose="02020603050405020304" pitchFamily="18" charset="0"/>
                <a:cs typeface="Times New Roman" panose="02020603050405020304" pitchFamily="18" charset="0"/>
              </a:rPr>
              <a:t> f</a:t>
            </a:r>
            <a:r>
              <a:rPr lang="ru-RU" sz="2000" dirty="0" smtClean="0">
                <a:solidFill>
                  <a:srgbClr val="FF0000"/>
                </a:solidFill>
                <a:effectLst/>
                <a:latin typeface="Times New Roman" panose="02020603050405020304" pitchFamily="18" charset="0"/>
                <a:cs typeface="Times New Roman" panose="02020603050405020304" pitchFamily="18" charset="0"/>
              </a:rPr>
              <a:t> </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еденнің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ауданы</a:t>
            </a:r>
            <a:r>
              <a:rPr lang="ru-RU" sz="2000" dirty="0" smtClean="0">
                <a:effectLst/>
                <a:latin typeface="Times New Roman" panose="02020603050405020304" pitchFamily="18" charset="0"/>
                <a:cs typeface="Times New Roman" panose="02020603050405020304" pitchFamily="18" charset="0"/>
              </a:rPr>
              <a:t> . </a:t>
            </a:r>
          </a:p>
          <a:p>
            <a:pPr algn="just"/>
            <a:r>
              <a:rPr lang="ru-RU" sz="2000" dirty="0" smtClean="0">
                <a:effectLst/>
                <a:latin typeface="Times New Roman" panose="02020603050405020304" pitchFamily="18" charset="0"/>
                <a:cs typeface="Times New Roman" panose="02020603050405020304" pitchFamily="18" charset="0"/>
              </a:rPr>
              <a:t>Ал </a:t>
            </a:r>
            <a:r>
              <a:rPr lang="ru-RU" sz="2000" dirty="0" err="1" smtClean="0">
                <a:effectLst/>
                <a:latin typeface="Times New Roman" panose="02020603050405020304" pitchFamily="18" charset="0"/>
                <a:cs typeface="Times New Roman" panose="02020603050405020304" pitchFamily="18" charset="0"/>
              </a:rPr>
              <a:t>табиғи</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жарықтандыруды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техникалық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өлшеу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құралымен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анықтауға</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мүмкіндік</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болғанда</a:t>
            </a:r>
            <a:r>
              <a:rPr lang="ru-RU" sz="2000" dirty="0" smtClean="0">
                <a:effectLst/>
                <a:latin typeface="Times New Roman" panose="02020603050405020304" pitchFamily="18" charset="0"/>
                <a:cs typeface="Times New Roman" panose="02020603050405020304" pitchFamily="18" charset="0"/>
              </a:rPr>
              <a:t> </a:t>
            </a:r>
            <a:r>
              <a:rPr lang="ru-RU" sz="2000" b="1" dirty="0" err="1" smtClean="0">
                <a:effectLst/>
                <a:latin typeface="Times New Roman" panose="02020603050405020304" pitchFamily="18" charset="0"/>
                <a:cs typeface="Times New Roman" panose="02020603050405020304" pitchFamily="18" charset="0"/>
              </a:rPr>
              <a:t>табиғи</a:t>
            </a:r>
            <a:r>
              <a:rPr lang="ru-RU" sz="2000" b="1" dirty="0" smtClean="0">
                <a:effectLst/>
                <a:latin typeface="Times New Roman" panose="02020603050405020304" pitchFamily="18" charset="0"/>
                <a:cs typeface="Times New Roman" panose="02020603050405020304" pitchFamily="18" charset="0"/>
              </a:rPr>
              <a:t> </a:t>
            </a:r>
            <a:r>
              <a:rPr lang="ru-RU" sz="2000" b="1" dirty="0" err="1" smtClean="0">
                <a:effectLst/>
                <a:latin typeface="Times New Roman" panose="02020603050405020304" pitchFamily="18" charset="0"/>
                <a:cs typeface="Times New Roman" panose="02020603050405020304" pitchFamily="18" charset="0"/>
              </a:rPr>
              <a:t>жарық</a:t>
            </a:r>
            <a:r>
              <a:rPr lang="ru-RU" sz="2000" b="1" dirty="0" smtClean="0">
                <a:effectLst/>
                <a:latin typeface="Times New Roman" panose="02020603050405020304" pitchFamily="18" charset="0"/>
                <a:cs typeface="Times New Roman" panose="02020603050405020304" pitchFamily="18" charset="0"/>
              </a:rPr>
              <a:t> </a:t>
            </a:r>
            <a:r>
              <a:rPr lang="ru-RU" sz="2000" b="1" dirty="0" err="1" smtClean="0">
                <a:effectLst/>
                <a:latin typeface="Times New Roman" panose="02020603050405020304" pitchFamily="18" charset="0"/>
                <a:cs typeface="Times New Roman" panose="02020603050405020304" pitchFamily="18" charset="0"/>
              </a:rPr>
              <a:t>коэффициенті</a:t>
            </a:r>
            <a:r>
              <a:rPr lang="ru-RU" sz="2000" b="1" dirty="0" smtClean="0">
                <a:effectLst/>
                <a:latin typeface="Times New Roman" panose="02020603050405020304" pitchFamily="18" charset="0"/>
                <a:cs typeface="Times New Roman" panose="02020603050405020304" pitchFamily="18" charset="0"/>
              </a:rPr>
              <a:t>: </a:t>
            </a:r>
            <a:r>
              <a:rPr lang="ru-RU" sz="2000" b="1" dirty="0" smtClean="0">
                <a:solidFill>
                  <a:srgbClr val="FF0000"/>
                </a:solidFill>
                <a:effectLst/>
                <a:latin typeface="Times New Roman" panose="02020603050405020304" pitchFamily="18" charset="0"/>
                <a:cs typeface="Times New Roman" panose="02020603050405020304" pitchFamily="18" charset="0"/>
              </a:rPr>
              <a:t>e= </a:t>
            </a:r>
            <a:r>
              <a:rPr lang="ru-RU" sz="2000" b="1" dirty="0" err="1" smtClean="0">
                <a:solidFill>
                  <a:srgbClr val="FF0000"/>
                </a:solidFill>
                <a:effectLst/>
                <a:latin typeface="Times New Roman" panose="02020603050405020304" pitchFamily="18" charset="0"/>
                <a:cs typeface="Times New Roman" panose="02020603050405020304" pitchFamily="18" charset="0"/>
              </a:rPr>
              <a:t>E</a:t>
            </a:r>
            <a:r>
              <a:rPr lang="ru-RU" sz="2000" b="1" baseline="-25000" dirty="0" err="1" smtClean="0">
                <a:solidFill>
                  <a:srgbClr val="FF0000"/>
                </a:solidFill>
                <a:effectLst/>
                <a:latin typeface="Times New Roman" panose="02020603050405020304" pitchFamily="18" charset="0"/>
                <a:cs typeface="Times New Roman" panose="02020603050405020304" pitchFamily="18" charset="0"/>
              </a:rPr>
              <a:t>i</a:t>
            </a:r>
            <a:r>
              <a:rPr lang="ru-RU" sz="2000" b="1" dirty="0" smtClean="0">
                <a:solidFill>
                  <a:srgbClr val="FF0000"/>
                </a:solidFill>
                <a:effectLst/>
                <a:latin typeface="Times New Roman" panose="02020603050405020304" pitchFamily="18" charset="0"/>
                <a:cs typeface="Times New Roman" panose="02020603050405020304" pitchFamily="18" charset="0"/>
              </a:rPr>
              <a:t>/</a:t>
            </a:r>
            <a:r>
              <a:rPr lang="ru-RU" sz="2000" b="1" dirty="0" err="1" smtClean="0">
                <a:solidFill>
                  <a:srgbClr val="FF0000"/>
                </a:solidFill>
                <a:effectLst/>
                <a:latin typeface="Times New Roman" panose="02020603050405020304" pitchFamily="18" charset="0"/>
                <a:cs typeface="Times New Roman" panose="02020603050405020304" pitchFamily="18" charset="0"/>
              </a:rPr>
              <a:t>E</a:t>
            </a:r>
            <a:r>
              <a:rPr lang="ru-RU" sz="2000" b="1" baseline="-25000" dirty="0" err="1" smtClean="0">
                <a:solidFill>
                  <a:srgbClr val="FF0000"/>
                </a:solidFill>
                <a:effectLst/>
                <a:latin typeface="Times New Roman" panose="02020603050405020304" pitchFamily="18" charset="0"/>
                <a:cs typeface="Times New Roman" panose="02020603050405020304" pitchFamily="18" charset="0"/>
              </a:rPr>
              <a:t>c</a:t>
            </a:r>
            <a:r>
              <a:rPr lang="ru-RU" sz="2000" b="1" baseline="-25000" dirty="0" smtClean="0">
                <a:solidFill>
                  <a:srgbClr val="FF0000"/>
                </a:solidFill>
                <a:effectLst/>
                <a:latin typeface="Times New Roman" panose="02020603050405020304" pitchFamily="18" charset="0"/>
                <a:cs typeface="Times New Roman" panose="02020603050405020304" pitchFamily="18" charset="0"/>
              </a:rPr>
              <a:t> </a:t>
            </a:r>
            <a:r>
              <a:rPr lang="ru-RU" sz="2000" b="1" dirty="0" smtClean="0">
                <a:solidFill>
                  <a:srgbClr val="FF0000"/>
                </a:solidFill>
                <a:effectLst/>
                <a:latin typeface="Times New Roman" panose="02020603050405020304" pitchFamily="18" charset="0"/>
                <a:cs typeface="Times New Roman" panose="02020603050405020304" pitchFamily="18" charset="0"/>
              </a:rPr>
              <a:t>*100%</a:t>
            </a:r>
            <a:r>
              <a:rPr lang="ru-RU" sz="2000" dirty="0" smtClean="0">
                <a:solidFill>
                  <a:srgbClr val="FF0000"/>
                </a:solidFill>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формуласымен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анықталады</a:t>
            </a:r>
            <a:r>
              <a:rPr lang="ru-RU" sz="2000" dirty="0" smtClean="0">
                <a:effectLst/>
                <a:latin typeface="Times New Roman" panose="02020603050405020304" pitchFamily="18" charset="0"/>
                <a:cs typeface="Times New Roman" panose="02020603050405020304" pitchFamily="18" charset="0"/>
              </a:rPr>
              <a:t>. </a:t>
            </a:r>
          </a:p>
          <a:p>
            <a:pPr algn="just"/>
            <a:r>
              <a:rPr lang="ru-RU" sz="2000" dirty="0" err="1" smtClean="0">
                <a:effectLst/>
                <a:latin typeface="Times New Roman" panose="02020603050405020304" pitchFamily="18" charset="0"/>
                <a:cs typeface="Times New Roman" panose="02020603050405020304" pitchFamily="18" charset="0"/>
              </a:rPr>
              <a:t>Мұндағы</a:t>
            </a:r>
            <a:r>
              <a:rPr lang="ru-RU" sz="2000" dirty="0" smtClean="0">
                <a:effectLst/>
                <a:latin typeface="Times New Roman" panose="02020603050405020304" pitchFamily="18" charset="0"/>
                <a:cs typeface="Times New Roman" panose="02020603050405020304" pitchFamily="18" charset="0"/>
              </a:rPr>
              <a:t>  </a:t>
            </a:r>
            <a:r>
              <a:rPr lang="ru-RU" sz="2000" b="1" dirty="0" err="1" smtClean="0">
                <a:solidFill>
                  <a:srgbClr val="FF0000"/>
                </a:solidFill>
                <a:effectLst/>
                <a:latin typeface="Times New Roman" panose="02020603050405020304" pitchFamily="18" charset="0"/>
                <a:cs typeface="Times New Roman" panose="02020603050405020304" pitchFamily="18" charset="0"/>
              </a:rPr>
              <a:t>E</a:t>
            </a:r>
            <a:r>
              <a:rPr lang="ru-RU" sz="2000" baseline="-25000" dirty="0" err="1" smtClean="0">
                <a:solidFill>
                  <a:srgbClr val="FF0000"/>
                </a:solidFill>
                <a:effectLst/>
                <a:latin typeface="Times New Roman" panose="02020603050405020304" pitchFamily="18" charset="0"/>
                <a:cs typeface="Times New Roman" panose="02020603050405020304" pitchFamily="18" charset="0"/>
              </a:rPr>
              <a:t>i</a:t>
            </a:r>
            <a:r>
              <a:rPr lang="ru-RU" sz="2000" baseline="-25000" dirty="0" smtClean="0">
                <a:effectLst/>
                <a:latin typeface="Times New Roman" panose="02020603050405020304" pitchFamily="18" charset="0"/>
                <a:cs typeface="Times New Roman" panose="02020603050405020304" pitchFamily="18" charset="0"/>
              </a:rPr>
              <a:t> </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бөлме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ішіндегі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нүктенің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шамасы</a:t>
            </a:r>
            <a:r>
              <a:rPr lang="ru-RU" sz="2000" dirty="0" smtClean="0">
                <a:effectLst/>
                <a:latin typeface="Times New Roman" panose="02020603050405020304" pitchFamily="18" charset="0"/>
                <a:cs typeface="Times New Roman" panose="02020603050405020304" pitchFamily="18" charset="0"/>
              </a:rPr>
              <a:t>, </a:t>
            </a:r>
            <a:r>
              <a:rPr lang="ru-RU" sz="2000" b="1" dirty="0" err="1" smtClean="0">
                <a:solidFill>
                  <a:srgbClr val="FF0000"/>
                </a:solidFill>
                <a:effectLst/>
                <a:latin typeface="Times New Roman" panose="02020603050405020304" pitchFamily="18" charset="0"/>
                <a:cs typeface="Times New Roman" panose="02020603050405020304" pitchFamily="18" charset="0"/>
              </a:rPr>
              <a:t>E</a:t>
            </a:r>
            <a:r>
              <a:rPr lang="ru-RU" sz="2000" b="1" baseline="-25000" dirty="0" err="1" smtClean="0">
                <a:effectLst/>
                <a:latin typeface="Times New Roman" panose="02020603050405020304" pitchFamily="18" charset="0"/>
                <a:cs typeface="Times New Roman" panose="02020603050405020304" pitchFamily="18" charset="0"/>
              </a:rPr>
              <a:t>c</a:t>
            </a:r>
            <a:r>
              <a:rPr lang="ru-RU" sz="2000" dirty="0" smtClean="0">
                <a:effectLst/>
                <a:latin typeface="Times New Roman" panose="02020603050405020304" pitchFamily="18" charset="0"/>
                <a:cs typeface="Times New Roman" panose="02020603050405020304" pitchFamily="18" charset="0"/>
              </a:rPr>
              <a:t> – </a:t>
            </a:r>
            <a:r>
              <a:rPr lang="ru-RU" sz="2000" dirty="0" err="1" smtClean="0">
                <a:effectLst/>
                <a:latin typeface="Times New Roman" panose="02020603050405020304" pitchFamily="18" charset="0"/>
                <a:cs typeface="Times New Roman" panose="02020603050405020304" pitchFamily="18" charset="0"/>
              </a:rPr>
              <a:t>күн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көзі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берген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сырттағы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шамасы</a:t>
            </a:r>
            <a:r>
              <a:rPr lang="ru-RU" sz="2000" dirty="0" smtClean="0">
                <a:effectLst/>
                <a:latin typeface="Times New Roman" panose="02020603050405020304" pitchFamily="18" charset="0"/>
                <a:cs typeface="Times New Roman" panose="02020603050405020304" pitchFamily="18" charset="0"/>
              </a:rPr>
              <a:t>. </a:t>
            </a:r>
          </a:p>
          <a:p>
            <a:pPr algn="just"/>
            <a:r>
              <a:rPr lang="ru-RU" sz="2000" dirty="0" err="1" smtClean="0">
                <a:effectLst/>
                <a:latin typeface="Times New Roman" panose="02020603050405020304" pitchFamily="18" charset="0"/>
                <a:cs typeface="Times New Roman" panose="02020603050405020304" pitchFamily="18" charset="0"/>
              </a:rPr>
              <a:t>Бұл</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жағдайда</a:t>
            </a:r>
            <a:r>
              <a:rPr lang="ru-RU" sz="2000" dirty="0" smtClean="0">
                <a:effectLst/>
                <a:latin typeface="Times New Roman" panose="02020603050405020304" pitchFamily="18" charset="0"/>
                <a:cs typeface="Times New Roman" panose="02020603050405020304" pitchFamily="18" charset="0"/>
              </a:rPr>
              <a:t> </a:t>
            </a:r>
            <a:r>
              <a:rPr lang="ru-RU" sz="2000" b="1" dirty="0" smtClean="0">
                <a:effectLst/>
                <a:latin typeface="Times New Roman" panose="02020603050405020304" pitchFamily="18" charset="0"/>
                <a:cs typeface="Times New Roman" panose="02020603050405020304" pitchFamily="18" charset="0"/>
              </a:rPr>
              <a:t>е </a:t>
            </a:r>
            <a:r>
              <a:rPr lang="ru-RU" sz="2000" dirty="0" err="1" smtClean="0">
                <a:effectLst/>
                <a:latin typeface="Times New Roman" panose="02020603050405020304" pitchFamily="18" charset="0"/>
                <a:cs typeface="Times New Roman" panose="02020603050405020304" pitchFamily="18" charset="0"/>
              </a:rPr>
              <a:t>табиғи</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коэффициенті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бөлмеге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күн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көзі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берген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шамасының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қанша</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пайызы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түсіп</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тұрғанын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көрсетеді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Өндірістік</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жарықтандыруды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мөлшерлеу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бойынша</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табиғи</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коэффициенті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мәні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жарықты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түсіру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әдісіне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байланысты</a:t>
            </a:r>
            <a:r>
              <a:rPr lang="ru-RU" sz="2000" dirty="0" smtClean="0">
                <a:effectLst/>
                <a:latin typeface="Times New Roman" panose="02020603050405020304" pitchFamily="18" charset="0"/>
                <a:cs typeface="Times New Roman" panose="02020603050405020304" pitchFamily="18" charset="0"/>
              </a:rPr>
              <a:t> 0,5-тен 10 </a:t>
            </a:r>
            <a:r>
              <a:rPr lang="ru-RU" sz="2000" dirty="0" err="1" smtClean="0">
                <a:effectLst/>
                <a:latin typeface="Times New Roman" panose="02020603050405020304" pitchFamily="18" charset="0"/>
                <a:cs typeface="Times New Roman" panose="02020603050405020304" pitchFamily="18" charset="0"/>
              </a:rPr>
              <a:t>бірлік</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шамасында</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болуы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керек</a:t>
            </a:r>
            <a:r>
              <a:rPr lang="ru-RU" sz="2000" dirty="0" smtClean="0">
                <a:effectLst/>
                <a:latin typeface="Times New Roman" panose="02020603050405020304" pitchFamily="18" charset="0"/>
                <a:cs typeface="Times New Roman" panose="02020603050405020304" pitchFamily="18" charset="0"/>
              </a:rPr>
              <a:t>. Ал </a:t>
            </a:r>
            <a:r>
              <a:rPr lang="ru-RU" sz="2000" dirty="0" err="1" smtClean="0">
                <a:effectLst/>
                <a:latin typeface="Times New Roman" panose="02020603050405020304" pitchFamily="18" charset="0"/>
                <a:cs typeface="Times New Roman" panose="02020603050405020304" pitchFamily="18" charset="0"/>
              </a:rPr>
              <a:t>жасанды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жарықтандыруды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мөлшерлеу</a:t>
            </a:r>
            <a:r>
              <a:rPr lang="ru-RU" sz="2000" dirty="0" smtClean="0">
                <a:effectLst/>
                <a:latin typeface="Times New Roman" panose="02020603050405020304" pitchFamily="18" charset="0"/>
                <a:cs typeface="Times New Roman" panose="02020603050405020304" pitchFamily="18" charset="0"/>
              </a:rPr>
              <a:t> – </a:t>
            </a:r>
            <a:r>
              <a:rPr lang="ru-RU" sz="2000" b="1" dirty="0" err="1" smtClean="0">
                <a:solidFill>
                  <a:srgbClr val="FF0000"/>
                </a:solidFill>
                <a:effectLst/>
                <a:latin typeface="Times New Roman" panose="02020603050405020304" pitchFamily="18" charset="0"/>
                <a:cs typeface="Times New Roman" panose="02020603050405020304" pitchFamily="18" charset="0"/>
              </a:rPr>
              <a:t>жарық</a:t>
            </a:r>
            <a:r>
              <a:rPr lang="ru-RU" sz="2000" b="1" dirty="0" smtClean="0">
                <a:solidFill>
                  <a:srgbClr val="FF0000"/>
                </a:solidFill>
                <a:effectLst/>
                <a:latin typeface="Times New Roman" panose="02020603050405020304" pitchFamily="18" charset="0"/>
                <a:cs typeface="Times New Roman" panose="02020603050405020304" pitchFamily="18" charset="0"/>
              </a:rPr>
              <a:t> </a:t>
            </a:r>
            <a:r>
              <a:rPr lang="ru-RU" sz="2000" b="1" dirty="0" err="1" smtClean="0">
                <a:solidFill>
                  <a:srgbClr val="FF0000"/>
                </a:solidFill>
                <a:effectLst/>
                <a:latin typeface="Times New Roman" panose="02020603050405020304" pitchFamily="18" charset="0"/>
                <a:cs typeface="Times New Roman" panose="02020603050405020304" pitchFamily="18" charset="0"/>
              </a:rPr>
              <a:t>шамасы</a:t>
            </a:r>
            <a:r>
              <a:rPr lang="ru-RU" sz="2000" b="1" dirty="0" smtClean="0">
                <a:solidFill>
                  <a:srgbClr val="FF0000"/>
                </a:solidFill>
                <a:effectLst/>
                <a:latin typeface="Times New Roman" panose="02020603050405020304" pitchFamily="18" charset="0"/>
                <a:cs typeface="Times New Roman" panose="02020603050405020304" pitchFamily="18" charset="0"/>
              </a:rPr>
              <a:t> (Е) </a:t>
            </a:r>
            <a:r>
              <a:rPr lang="ru-RU" sz="2000" b="1" dirty="0" err="1" smtClean="0">
                <a:solidFill>
                  <a:srgbClr val="FF0000"/>
                </a:solidFill>
                <a:effectLst/>
                <a:latin typeface="Times New Roman" panose="02020603050405020304" pitchFamily="18" charset="0"/>
                <a:cs typeface="Times New Roman" panose="02020603050405020304" pitchFamily="18" charset="0"/>
              </a:rPr>
              <a:t>люкспен</a:t>
            </a:r>
            <a:r>
              <a:rPr lang="ru-RU" sz="2000" b="1" dirty="0" smtClean="0">
                <a:solidFill>
                  <a:srgbClr val="FF0000"/>
                </a:solidFill>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көрсетіледі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Оның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мөлшері</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көру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жұмысының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сипаттамасына</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ең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жоғарғы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дәлдіктегі</a:t>
            </a:r>
            <a:r>
              <a:rPr lang="ru-RU" sz="2000" dirty="0" smtClean="0">
                <a:effectLst/>
                <a:latin typeface="Times New Roman" panose="02020603050405020304" pitchFamily="18" charset="0"/>
                <a:cs typeface="Times New Roman" panose="02020603050405020304" pitchFamily="18" charset="0"/>
              </a:rPr>
              <a:t>-I разряд , </a:t>
            </a:r>
            <a:r>
              <a:rPr lang="ru-RU" sz="2000" dirty="0" err="1" smtClean="0">
                <a:effectLst/>
                <a:latin typeface="Times New Roman" panose="02020603050405020304" pitchFamily="18" charset="0"/>
                <a:cs typeface="Times New Roman" panose="02020603050405020304" pitchFamily="18" charset="0"/>
              </a:rPr>
              <a:t>өте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жоғары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дәлдіктегі</a:t>
            </a:r>
            <a:r>
              <a:rPr lang="ru-RU" sz="2000" dirty="0" smtClean="0">
                <a:effectLst/>
                <a:latin typeface="Times New Roman" panose="02020603050405020304" pitchFamily="18" charset="0"/>
                <a:cs typeface="Times New Roman" panose="02020603050405020304" pitchFamily="18" charset="0"/>
              </a:rPr>
              <a:t> – II разряд, </a:t>
            </a:r>
            <a:r>
              <a:rPr lang="ru-RU" sz="2000" dirty="0" err="1" smtClean="0">
                <a:effectLst/>
                <a:latin typeface="Times New Roman" panose="02020603050405020304" pitchFamily="18" charset="0"/>
                <a:cs typeface="Times New Roman" panose="02020603050405020304" pitchFamily="18" charset="0"/>
              </a:rPr>
              <a:t>жоғарғы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дәлдіктегі</a:t>
            </a:r>
            <a:r>
              <a:rPr lang="ru-RU" sz="2000" dirty="0" smtClean="0">
                <a:effectLst/>
                <a:latin typeface="Times New Roman" panose="02020603050405020304" pitchFamily="18" charset="0"/>
                <a:cs typeface="Times New Roman" panose="02020603050405020304" pitchFamily="18" charset="0"/>
              </a:rPr>
              <a:t> – III, орта </a:t>
            </a:r>
            <a:r>
              <a:rPr lang="ru-RU" sz="2000" dirty="0" err="1" smtClean="0">
                <a:effectLst/>
                <a:latin typeface="Times New Roman" panose="02020603050405020304" pitchFamily="18" charset="0"/>
                <a:cs typeface="Times New Roman" panose="02020603050405020304" pitchFamily="18" charset="0"/>
              </a:rPr>
              <a:t>дәлдіктегі</a:t>
            </a:r>
            <a:r>
              <a:rPr lang="ru-RU" sz="2000" dirty="0" smtClean="0">
                <a:effectLst/>
                <a:latin typeface="Times New Roman" panose="02020603050405020304" pitchFamily="18" charset="0"/>
                <a:cs typeface="Times New Roman" panose="02020603050405020304" pitchFamily="18" charset="0"/>
              </a:rPr>
              <a:t> – IV разряд , аз </a:t>
            </a:r>
            <a:r>
              <a:rPr lang="ru-RU" sz="2000" dirty="0" err="1" smtClean="0">
                <a:effectLst/>
                <a:latin typeface="Times New Roman" panose="02020603050405020304" pitchFamily="18" charset="0"/>
                <a:cs typeface="Times New Roman" panose="02020603050405020304" pitchFamily="18" charset="0"/>
              </a:rPr>
              <a:t>дәлдіктегі</a:t>
            </a:r>
            <a:r>
              <a:rPr lang="ru-RU" sz="2000" dirty="0" smtClean="0">
                <a:effectLst/>
                <a:latin typeface="Times New Roman" panose="02020603050405020304" pitchFamily="18" charset="0"/>
                <a:cs typeface="Times New Roman" panose="02020603050405020304" pitchFamily="18" charset="0"/>
              </a:rPr>
              <a:t> V разряд, </a:t>
            </a:r>
            <a:r>
              <a:rPr lang="ru-RU" sz="2000" dirty="0" err="1" smtClean="0">
                <a:effectLst/>
                <a:latin typeface="Times New Roman" panose="02020603050405020304" pitchFamily="18" charset="0"/>
                <a:cs typeface="Times New Roman" panose="02020603050405020304" pitchFamily="18" charset="0"/>
              </a:rPr>
              <a:t>жарық</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шығарылатын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заттармен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жұмыс</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кезінде</a:t>
            </a:r>
            <a:r>
              <a:rPr lang="ru-RU" sz="2000" dirty="0" smtClean="0">
                <a:effectLst/>
                <a:latin typeface="Times New Roman" panose="02020603050405020304" pitchFamily="18" charset="0"/>
                <a:cs typeface="Times New Roman" panose="02020603050405020304" pitchFamily="18" charset="0"/>
              </a:rPr>
              <a:t> VII </a:t>
            </a:r>
            <a:r>
              <a:rPr lang="ru-RU" sz="2000" dirty="0" err="1" smtClean="0">
                <a:effectLst/>
                <a:latin typeface="Times New Roman" panose="02020603050405020304" pitchFamily="18" charset="0"/>
                <a:cs typeface="Times New Roman" panose="02020603050405020304" pitchFamily="18" charset="0"/>
              </a:rPr>
              <a:t>және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жалпы</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бақылау</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үшін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дәлдіктегі</a:t>
            </a:r>
            <a:r>
              <a:rPr lang="ru-RU" sz="2000" dirty="0" smtClean="0">
                <a:effectLst/>
                <a:latin typeface="Times New Roman" panose="02020603050405020304" pitchFamily="18" charset="0"/>
                <a:cs typeface="Times New Roman" panose="02020603050405020304" pitchFamily="18" charset="0"/>
              </a:rPr>
              <a:t>  - VIII) </a:t>
            </a:r>
            <a:r>
              <a:rPr lang="ru-RU" sz="2000" dirty="0" err="1" smtClean="0">
                <a:effectLst/>
                <a:latin typeface="Times New Roman" panose="02020603050405020304" pitchFamily="18" charset="0"/>
                <a:cs typeface="Times New Roman" panose="02020603050405020304" pitchFamily="18" charset="0"/>
              </a:rPr>
              <a:t>көретін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нысанның</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размеріне</a:t>
            </a:r>
            <a:r>
              <a:rPr lang="ru-RU" sz="2000" dirty="0" smtClean="0">
                <a:effectLst/>
                <a:latin typeface="Times New Roman" panose="02020603050405020304" pitchFamily="18" charset="0"/>
                <a:cs typeface="Times New Roman" panose="02020603050405020304" pitchFamily="18" charset="0"/>
              </a:rPr>
              <a:t> (0,15 мм-</a:t>
            </a:r>
            <a:r>
              <a:rPr lang="ru-RU" sz="2000" dirty="0" err="1" smtClean="0">
                <a:effectLst/>
                <a:latin typeface="Times New Roman" panose="02020603050405020304" pitchFamily="18" charset="0"/>
                <a:cs typeface="Times New Roman" panose="02020603050405020304" pitchFamily="18" charset="0"/>
              </a:rPr>
              <a:t>ден</a:t>
            </a:r>
            <a:r>
              <a:rPr lang="ru-RU" sz="2000" dirty="0" smtClean="0">
                <a:effectLst/>
                <a:latin typeface="Times New Roman" panose="02020603050405020304" pitchFamily="18" charset="0"/>
                <a:cs typeface="Times New Roman" panose="02020603050405020304" pitchFamily="18" charset="0"/>
              </a:rPr>
              <a:t> 5 мм-</a:t>
            </a:r>
            <a:r>
              <a:rPr lang="ru-RU" sz="2000" dirty="0" err="1" smtClean="0">
                <a:effectLst/>
                <a:latin typeface="Times New Roman" panose="02020603050405020304" pitchFamily="18" charset="0"/>
                <a:cs typeface="Times New Roman" panose="02020603050405020304" pitchFamily="18" charset="0"/>
              </a:rPr>
              <a:t>ден</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артық</a:t>
            </a:r>
            <a:r>
              <a:rPr lang="ru-RU" sz="2000" dirty="0" smtClean="0">
                <a:effectLst/>
                <a:latin typeface="Times New Roman" panose="02020603050405020304" pitchFamily="18" charset="0"/>
                <a:cs typeface="Times New Roman" panose="02020603050405020304" pitchFamily="18" charset="0"/>
              </a:rPr>
              <a:t>) контраст, фон </a:t>
            </a:r>
            <a:r>
              <a:rPr lang="ru-RU" sz="2000" dirty="0" err="1" smtClean="0">
                <a:effectLst/>
                <a:latin typeface="Times New Roman" panose="02020603050405020304" pitchFamily="18" charset="0"/>
                <a:cs typeface="Times New Roman" panose="02020603050405020304" pitchFamily="18" charset="0"/>
              </a:rPr>
              <a:t>көрініске</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қарай</a:t>
            </a:r>
            <a:r>
              <a:rPr lang="ru-RU" sz="2000" dirty="0" smtClean="0">
                <a:effectLst/>
                <a:latin typeface="Times New Roman" panose="02020603050405020304" pitchFamily="18" charset="0"/>
                <a:cs typeface="Times New Roman" panose="02020603050405020304" pitchFamily="18" charset="0"/>
              </a:rPr>
              <a:t> </a:t>
            </a:r>
            <a:r>
              <a:rPr lang="ru-RU" sz="2000" dirty="0" err="1" smtClean="0">
                <a:effectLst/>
                <a:latin typeface="Times New Roman" panose="02020603050405020304" pitchFamily="18" charset="0"/>
                <a:cs typeface="Times New Roman" panose="02020603050405020304" pitchFamily="18" charset="0"/>
              </a:rPr>
              <a:t>беріледі</a:t>
            </a:r>
            <a:r>
              <a:rPr lang="ru-RU" sz="2000" dirty="0" smtClean="0">
                <a:effectLst/>
                <a:latin typeface="Times New Roman" panose="02020603050405020304" pitchFamily="18" charset="0"/>
                <a:cs typeface="Times New Roman" panose="02020603050405020304" pitchFamily="18" charset="0"/>
              </a:rPr>
              <a:t>. </a:t>
            </a:r>
            <a:endParaRPr lang="ru-RU"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5577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47136" y="106224"/>
            <a:ext cx="10008972" cy="6124754"/>
          </a:xfrm>
          <a:prstGeom prst="rect">
            <a:avLst/>
          </a:prstGeom>
        </p:spPr>
        <p:txBody>
          <a:bodyPr wrap="square">
            <a:spAutoFit/>
          </a:bodyPr>
          <a:lstStyle/>
          <a:p>
            <a:pPr algn="just"/>
            <a:r>
              <a:rPr lang="ru-RU" sz="2800" dirty="0" err="1" smtClean="0">
                <a:effectLst/>
                <a:latin typeface="Times New Roman" panose="02020603050405020304" pitchFamily="18" charset="0"/>
                <a:cs typeface="Times New Roman" panose="02020603050405020304" pitchFamily="18" charset="0"/>
              </a:rPr>
              <a:t>Жасанды</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жарық</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көздеріне</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қыл-қызулы</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шамдар</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люминесцентті</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газоразрядты</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шамдар</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пайдаланады</a:t>
            </a:r>
            <a:r>
              <a:rPr lang="ru-RU" sz="2800" dirty="0" smtClean="0">
                <a:effectLst/>
                <a:latin typeface="Times New Roman" panose="02020603050405020304" pitchFamily="18" charset="0"/>
                <a:cs typeface="Times New Roman" panose="02020603050405020304" pitchFamily="18" charset="0"/>
              </a:rPr>
              <a:t>. </a:t>
            </a:r>
          </a:p>
          <a:p>
            <a:pPr algn="just"/>
            <a:r>
              <a:rPr lang="ru-RU" sz="2800" b="1" dirty="0" err="1" smtClean="0">
                <a:solidFill>
                  <a:srgbClr val="FF0000"/>
                </a:solidFill>
                <a:effectLst/>
                <a:latin typeface="Times New Roman" panose="02020603050405020304" pitchFamily="18" charset="0"/>
                <a:cs typeface="Times New Roman" panose="02020603050405020304" pitchFamily="18" charset="0"/>
              </a:rPr>
              <a:t>Ғимарататтағы</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шамдардың</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орналасуына</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байланысты</a:t>
            </a:r>
            <a:r>
              <a:rPr lang="ru-RU" sz="2800" dirty="0" smtClean="0">
                <a:effectLst/>
                <a:latin typeface="Times New Roman" panose="02020603050405020304" pitchFamily="18" charset="0"/>
                <a:cs typeface="Times New Roman" panose="02020603050405020304" pitchFamily="18" charset="0"/>
              </a:rPr>
              <a:t> </a:t>
            </a:r>
            <a:r>
              <a:rPr lang="ru-RU" sz="2800" b="1" dirty="0" err="1" smtClean="0">
                <a:effectLst/>
                <a:latin typeface="Times New Roman" panose="02020603050405020304" pitchFamily="18" charset="0"/>
                <a:cs typeface="Times New Roman" panose="02020603050405020304" pitchFamily="18" charset="0"/>
              </a:rPr>
              <a:t>жарықтандыру</a:t>
            </a:r>
            <a:r>
              <a:rPr lang="ru-RU" sz="2800" b="1" dirty="0" smtClean="0">
                <a:effectLst/>
                <a:latin typeface="Times New Roman" panose="02020603050405020304" pitchFamily="18" charset="0"/>
                <a:cs typeface="Times New Roman" panose="02020603050405020304" pitchFamily="18" charset="0"/>
              </a:rPr>
              <a:t>:</a:t>
            </a:r>
            <a:r>
              <a:rPr lang="ru-RU" sz="2800" dirty="0" smtClean="0">
                <a:effectLst/>
                <a:latin typeface="Times New Roman" panose="02020603050405020304" pitchFamily="18" charset="0"/>
                <a:cs typeface="Times New Roman" panose="02020603050405020304" pitchFamily="18" charset="0"/>
              </a:rPr>
              <a:t> </a:t>
            </a:r>
          </a:p>
          <a:p>
            <a:pPr algn="just"/>
            <a:r>
              <a:rPr lang="ru-RU" sz="2800" b="1" dirty="0" smtClean="0">
                <a:solidFill>
                  <a:srgbClr val="00B050"/>
                </a:solidFill>
                <a:effectLst/>
                <a:latin typeface="Times New Roman" panose="02020603050405020304" pitchFamily="18" charset="0"/>
                <a:cs typeface="Times New Roman" panose="02020603050405020304" pitchFamily="18" charset="0"/>
              </a:rPr>
              <a:t>*</a:t>
            </a:r>
            <a:r>
              <a:rPr lang="ru-RU" sz="2800" b="1" dirty="0" err="1" smtClean="0">
                <a:solidFill>
                  <a:srgbClr val="00B050"/>
                </a:solidFill>
                <a:effectLst/>
                <a:latin typeface="Times New Roman" panose="02020603050405020304" pitchFamily="18" charset="0"/>
                <a:cs typeface="Times New Roman" panose="02020603050405020304" pitchFamily="18" charset="0"/>
              </a:rPr>
              <a:t>жеке</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жұмыс</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орнын</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жарықтандыру</a:t>
            </a:r>
            <a:r>
              <a:rPr lang="ru-RU" sz="2800" b="1" dirty="0" smtClean="0">
                <a:solidFill>
                  <a:srgbClr val="00B050"/>
                </a:solidFill>
                <a:effectLst/>
                <a:latin typeface="Times New Roman" panose="02020603050405020304" pitchFamily="18" charset="0"/>
                <a:cs typeface="Times New Roman" panose="02020603050405020304" pitchFamily="18" charset="0"/>
              </a:rPr>
              <a:t>; </a:t>
            </a:r>
          </a:p>
          <a:p>
            <a:pPr algn="just"/>
            <a:r>
              <a:rPr lang="ru-RU" sz="2800" b="1" dirty="0" smtClean="0">
                <a:solidFill>
                  <a:srgbClr val="00B050"/>
                </a:solidFill>
                <a:effectLst/>
                <a:latin typeface="Times New Roman" panose="02020603050405020304" pitchFamily="18" charset="0"/>
                <a:cs typeface="Times New Roman" panose="02020603050405020304" pitchFamily="18" charset="0"/>
              </a:rPr>
              <a:t>*</a:t>
            </a:r>
            <a:r>
              <a:rPr lang="ru-RU" sz="2800" b="1" dirty="0" err="1" smtClean="0">
                <a:solidFill>
                  <a:srgbClr val="00B050"/>
                </a:solidFill>
                <a:effectLst/>
                <a:latin typeface="Times New Roman" panose="02020603050405020304" pitchFamily="18" charset="0"/>
                <a:cs typeface="Times New Roman" panose="02020603050405020304" pitchFamily="18" charset="0"/>
              </a:rPr>
              <a:t>жалпы</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бөлмені</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жарықтандыру</a:t>
            </a:r>
            <a:r>
              <a:rPr lang="ru-RU" sz="2800" b="1" dirty="0" smtClean="0">
                <a:solidFill>
                  <a:srgbClr val="00B050"/>
                </a:solidFill>
                <a:effectLst/>
                <a:latin typeface="Times New Roman" panose="02020603050405020304" pitchFamily="18" charset="0"/>
                <a:cs typeface="Times New Roman" panose="02020603050405020304" pitchFamily="18" charset="0"/>
              </a:rPr>
              <a:t>;</a:t>
            </a:r>
          </a:p>
          <a:p>
            <a:pPr algn="just"/>
            <a:r>
              <a:rPr lang="ru-RU" sz="2800" b="1" dirty="0" smtClean="0">
                <a:solidFill>
                  <a:srgbClr val="00B050"/>
                </a:solidFill>
                <a:effectLst/>
                <a:latin typeface="Times New Roman" panose="02020603050405020304" pitchFamily="18" charset="0"/>
                <a:cs typeface="Times New Roman" panose="02020603050405020304" pitchFamily="18" charset="0"/>
              </a:rPr>
              <a:t>*</a:t>
            </a:r>
            <a:r>
              <a:rPr lang="ru-RU" sz="2800" b="1" dirty="0" err="1" smtClean="0">
                <a:solidFill>
                  <a:srgbClr val="00B050"/>
                </a:solidFill>
                <a:effectLst/>
                <a:latin typeface="Times New Roman" panose="02020603050405020304" pitchFamily="18" charset="0"/>
                <a:cs typeface="Times New Roman" panose="02020603050405020304" pitchFamily="18" charset="0"/>
              </a:rPr>
              <a:t>аралас</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жарықтандыру</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болып</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үшке</a:t>
            </a:r>
            <a:r>
              <a:rPr lang="ru-RU" sz="2800" b="1" dirty="0" smtClean="0">
                <a:solidFill>
                  <a:srgbClr val="00B050"/>
                </a:solidFill>
                <a:effectLst/>
                <a:latin typeface="Times New Roman" panose="02020603050405020304" pitchFamily="18" charset="0"/>
                <a:cs typeface="Times New Roman" panose="02020603050405020304" pitchFamily="18" charset="0"/>
              </a:rPr>
              <a:t> </a:t>
            </a:r>
            <a:r>
              <a:rPr lang="ru-RU" sz="2800" b="1" dirty="0" err="1" smtClean="0">
                <a:solidFill>
                  <a:srgbClr val="00B050"/>
                </a:solidFill>
                <a:effectLst/>
                <a:latin typeface="Times New Roman" panose="02020603050405020304" pitchFamily="18" charset="0"/>
                <a:cs typeface="Times New Roman" panose="02020603050405020304" pitchFamily="18" charset="0"/>
              </a:rPr>
              <a:t>бөлінеді</a:t>
            </a:r>
            <a:r>
              <a:rPr lang="ru-RU" sz="2800" b="1" dirty="0" smtClean="0">
                <a:solidFill>
                  <a:srgbClr val="00B050"/>
                </a:solidFill>
                <a:effectLst/>
                <a:latin typeface="Times New Roman" panose="02020603050405020304" pitchFamily="18" charset="0"/>
                <a:cs typeface="Times New Roman" panose="02020603050405020304" pitchFamily="18" charset="0"/>
              </a:rPr>
              <a:t>. </a:t>
            </a:r>
          </a:p>
          <a:p>
            <a:pPr algn="just"/>
            <a:r>
              <a:rPr lang="ru-RU" sz="2800" b="1" dirty="0" err="1" smtClean="0">
                <a:solidFill>
                  <a:srgbClr val="FF0000"/>
                </a:solidFill>
                <a:effectLst/>
                <a:latin typeface="Times New Roman" panose="02020603050405020304" pitchFamily="18" charset="0"/>
                <a:cs typeface="Times New Roman" panose="02020603050405020304" pitchFamily="18" charset="0"/>
              </a:rPr>
              <a:t>Жарықты</a:t>
            </a:r>
            <a:r>
              <a:rPr lang="ru-RU" sz="2800" b="1" dirty="0" smtClean="0">
                <a:solidFill>
                  <a:srgbClr val="FF0000"/>
                </a:solidFill>
                <a:effectLst/>
                <a:latin typeface="Times New Roman" panose="02020603050405020304" pitchFamily="18" charset="0"/>
                <a:cs typeface="Times New Roman" panose="02020603050405020304" pitchFamily="18" charset="0"/>
              </a:rPr>
              <a:t> </a:t>
            </a:r>
            <a:r>
              <a:rPr lang="ru-RU" sz="2800" b="1" dirty="0" err="1" smtClean="0">
                <a:solidFill>
                  <a:srgbClr val="FF0000"/>
                </a:solidFill>
                <a:effectLst/>
                <a:latin typeface="Times New Roman" panose="02020603050405020304" pitchFamily="18" charset="0"/>
                <a:cs typeface="Times New Roman" panose="02020603050405020304" pitchFamily="18" charset="0"/>
              </a:rPr>
              <a:t>пайдалану</a:t>
            </a:r>
            <a:r>
              <a:rPr lang="ru-RU" sz="2800" b="1" dirty="0" smtClean="0">
                <a:solidFill>
                  <a:srgbClr val="FF0000"/>
                </a:solidFill>
                <a:effectLst/>
                <a:latin typeface="Times New Roman" panose="02020603050405020304" pitchFamily="18" charset="0"/>
                <a:cs typeface="Times New Roman" panose="02020603050405020304" pitchFamily="18" charset="0"/>
              </a:rPr>
              <a:t> </a:t>
            </a:r>
            <a:r>
              <a:rPr lang="ru-RU" sz="2800" b="1" dirty="0" err="1" smtClean="0">
                <a:solidFill>
                  <a:srgbClr val="FF0000"/>
                </a:solidFill>
                <a:effectLst/>
                <a:latin typeface="Times New Roman" panose="02020603050405020304" pitchFamily="18" charset="0"/>
                <a:cs typeface="Times New Roman" panose="02020603050405020304" pitchFamily="18" charset="0"/>
              </a:rPr>
              <a:t>мақсатына</a:t>
            </a:r>
            <a:r>
              <a:rPr lang="ru-RU" sz="2800" b="1" dirty="0" smtClean="0">
                <a:solidFill>
                  <a:srgbClr val="FF0000"/>
                </a:solidFill>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байланысты</a:t>
            </a:r>
            <a:r>
              <a:rPr lang="ru-RU" sz="2800" dirty="0" smtClean="0">
                <a:effectLst/>
                <a:latin typeface="Times New Roman" panose="02020603050405020304" pitchFamily="18" charset="0"/>
                <a:cs typeface="Times New Roman" panose="02020603050405020304" pitchFamily="18" charset="0"/>
              </a:rPr>
              <a:t> </a:t>
            </a:r>
            <a:r>
              <a:rPr lang="ru-RU" sz="2800" dirty="0" err="1" smtClean="0">
                <a:effectLst/>
                <a:latin typeface="Times New Roman" panose="02020603050405020304" pitchFamily="18" charset="0"/>
                <a:cs typeface="Times New Roman" panose="02020603050405020304" pitchFamily="18" charset="0"/>
              </a:rPr>
              <a:t>жарықтандыру</a:t>
            </a:r>
            <a:r>
              <a:rPr lang="ru-RU" sz="2800" dirty="0" smtClean="0">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жұмысшы</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жарықтандыру</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нормаға</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сәйкес</a:t>
            </a:r>
            <a:r>
              <a:rPr lang="ru-RU" sz="2800" b="1" dirty="0" smtClean="0">
                <a:solidFill>
                  <a:srgbClr val="0070C0"/>
                </a:solidFill>
                <a:effectLst/>
                <a:latin typeface="Times New Roman" panose="02020603050405020304" pitchFamily="18" charset="0"/>
                <a:cs typeface="Times New Roman" panose="02020603050405020304" pitchFamily="18" charset="0"/>
              </a:rPr>
              <a:t>), </a:t>
            </a:r>
          </a:p>
          <a:p>
            <a:pPr algn="just"/>
            <a:r>
              <a:rPr lang="ru-RU" sz="2800" b="1" dirty="0" smtClean="0">
                <a:solidFill>
                  <a:srgbClr val="0070C0"/>
                </a:solidFill>
                <a:effectLst/>
                <a:latin typeface="Times New Roman" panose="02020603050405020304" pitchFamily="18" charset="0"/>
                <a:cs typeface="Times New Roman" panose="02020603050405020304" pitchFamily="18" charset="0"/>
              </a:rPr>
              <a:t>*</a:t>
            </a:r>
            <a:r>
              <a:rPr lang="ru-RU" sz="2800" b="1" dirty="0" err="1" smtClean="0">
                <a:solidFill>
                  <a:srgbClr val="0070C0"/>
                </a:solidFill>
                <a:effectLst/>
                <a:latin typeface="Times New Roman" panose="02020603050405020304" pitchFamily="18" charset="0"/>
                <a:cs typeface="Times New Roman" panose="02020603050405020304" pitchFamily="18" charset="0"/>
              </a:rPr>
              <a:t>апаттық</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жарықтандыру</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апат</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кезінде</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адамдарды</a:t>
            </a:r>
            <a:r>
              <a:rPr lang="ru-RU" sz="2800" b="1" dirty="0" smtClean="0">
                <a:solidFill>
                  <a:srgbClr val="0070C0"/>
                </a:solidFill>
                <a:effectLst/>
                <a:latin typeface="Times New Roman" panose="02020603050405020304" pitchFamily="18" charset="0"/>
                <a:cs typeface="Times New Roman" panose="02020603050405020304" pitchFamily="18" charset="0"/>
              </a:rPr>
              <a:t> эвакуация </a:t>
            </a:r>
            <a:r>
              <a:rPr lang="ru-RU" sz="2800" b="1" dirty="0" err="1" smtClean="0">
                <a:solidFill>
                  <a:srgbClr val="0070C0"/>
                </a:solidFill>
                <a:effectLst/>
                <a:latin typeface="Times New Roman" panose="02020603050405020304" pitchFamily="18" charset="0"/>
                <a:cs typeface="Times New Roman" panose="02020603050405020304" pitchFamily="18" charset="0"/>
              </a:rPr>
              <a:t>жасау</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үшін</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немесе</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жұмысты</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уақытша</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жүргізе</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тұру</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үшін</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норманың</a:t>
            </a:r>
            <a:r>
              <a:rPr lang="ru-RU" sz="2800" b="1" dirty="0" smtClean="0">
                <a:solidFill>
                  <a:srgbClr val="0070C0"/>
                </a:solidFill>
                <a:effectLst/>
                <a:latin typeface="Times New Roman" panose="02020603050405020304" pitchFamily="18" charset="0"/>
                <a:cs typeface="Times New Roman" panose="02020603050405020304" pitchFamily="18" charset="0"/>
              </a:rPr>
              <a:t> 15-20% </a:t>
            </a:r>
            <a:r>
              <a:rPr lang="ru-RU" sz="2800" b="1" dirty="0" err="1" smtClean="0">
                <a:solidFill>
                  <a:srgbClr val="0070C0"/>
                </a:solidFill>
                <a:effectLst/>
                <a:latin typeface="Times New Roman" panose="02020603050405020304" pitchFamily="18" charset="0"/>
                <a:cs typeface="Times New Roman" panose="02020603050405020304" pitchFamily="18" charset="0"/>
              </a:rPr>
              <a:t>құрайтын</a:t>
            </a:r>
            <a:r>
              <a:rPr lang="ru-RU" sz="2800" b="1" dirty="0" smtClean="0">
                <a:solidFill>
                  <a:srgbClr val="0070C0"/>
                </a:solidFill>
                <a:effectLst/>
                <a:latin typeface="Times New Roman" panose="02020603050405020304" pitchFamily="18" charset="0"/>
                <a:cs typeface="Times New Roman" panose="02020603050405020304" pitchFamily="18" charset="0"/>
              </a:rPr>
              <a:t>), </a:t>
            </a:r>
          </a:p>
          <a:p>
            <a:pPr algn="just"/>
            <a:r>
              <a:rPr lang="ru-RU" sz="2800" b="1" dirty="0" smtClean="0">
                <a:solidFill>
                  <a:srgbClr val="0070C0"/>
                </a:solidFill>
                <a:effectLst/>
                <a:latin typeface="Times New Roman" panose="02020603050405020304" pitchFamily="18" charset="0"/>
                <a:cs typeface="Times New Roman" panose="02020603050405020304" pitchFamily="18" charset="0"/>
              </a:rPr>
              <a:t>*</a:t>
            </a:r>
            <a:r>
              <a:rPr lang="ru-RU" sz="2800" b="1" dirty="0" err="1" smtClean="0">
                <a:solidFill>
                  <a:srgbClr val="0070C0"/>
                </a:solidFill>
                <a:effectLst/>
                <a:latin typeface="Times New Roman" panose="02020603050405020304" pitchFamily="18" charset="0"/>
                <a:cs typeface="Times New Roman" panose="02020603050405020304" pitchFamily="18" charset="0"/>
              </a:rPr>
              <a:t>кезекші</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жарықтандыру</a:t>
            </a:r>
            <a:r>
              <a:rPr lang="ru-RU" sz="2800" b="1" dirty="0" smtClean="0">
                <a:solidFill>
                  <a:srgbClr val="0070C0"/>
                </a:solidFill>
                <a:effectLst/>
                <a:latin typeface="Times New Roman" panose="02020603050405020304" pitchFamily="18" charset="0"/>
                <a:cs typeface="Times New Roman" panose="02020603050405020304" pitchFamily="18" charset="0"/>
              </a:rPr>
              <a:t> – </a:t>
            </a:r>
            <a:r>
              <a:rPr lang="ru-RU" sz="2800" b="1" dirty="0" err="1" smtClean="0">
                <a:solidFill>
                  <a:srgbClr val="0070C0"/>
                </a:solidFill>
                <a:effectLst/>
                <a:latin typeface="Times New Roman" panose="02020603050405020304" pitchFamily="18" charset="0"/>
                <a:cs typeface="Times New Roman" panose="02020603050405020304" pitchFamily="18" charset="0"/>
              </a:rPr>
              <a:t>норманың</a:t>
            </a:r>
            <a:r>
              <a:rPr lang="ru-RU" sz="2800" b="1" dirty="0" smtClean="0">
                <a:solidFill>
                  <a:srgbClr val="0070C0"/>
                </a:solidFill>
                <a:effectLst/>
                <a:latin typeface="Times New Roman" panose="02020603050405020304" pitchFamily="18" charset="0"/>
                <a:cs typeface="Times New Roman" panose="02020603050405020304" pitchFamily="18" charset="0"/>
              </a:rPr>
              <a:t> 25-30% </a:t>
            </a:r>
            <a:r>
              <a:rPr lang="ru-RU" sz="2800" b="1" dirty="0" err="1" smtClean="0">
                <a:solidFill>
                  <a:srgbClr val="0070C0"/>
                </a:solidFill>
                <a:effectLst/>
                <a:latin typeface="Times New Roman" panose="02020603050405020304" pitchFamily="18" charset="0"/>
                <a:cs typeface="Times New Roman" panose="02020603050405020304" pitchFamily="18" charset="0"/>
              </a:rPr>
              <a:t>құрайтын</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болып</a:t>
            </a:r>
            <a:r>
              <a:rPr lang="ru-RU" sz="2800" b="1" dirty="0" smtClean="0">
                <a:solidFill>
                  <a:srgbClr val="0070C0"/>
                </a:solidFill>
                <a:effectLst/>
                <a:latin typeface="Times New Roman" panose="02020603050405020304" pitchFamily="18" charset="0"/>
                <a:cs typeface="Times New Roman" panose="02020603050405020304" pitchFamily="18" charset="0"/>
              </a:rPr>
              <a:t> </a:t>
            </a:r>
            <a:r>
              <a:rPr lang="ru-RU" sz="2800" b="1" dirty="0" err="1" smtClean="0">
                <a:solidFill>
                  <a:srgbClr val="0070C0"/>
                </a:solidFill>
                <a:effectLst/>
                <a:latin typeface="Times New Roman" panose="02020603050405020304" pitchFamily="18" charset="0"/>
                <a:cs typeface="Times New Roman" panose="02020603050405020304" pitchFamily="18" charset="0"/>
              </a:rPr>
              <a:t>бөлінеді</a:t>
            </a:r>
            <a:r>
              <a:rPr lang="ru-RU" sz="2800" b="1" dirty="0" smtClean="0">
                <a:solidFill>
                  <a:srgbClr val="0070C0"/>
                </a:solidFill>
                <a:effectLst/>
                <a:latin typeface="Times New Roman" panose="02020603050405020304" pitchFamily="18" charset="0"/>
                <a:cs typeface="Times New Roman" panose="02020603050405020304" pitchFamily="18" charset="0"/>
              </a:rPr>
              <a:t>.</a:t>
            </a:r>
            <a:endParaRPr lang="ru-RU" sz="2800" b="1" dirty="0">
              <a:solidFill>
                <a:srgbClr val="0070C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65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111868"/>
            <a:ext cx="10247871" cy="6463308"/>
          </a:xfrm>
          <a:prstGeom prst="rect">
            <a:avLst/>
          </a:prstGeom>
        </p:spPr>
        <p:txBody>
          <a:bodyPr wrap="square">
            <a:spAutoFit/>
          </a:bodyPr>
          <a:lstStyle/>
          <a:p>
            <a:pPr algn="just">
              <a:spcAft>
                <a:spcPts val="0"/>
              </a:spcAft>
            </a:pPr>
            <a:r>
              <a:rPr lang="ru-RU" b="1" dirty="0" smtClean="0">
                <a:solidFill>
                  <a:srgbClr val="FF0000"/>
                </a:solidFill>
                <a:effectLst/>
                <a:latin typeface="Times New Roman" panose="02020603050405020304" pitchFamily="18" charset="0"/>
                <a:ea typeface="Times New Roman" panose="02020603050405020304" pitchFamily="18" charset="0"/>
              </a:rPr>
              <a:t>Электр </a:t>
            </a:r>
            <a:r>
              <a:rPr lang="ru-RU" b="1" dirty="0" err="1" smtClean="0">
                <a:solidFill>
                  <a:srgbClr val="FF0000"/>
                </a:solidFill>
                <a:effectLst/>
                <a:latin typeface="Times New Roman" panose="02020603050405020304" pitchFamily="18" charset="0"/>
                <a:ea typeface="Times New Roman" panose="02020603050405020304" pitchFamily="18" charset="0"/>
              </a:rPr>
              <a:t>қауіпсіздігі</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i="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электр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тоғының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электр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доғасының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электр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магнитті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алаңның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тұрақты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электрліктің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қауіпті</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зиянды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әсерінен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адамдарды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қорғауды</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қамтамасыз</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ететін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құралдар</a:t>
            </a:r>
            <a:r>
              <a:rPr lang="ru-RU" b="1" dirty="0" smtClean="0">
                <a:effectLst/>
                <a:latin typeface="Times New Roman" panose="02020603050405020304" pitchFamily="18" charset="0"/>
                <a:ea typeface="Times New Roman" panose="02020603050405020304" pitchFamily="18" charset="0"/>
              </a:rPr>
              <a:t> мен </a:t>
            </a:r>
            <a:r>
              <a:rPr lang="ru-RU" b="1" dirty="0" err="1" smtClean="0">
                <a:effectLst/>
                <a:latin typeface="Times New Roman" panose="02020603050405020304" pitchFamily="18" charset="0"/>
                <a:ea typeface="Times New Roman" panose="02020603050405020304" pitchFamily="18" charset="0"/>
              </a:rPr>
              <a:t>техникалық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ұйымдық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шаралар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жүйесі</a:t>
            </a:r>
            <a:r>
              <a:rPr lang="ru-RU" b="1" dirty="0" smtClean="0">
                <a:effectLst/>
                <a:latin typeface="Times New Roman" panose="02020603050405020304" pitchFamily="18" charset="0"/>
                <a:ea typeface="Times New Roman" panose="02020603050405020304" pitchFamily="18" charset="0"/>
              </a:rPr>
              <a:t>. </a:t>
            </a:r>
            <a:r>
              <a:rPr lang="ru-RU" dirty="0" smtClean="0">
                <a:effectLst/>
                <a:latin typeface="Times New Roman" panose="02020603050405020304" pitchFamily="18" charset="0"/>
                <a:ea typeface="Times New Roman" panose="02020603050405020304" pitchFamily="18" charset="0"/>
              </a:rPr>
              <a:t>Электр </a:t>
            </a:r>
            <a:r>
              <a:rPr lang="ru-RU" dirty="0" err="1" smtClean="0">
                <a:effectLst/>
                <a:latin typeface="Times New Roman" panose="02020603050405020304" pitchFamily="18" charset="0"/>
                <a:ea typeface="Times New Roman" panose="02020603050405020304" pitchFamily="18" charset="0"/>
              </a:rPr>
              <a:t>тоғының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тірі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денеге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әсерінің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жақты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немесе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өзіндік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сипаты</a:t>
            </a:r>
            <a:r>
              <a:rPr lang="ru-RU" dirty="0" smtClean="0">
                <a:effectLst/>
                <a:latin typeface="Times New Roman" panose="02020603050405020304" pitchFamily="18" charset="0"/>
                <a:ea typeface="Times New Roman" panose="02020603050405020304" pitchFamily="18" charset="0"/>
              </a:rPr>
              <a:t> бар. Адам </a:t>
            </a:r>
            <a:r>
              <a:rPr lang="ru-RU" dirty="0" err="1" smtClean="0">
                <a:effectLst/>
                <a:latin typeface="Times New Roman" panose="02020603050405020304" pitchFamily="18" charset="0"/>
                <a:ea typeface="Times New Roman" panose="02020603050405020304" pitchFamily="18" charset="0"/>
              </a:rPr>
              <a:t>организімінен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өткен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электр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тоғының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термиялық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электромагниттік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механикалық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және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биологиялық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әсері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болады</a:t>
            </a:r>
            <a:r>
              <a:rPr lang="ru-RU" dirty="0" smtClean="0">
                <a:effectLst/>
                <a:latin typeface="Times New Roman" panose="02020603050405020304" pitchFamily="18" charset="0"/>
                <a:ea typeface="Times New Roman" panose="02020603050405020304" pitchFamily="18" charset="0"/>
              </a:rPr>
              <a:t>.	Электр </a:t>
            </a:r>
            <a:r>
              <a:rPr lang="ru-RU" dirty="0" err="1" smtClean="0">
                <a:effectLst/>
                <a:latin typeface="Times New Roman" panose="02020603050405020304" pitchFamily="18" charset="0"/>
                <a:ea typeface="Times New Roman" panose="02020603050405020304" pitchFamily="18" charset="0"/>
              </a:rPr>
              <a:t>тоғының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адамға</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әсері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Тоқтың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әсері</a:t>
            </a:r>
            <a:r>
              <a:rPr lang="ru-RU"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термиялық</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электролиттік</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және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биологиялық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болады</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dirty="0" err="1" smtClean="0">
                <a:effectLst/>
                <a:latin typeface="Times New Roman" panose="02020603050405020304" pitchFamily="18" charset="0"/>
                <a:ea typeface="Times New Roman" panose="02020603050405020304" pitchFamily="18" charset="0"/>
              </a:rPr>
              <a:t>Зақымдау</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түрі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бойынша</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әсерлер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келесілерге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бөлінеді</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электр</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жарақаттары</a:t>
            </a:r>
            <a:r>
              <a:rPr lang="ru-RU" dirty="0" smtClean="0">
                <a:solidFill>
                  <a:srgbClr val="FF0000"/>
                </a:solidFill>
                <a:effectLst/>
                <a:latin typeface="Times New Roman" panose="02020603050405020304" pitchFamily="18" charset="0"/>
                <a:ea typeface="Times New Roman" panose="02020603050405020304" pitchFamily="18" charset="0"/>
              </a:rPr>
              <a:t> - </a:t>
            </a:r>
            <a:r>
              <a:rPr lang="ru-RU" dirty="0" err="1" smtClean="0">
                <a:solidFill>
                  <a:srgbClr val="FF0000"/>
                </a:solidFill>
                <a:effectLst/>
                <a:latin typeface="Times New Roman" panose="02020603050405020304" pitchFamily="18" charset="0"/>
                <a:ea typeface="Times New Roman" panose="02020603050405020304" pitchFamily="18" charset="0"/>
              </a:rPr>
              <a:t>ұлпаларды</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жергілікті</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зақымдау</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күйік</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электр</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белгісі</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терінің</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металлдануы</a:t>
            </a:r>
            <a:r>
              <a:rPr lang="ru-RU" dirty="0" smtClean="0">
                <a:solidFill>
                  <a:srgbClr val="FF0000"/>
                </a:solidFill>
                <a:effectLst/>
                <a:latin typeface="Times New Roman" panose="02020603050405020304" pitchFamily="18" charset="0"/>
                <a:ea typeface="Times New Roman" panose="02020603050405020304" pitchFamily="18" charset="0"/>
              </a:rPr>
              <a:t>); </a:t>
            </a:r>
          </a:p>
          <a:p>
            <a:pPr algn="just">
              <a:spcAft>
                <a:spcPts val="0"/>
              </a:spcAft>
            </a:pP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электр</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соққылары</a:t>
            </a:r>
            <a:r>
              <a:rPr lang="ru-RU" dirty="0" smtClean="0">
                <a:solidFill>
                  <a:srgbClr val="FF0000"/>
                </a:solidFill>
                <a:effectLst/>
                <a:latin typeface="Times New Roman" panose="02020603050405020304" pitchFamily="18" charset="0"/>
                <a:ea typeface="Times New Roman" panose="02020603050405020304" pitchFamily="18" charset="0"/>
              </a:rPr>
              <a:t> - </a:t>
            </a:r>
            <a:r>
              <a:rPr lang="ru-RU" dirty="0" err="1" smtClean="0">
                <a:solidFill>
                  <a:srgbClr val="FF0000"/>
                </a:solidFill>
                <a:effectLst/>
                <a:latin typeface="Times New Roman" panose="02020603050405020304" pitchFamily="18" charset="0"/>
                <a:ea typeface="Times New Roman" panose="02020603050405020304" pitchFamily="18" charset="0"/>
              </a:rPr>
              <a:t>адамның</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салмағына</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тоқтың</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әсер</a:t>
            </a:r>
            <a:r>
              <a:rPr lang="ru-RU" dirty="0" smtClean="0">
                <a:solidFill>
                  <a:srgbClr val="FF0000"/>
                </a:solidFill>
                <a:effectLst/>
                <a:latin typeface="Times New Roman" panose="02020603050405020304" pitchFamily="18" charset="0"/>
                <a:ea typeface="Times New Roman" panose="02020603050405020304" pitchFamily="18" charset="0"/>
              </a:rPr>
              <a:t> </a:t>
            </a:r>
            <a:r>
              <a:rPr lang="ru-RU" dirty="0" err="1" smtClean="0">
                <a:solidFill>
                  <a:srgbClr val="FF0000"/>
                </a:solidFill>
                <a:effectLst/>
                <a:latin typeface="Times New Roman" panose="02020603050405020304" pitchFamily="18" charset="0"/>
                <a:ea typeface="Times New Roman" panose="02020603050405020304" pitchFamily="18" charset="0"/>
              </a:rPr>
              <a:t>етуі</a:t>
            </a:r>
            <a:r>
              <a:rPr lang="ru-RU" dirty="0" smtClean="0">
                <a:solidFill>
                  <a:srgbClr val="FF0000"/>
                </a:solidFill>
                <a:effectLst/>
                <a:latin typeface="Times New Roman" panose="02020603050405020304" pitchFamily="18" charset="0"/>
                <a:ea typeface="Times New Roman" panose="02020603050405020304" pitchFamily="18" charset="0"/>
              </a:rPr>
              <a:t>; </a:t>
            </a:r>
          </a:p>
          <a:p>
            <a:pPr algn="just">
              <a:spcAft>
                <a:spcPts val="0"/>
              </a:spcAft>
            </a:pPr>
            <a:r>
              <a:rPr lang="ru-RU" b="1" dirty="0" err="1" smtClean="0">
                <a:solidFill>
                  <a:srgbClr val="00B050"/>
                </a:solidFill>
                <a:effectLst/>
                <a:latin typeface="Times New Roman" panose="02020603050405020304" pitchFamily="18" charset="0"/>
                <a:ea typeface="Times New Roman" panose="02020603050405020304" pitchFamily="18" charset="0"/>
              </a:rPr>
              <a:t>Әсер</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ету</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дәрежесі</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бойынша</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келесілерге</a:t>
            </a:r>
            <a:r>
              <a:rPr lang="ru-RU" b="1" dirty="0" smtClean="0">
                <a:solidFill>
                  <a:srgbClr val="00B050"/>
                </a:solidFill>
                <a:effectLst/>
                <a:latin typeface="Times New Roman" panose="02020603050405020304" pitchFamily="18" charset="0"/>
                <a:ea typeface="Times New Roman" panose="02020603050405020304" pitchFamily="18" charset="0"/>
              </a:rPr>
              <a:t> </a:t>
            </a:r>
            <a:r>
              <a:rPr lang="ru-RU" b="1" dirty="0" err="1" smtClean="0">
                <a:solidFill>
                  <a:srgbClr val="00B050"/>
                </a:solidFill>
                <a:effectLst/>
                <a:latin typeface="Times New Roman" panose="02020603050405020304" pitchFamily="18" charset="0"/>
                <a:ea typeface="Times New Roman" panose="02020603050405020304" pitchFamily="18" charset="0"/>
              </a:rPr>
              <a:t>бөлінеді</a:t>
            </a:r>
            <a:r>
              <a:rPr lang="ru-RU" dirty="0" smtClean="0">
                <a:solidFill>
                  <a:srgbClr val="00B050"/>
                </a:solidFill>
                <a:effectLst/>
                <a:latin typeface="Times New Roman" panose="02020603050405020304" pitchFamily="18" charset="0"/>
                <a:ea typeface="Times New Roman" panose="02020603050405020304" pitchFamily="18" charset="0"/>
              </a:rPr>
              <a:t>: </a:t>
            </a:r>
          </a:p>
          <a:p>
            <a:pPr algn="just">
              <a:spcAft>
                <a:spcPts val="0"/>
              </a:spcAft>
            </a:pPr>
            <a:r>
              <a:rPr lang="ru-RU" b="1" i="1" dirty="0" smtClean="0">
                <a:effectLst/>
                <a:latin typeface="Times New Roman" panose="02020603050405020304" pitchFamily="18" charset="0"/>
                <a:ea typeface="Times New Roman" panose="02020603050405020304" pitchFamily="18" charset="0"/>
              </a:rPr>
              <a:t>I </a:t>
            </a:r>
            <a:r>
              <a:rPr lang="ru-RU" b="1" i="1" dirty="0" err="1" smtClean="0">
                <a:effectLst/>
                <a:latin typeface="Times New Roman" panose="02020603050405020304" pitchFamily="18" charset="0"/>
                <a:ea typeface="Times New Roman" panose="02020603050405020304" pitchFamily="18" charset="0"/>
              </a:rPr>
              <a:t>дәрежесі</a:t>
            </a:r>
            <a:r>
              <a:rPr lang="ru-RU" b="1" i="1" dirty="0" smtClean="0">
                <a:effectLst/>
                <a:latin typeface="Times New Roman" panose="02020603050405020304" pitchFamily="18" charset="0"/>
                <a:ea typeface="Times New Roman" panose="02020603050405020304" pitchFamily="18" charset="0"/>
              </a:rPr>
              <a:t> </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есінен</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танбайды</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бірақ</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бұлшық</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еттері</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жиырылып</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қалады</a:t>
            </a:r>
            <a:r>
              <a:rPr lang="ru-RU" i="1" dirty="0" smtClean="0">
                <a:effectLst/>
                <a:latin typeface="Times New Roman" panose="02020603050405020304" pitchFamily="18" charset="0"/>
                <a:ea typeface="Times New Roman" panose="02020603050405020304" pitchFamily="18" charset="0"/>
              </a:rPr>
              <a:t>; </a:t>
            </a:r>
            <a:endParaRPr lang="ru-RU" dirty="0" smtClean="0">
              <a:effectLst/>
              <a:latin typeface="Times New Roman" panose="02020603050405020304" pitchFamily="18" charset="0"/>
              <a:ea typeface="Times New Roman" panose="02020603050405020304" pitchFamily="18" charset="0"/>
            </a:endParaRPr>
          </a:p>
          <a:p>
            <a:pPr algn="just">
              <a:spcAft>
                <a:spcPts val="0"/>
              </a:spcAft>
            </a:pPr>
            <a:r>
              <a:rPr lang="ru-RU" b="1" i="1" dirty="0" smtClean="0">
                <a:effectLst/>
                <a:latin typeface="Times New Roman" panose="02020603050405020304" pitchFamily="18" charset="0"/>
                <a:ea typeface="Times New Roman" panose="02020603050405020304" pitchFamily="18" charset="0"/>
              </a:rPr>
              <a:t>II </a:t>
            </a:r>
            <a:r>
              <a:rPr lang="ru-RU" b="1" i="1" dirty="0" err="1" smtClean="0">
                <a:effectLst/>
                <a:latin typeface="Times New Roman" panose="02020603050405020304" pitchFamily="18" charset="0"/>
                <a:ea typeface="Times New Roman" panose="02020603050405020304" pitchFamily="18" charset="0"/>
              </a:rPr>
              <a:t>дәрежесі</a:t>
            </a:r>
            <a:r>
              <a:rPr lang="ru-RU" b="1" i="1" dirty="0" smtClean="0">
                <a:effectLst/>
                <a:latin typeface="Times New Roman" panose="02020603050405020304" pitchFamily="18" charset="0"/>
                <a:ea typeface="Times New Roman" panose="02020603050405020304" pitchFamily="18" charset="0"/>
              </a:rPr>
              <a:t> </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есінен</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танады</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бұлшық</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еттері</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жиырылып</a:t>
            </a:r>
            <a:r>
              <a:rPr lang="ru-RU" i="1" dirty="0" smtClean="0">
                <a:effectLst/>
                <a:latin typeface="Times New Roman" panose="02020603050405020304" pitchFamily="18" charset="0"/>
                <a:ea typeface="Times New Roman" panose="02020603050405020304" pitchFamily="18" charset="0"/>
              </a:rPr>
              <a:t> </a:t>
            </a:r>
            <a:r>
              <a:rPr lang="ru-RU" i="1" dirty="0" err="1" smtClean="0">
                <a:effectLst/>
                <a:latin typeface="Times New Roman" panose="02020603050405020304" pitchFamily="18" charset="0"/>
                <a:ea typeface="Times New Roman" panose="02020603050405020304" pitchFamily="18" charset="0"/>
              </a:rPr>
              <a:t>қалады</a:t>
            </a:r>
            <a:r>
              <a:rPr lang="ru-RU" i="1" dirty="0" smtClean="0">
                <a:effectLst/>
                <a:latin typeface="Times New Roman" panose="02020603050405020304" pitchFamily="18" charset="0"/>
                <a:ea typeface="Times New Roman" panose="02020603050405020304" pitchFamily="18" charset="0"/>
              </a:rPr>
              <a:t>; </a:t>
            </a:r>
            <a:endParaRPr lang="ru-RU" dirty="0" smtClean="0">
              <a:effectLst/>
              <a:latin typeface="Times New Roman" panose="02020603050405020304" pitchFamily="18" charset="0"/>
              <a:ea typeface="Times New Roman" panose="02020603050405020304" pitchFamily="18" charset="0"/>
            </a:endParaRPr>
          </a:p>
          <a:p>
            <a:pPr algn="just">
              <a:spcAft>
                <a:spcPts val="0"/>
              </a:spcAft>
            </a:pPr>
            <a:r>
              <a:rPr lang="ru-RU" b="1" i="1" dirty="0" smtClean="0">
                <a:effectLst/>
                <a:latin typeface="Times New Roman" panose="02020603050405020304" pitchFamily="18" charset="0"/>
                <a:ea typeface="Times New Roman" panose="02020603050405020304" pitchFamily="18" charset="0"/>
              </a:rPr>
              <a:t>III </a:t>
            </a:r>
            <a:r>
              <a:rPr lang="ru-RU" b="1" i="1" dirty="0" err="1" smtClean="0">
                <a:effectLst/>
                <a:latin typeface="Times New Roman" panose="02020603050405020304" pitchFamily="18" charset="0"/>
                <a:ea typeface="Times New Roman" panose="02020603050405020304" pitchFamily="18" charset="0"/>
              </a:rPr>
              <a:t>дәрежесі</a:t>
            </a:r>
            <a:r>
              <a:rPr lang="ru-RU" b="1" i="1" dirty="0" smtClean="0">
                <a:effectLst/>
                <a:latin typeface="Times New Roman" panose="02020603050405020304" pitchFamily="18" charset="0"/>
                <a:ea typeface="Times New Roman" panose="02020603050405020304" pitchFamily="18" charset="0"/>
              </a:rPr>
              <a:t> </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есінен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танады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жүрек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немесе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тыныс</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алу</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әрекеттері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бұзылады</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b="1" i="1" dirty="0" smtClean="0">
                <a:effectLst/>
                <a:latin typeface="Times New Roman" panose="02020603050405020304" pitchFamily="18" charset="0"/>
                <a:ea typeface="Times New Roman" panose="02020603050405020304" pitchFamily="18" charset="0"/>
              </a:rPr>
              <a:t>IV </a:t>
            </a:r>
            <a:r>
              <a:rPr lang="ru-RU" b="1" i="1" dirty="0" err="1" smtClean="0">
                <a:effectLst/>
                <a:latin typeface="Times New Roman" panose="02020603050405020304" pitchFamily="18" charset="0"/>
                <a:ea typeface="Times New Roman" panose="02020603050405020304" pitchFamily="18" charset="0"/>
              </a:rPr>
              <a:t>дәрежесі</a:t>
            </a:r>
            <a:r>
              <a:rPr lang="ru-RU" b="1" i="1" dirty="0" smtClean="0">
                <a:effectLst/>
                <a:latin typeface="Times New Roman" panose="02020603050405020304" pitchFamily="18" charset="0"/>
                <a:ea typeface="Times New Roman" panose="02020603050405020304" pitchFamily="18" charset="0"/>
              </a:rPr>
              <a:t> </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клиниклық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өлім</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тыныс</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алмайды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және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айналымы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тоқтайды</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dirty="0" smtClean="0">
                <a:effectLst/>
                <a:latin typeface="Times New Roman" panose="02020603050405020304" pitchFamily="18" charset="0"/>
                <a:ea typeface="Times New Roman" panose="02020603050405020304" pitchFamily="18" charset="0"/>
              </a:rPr>
              <a:t>Электр </a:t>
            </a:r>
            <a:r>
              <a:rPr lang="ru-RU" dirty="0" err="1" smtClean="0">
                <a:effectLst/>
                <a:latin typeface="Times New Roman" panose="02020603050405020304" pitchFamily="18" charset="0"/>
                <a:ea typeface="Times New Roman" panose="02020603050405020304" pitchFamily="18" charset="0"/>
              </a:rPr>
              <a:t>тоғынан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зақымданудың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алғашқы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себептерін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анықтайтын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факторлар</a:t>
            </a:r>
            <a:r>
              <a:rPr lang="ru-RU" dirty="0" smtClean="0">
                <a:effectLst/>
                <a:latin typeface="Times New Roman" panose="02020603050405020304" pitchFamily="18" charset="0"/>
                <a:ea typeface="Times New Roman" panose="02020603050405020304" pitchFamily="18" charset="0"/>
              </a:rPr>
              <a:t>: I </a:t>
            </a:r>
            <a:r>
              <a:rPr lang="ru-RU" dirty="0" err="1" smtClean="0">
                <a:effectLst/>
                <a:latin typeface="Times New Roman" panose="02020603050405020304" pitchFamily="18" charset="0"/>
                <a:ea typeface="Times New Roman" panose="02020603050405020304" pitchFamily="18" charset="0"/>
              </a:rPr>
              <a:t>тоқ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мәні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негізгі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зақымдаушы</a:t>
            </a:r>
            <a:r>
              <a:rPr lang="ru-RU" dirty="0" smtClean="0">
                <a:effectLst/>
                <a:latin typeface="Times New Roman" panose="02020603050405020304" pitchFamily="18" charset="0"/>
                <a:ea typeface="Times New Roman" panose="02020603050405020304" pitchFamily="18" charset="0"/>
              </a:rPr>
              <a:t> фактор). Адам </a:t>
            </a:r>
            <a:r>
              <a:rPr lang="ru-RU" dirty="0" err="1" smtClean="0">
                <a:effectLst/>
                <a:latin typeface="Times New Roman" panose="02020603050405020304" pitchFamily="18" charset="0"/>
                <a:ea typeface="Times New Roman" panose="02020603050405020304" pitchFamily="18" charset="0"/>
              </a:rPr>
              <a:t>үшін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өте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қауіпті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өлімге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алып</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келетін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өндірістік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тоқтың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жиілігі</a:t>
            </a:r>
            <a:r>
              <a:rPr lang="ru-RU" dirty="0" smtClean="0">
                <a:effectLst/>
                <a:latin typeface="Times New Roman" panose="02020603050405020304" pitchFamily="18" charset="0"/>
                <a:ea typeface="Times New Roman" panose="02020603050405020304" pitchFamily="18" charset="0"/>
              </a:rPr>
              <a:t> 50Гц I = 100 мА. </a:t>
            </a:r>
          </a:p>
          <a:p>
            <a:pPr algn="just">
              <a:spcAft>
                <a:spcPts val="0"/>
              </a:spcAft>
            </a:pPr>
            <a:r>
              <a:rPr lang="ru-RU" dirty="0" smtClean="0">
                <a:effectLst/>
                <a:latin typeface="Times New Roman" panose="02020603050405020304" pitchFamily="18" charset="0"/>
                <a:ea typeface="Times New Roman" panose="02020603050405020304" pitchFamily="18" charset="0"/>
              </a:rPr>
              <a:t>Адам </a:t>
            </a:r>
            <a:r>
              <a:rPr lang="ru-RU" dirty="0" err="1" smtClean="0">
                <a:effectLst/>
                <a:latin typeface="Times New Roman" panose="02020603050405020304" pitchFamily="18" charset="0"/>
                <a:ea typeface="Times New Roman" panose="02020603050405020304" pitchFamily="18" charset="0"/>
              </a:rPr>
              <a:t>арқылы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өтетін</a:t>
            </a:r>
            <a:r>
              <a:rPr lang="ru-RU" dirty="0" smtClean="0">
                <a:effectLst/>
                <a:latin typeface="Times New Roman" panose="02020603050405020304" pitchFamily="18" charset="0"/>
                <a:ea typeface="Times New Roman" panose="02020603050405020304" pitchFamily="18" charset="0"/>
              </a:rPr>
              <a:t> (U=220B, t = 50Γц) </a:t>
            </a:r>
            <a:r>
              <a:rPr lang="ru-RU" dirty="0" err="1" smtClean="0">
                <a:effectLst/>
                <a:latin typeface="Times New Roman" panose="02020603050405020304" pitchFamily="18" charset="0"/>
                <a:ea typeface="Times New Roman" panose="02020603050405020304" pitchFamily="18" charset="0"/>
              </a:rPr>
              <a:t>өндірісітік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тоқтың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жиілігінің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сипатты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мәні</a:t>
            </a:r>
            <a:r>
              <a:rPr lang="ru-RU" dirty="0" smtClean="0">
                <a:effectLst/>
                <a:latin typeface="Times New Roman" panose="02020603050405020304" pitchFamily="18" charset="0"/>
                <a:ea typeface="Times New Roman" panose="02020603050405020304" pitchFamily="18" charset="0"/>
              </a:rPr>
              <a:t> 3-ке </a:t>
            </a:r>
            <a:r>
              <a:rPr lang="ru-RU" dirty="0" err="1" smtClean="0">
                <a:effectLst/>
                <a:latin typeface="Times New Roman" panose="02020603050405020304" pitchFamily="18" charset="0"/>
                <a:ea typeface="Times New Roman" panose="02020603050405020304" pitchFamily="18" charset="0"/>
              </a:rPr>
              <a:t>бөлінеді</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алғашқы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сезімдері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пайда</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болған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алғашқы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сезілу</a:t>
            </a:r>
            <a:r>
              <a:rPr lang="ru-RU" dirty="0" smtClean="0">
                <a:effectLst/>
                <a:latin typeface="Times New Roman" panose="02020603050405020304" pitchFamily="18" charset="0"/>
                <a:ea typeface="Times New Roman" panose="02020603050405020304" pitchFamily="18" charset="0"/>
              </a:rPr>
              <a:t>  0,6-1,5 мА. </a:t>
            </a:r>
          </a:p>
          <a:p>
            <a:pPr algn="just">
              <a:spcAft>
                <a:spcPts val="0"/>
              </a:spcAft>
            </a:pP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кернеудегі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бұлшық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еттердің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тырысып</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қалуының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салдарынан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өтетін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бөлігінен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ажырай</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алмайтын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адамдардың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жіберілмейтін</a:t>
            </a:r>
            <a:r>
              <a:rPr lang="ru-RU" dirty="0" smtClean="0">
                <a:effectLst/>
                <a:latin typeface="Times New Roman" panose="02020603050405020304" pitchFamily="18" charset="0"/>
                <a:ea typeface="Times New Roman" panose="02020603050405020304" pitchFamily="18" charset="0"/>
              </a:rPr>
              <a:t> 10-15 мА, </a:t>
            </a:r>
            <a:r>
              <a:rPr lang="ru-RU" dirty="0" err="1" smtClean="0">
                <a:effectLst/>
                <a:latin typeface="Times New Roman" panose="02020603050405020304" pitchFamily="18" charset="0"/>
                <a:ea typeface="Times New Roman" panose="02020603050405020304" pitchFamily="18" charset="0"/>
              </a:rPr>
              <a:t>алғашқы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сезілуі</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жүрек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бұлшық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еттерінің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талшықтарының</a:t>
            </a:r>
            <a:r>
              <a:rPr lang="ru-RU" dirty="0" smtClean="0">
                <a:effectLst/>
                <a:latin typeface="Times New Roman" panose="02020603050405020304" pitchFamily="18" charset="0"/>
                <a:ea typeface="Times New Roman" panose="02020603050405020304" pitchFamily="18" charset="0"/>
              </a:rPr>
              <a:t> (фибрилл) </a:t>
            </a:r>
            <a:r>
              <a:rPr lang="ru-RU" dirty="0" err="1" smtClean="0">
                <a:effectLst/>
                <a:latin typeface="Times New Roman" panose="02020603050405020304" pitchFamily="18" charset="0"/>
                <a:ea typeface="Times New Roman" panose="02020603050405020304" pitchFamily="18" charset="0"/>
              </a:rPr>
              <a:t>қысқауы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нәтижесінде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адамды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өлімге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алып</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келеді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кіре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берістік</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фибирлляциялы</a:t>
            </a:r>
            <a:r>
              <a:rPr lang="ru-RU" dirty="0" smtClean="0">
                <a:effectLst/>
                <a:latin typeface="Times New Roman" panose="02020603050405020304" pitchFamily="18" charset="0"/>
                <a:ea typeface="Times New Roman" panose="02020603050405020304" pitchFamily="18" charset="0"/>
              </a:rPr>
              <a:t> 100 мА. </a:t>
            </a:r>
            <a:endParaRPr lang="ru-RU"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08068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38896" y="145351"/>
            <a:ext cx="9506465" cy="5632311"/>
          </a:xfrm>
          <a:prstGeom prst="rect">
            <a:avLst/>
          </a:prstGeom>
        </p:spPr>
        <p:txBody>
          <a:bodyPr wrap="square">
            <a:spAutoFit/>
          </a:bodyPr>
          <a:lstStyle/>
          <a:p>
            <a:pPr algn="just">
              <a:spcAft>
                <a:spcPts val="0"/>
              </a:spcAft>
            </a:pPr>
            <a:r>
              <a:rPr lang="ru-RU" sz="2400" b="1" dirty="0" smtClean="0">
                <a:solidFill>
                  <a:srgbClr val="FF0000"/>
                </a:solidFill>
                <a:effectLst/>
                <a:latin typeface="Times New Roman" panose="02020603050405020304" pitchFamily="18" charset="0"/>
                <a:ea typeface="Times New Roman" panose="02020603050405020304" pitchFamily="18" charset="0"/>
              </a:rPr>
              <a:t>Электр </a:t>
            </a:r>
            <a:r>
              <a:rPr lang="ru-RU" sz="2400" b="1" dirty="0" err="1" smtClean="0">
                <a:solidFill>
                  <a:srgbClr val="FF0000"/>
                </a:solidFill>
                <a:effectLst/>
                <a:latin typeface="Times New Roman" panose="02020603050405020304" pitchFamily="18" charset="0"/>
                <a:ea typeface="Times New Roman" panose="02020603050405020304" pitchFamily="18" charset="0"/>
              </a:rPr>
              <a:t>тоғының</a:t>
            </a:r>
            <a:r>
              <a:rPr lang="ru-RU" sz="2400" b="1" dirty="0" smtClean="0">
                <a:solidFill>
                  <a:srgbClr val="FF0000"/>
                </a:solidFill>
                <a:effectLst/>
                <a:latin typeface="Times New Roman" panose="02020603050405020304" pitchFamily="18" charset="0"/>
                <a:ea typeface="Times New Roman" panose="02020603050405020304" pitchFamily="18" charset="0"/>
              </a:rPr>
              <a:t> </a:t>
            </a:r>
            <a:r>
              <a:rPr lang="ru-RU" sz="2400" b="1" dirty="0" err="1" smtClean="0">
                <a:solidFill>
                  <a:srgbClr val="FF0000"/>
                </a:solidFill>
                <a:effectLst/>
                <a:latin typeface="Times New Roman" panose="02020603050405020304" pitchFamily="18" charset="0"/>
                <a:ea typeface="Times New Roman" panose="02020603050405020304" pitchFamily="18" charset="0"/>
              </a:rPr>
              <a:t>әсерінен</a:t>
            </a:r>
            <a:r>
              <a:rPr lang="ru-RU" sz="2400" b="1" dirty="0" smtClean="0">
                <a:solidFill>
                  <a:srgbClr val="FF0000"/>
                </a:solidFill>
                <a:effectLst/>
                <a:latin typeface="Times New Roman" panose="02020603050405020304" pitchFamily="18" charset="0"/>
                <a:ea typeface="Times New Roman" panose="02020603050405020304" pitchFamily="18" charset="0"/>
              </a:rPr>
              <a:t> </a:t>
            </a:r>
            <a:r>
              <a:rPr lang="ru-RU" sz="2400" b="1" dirty="0" err="1" smtClean="0">
                <a:solidFill>
                  <a:srgbClr val="FF0000"/>
                </a:solidFill>
                <a:effectLst/>
                <a:latin typeface="Times New Roman" panose="02020603050405020304" pitchFamily="18" charset="0"/>
                <a:ea typeface="Times New Roman" panose="02020603050405020304" pitchFamily="18" charset="0"/>
              </a:rPr>
              <a:t>адам</a:t>
            </a:r>
            <a:r>
              <a:rPr lang="ru-RU" sz="2400" b="1" dirty="0" smtClean="0">
                <a:solidFill>
                  <a:srgbClr val="FF0000"/>
                </a:solidFill>
                <a:effectLst/>
                <a:latin typeface="Times New Roman" panose="02020603050405020304" pitchFamily="18" charset="0"/>
                <a:ea typeface="Times New Roman" panose="02020603050405020304" pitchFamily="18" charset="0"/>
              </a:rPr>
              <a:t> </a:t>
            </a:r>
            <a:r>
              <a:rPr lang="ru-RU" sz="2400" b="1" dirty="0" err="1" smtClean="0">
                <a:solidFill>
                  <a:srgbClr val="FF0000"/>
                </a:solidFill>
                <a:effectLst/>
                <a:latin typeface="Times New Roman" panose="02020603050405020304" pitchFamily="18" charset="0"/>
                <a:ea typeface="Times New Roman" panose="02020603050405020304" pitchFamily="18" charset="0"/>
              </a:rPr>
              <a:t>екі</a:t>
            </a:r>
            <a:r>
              <a:rPr lang="ru-RU" sz="2400" b="1" dirty="0" smtClean="0">
                <a:solidFill>
                  <a:srgbClr val="FF0000"/>
                </a:solidFill>
                <a:effectLst/>
                <a:latin typeface="Times New Roman" panose="02020603050405020304" pitchFamily="18" charset="0"/>
                <a:ea typeface="Times New Roman" panose="02020603050405020304" pitchFamily="18" charset="0"/>
              </a:rPr>
              <a:t> </a:t>
            </a:r>
            <a:r>
              <a:rPr lang="ru-RU" sz="2400" b="1" dirty="0" err="1" smtClean="0">
                <a:solidFill>
                  <a:srgbClr val="FF0000"/>
                </a:solidFill>
                <a:effectLst/>
                <a:latin typeface="Times New Roman" panose="02020603050405020304" pitchFamily="18" charset="0"/>
                <a:ea typeface="Times New Roman" panose="02020603050405020304" pitchFamily="18" charset="0"/>
              </a:rPr>
              <a:t>түрлі</a:t>
            </a:r>
            <a:r>
              <a:rPr lang="ru-RU" sz="2400" b="1" dirty="0" smtClean="0">
                <a:solidFill>
                  <a:srgbClr val="FF0000"/>
                </a:solidFill>
                <a:effectLst/>
                <a:latin typeface="Times New Roman" panose="02020603050405020304" pitchFamily="18" charset="0"/>
                <a:ea typeface="Times New Roman" panose="02020603050405020304" pitchFamily="18" charset="0"/>
              </a:rPr>
              <a:t> </a:t>
            </a:r>
            <a:r>
              <a:rPr lang="ru-RU" sz="2400" b="1" dirty="0" err="1" smtClean="0">
                <a:solidFill>
                  <a:srgbClr val="FF0000"/>
                </a:solidFill>
                <a:effectLst/>
                <a:latin typeface="Times New Roman" panose="02020603050405020304" pitchFamily="18" charset="0"/>
                <a:ea typeface="Times New Roman" panose="02020603050405020304" pitchFamily="18" charset="0"/>
              </a:rPr>
              <a:t>жарақат</a:t>
            </a:r>
            <a:r>
              <a:rPr lang="ru-RU" sz="2400" b="1" dirty="0" smtClean="0">
                <a:solidFill>
                  <a:srgbClr val="FF0000"/>
                </a:solidFill>
                <a:effectLst/>
                <a:latin typeface="Times New Roman" panose="02020603050405020304" pitchFamily="18" charset="0"/>
                <a:ea typeface="Times New Roman" panose="02020603050405020304" pitchFamily="18" charset="0"/>
              </a:rPr>
              <a:t> </a:t>
            </a:r>
            <a:r>
              <a:rPr lang="ru-RU" sz="2400" b="1" dirty="0" err="1" smtClean="0">
                <a:solidFill>
                  <a:srgbClr val="FF0000"/>
                </a:solidFill>
                <a:effectLst/>
                <a:latin typeface="Times New Roman" panose="02020603050405020304" pitchFamily="18" charset="0"/>
                <a:ea typeface="Times New Roman" panose="02020603050405020304" pitchFamily="18" charset="0"/>
              </a:rPr>
              <a:t>алады</a:t>
            </a:r>
            <a:r>
              <a:rPr lang="ru-RU" sz="2400" b="1" dirty="0" smtClean="0">
                <a:solidFill>
                  <a:srgbClr val="FF0000"/>
                </a:solidFill>
                <a:effectLst/>
                <a:latin typeface="Times New Roman" panose="02020603050405020304" pitchFamily="18" charset="0"/>
                <a:ea typeface="Times New Roman" panose="02020603050405020304" pitchFamily="18" charset="0"/>
              </a:rPr>
              <a:t>:</a:t>
            </a:r>
            <a:endParaRPr lang="ru-RU" sz="2400" dirty="0" smtClean="0">
              <a:solidFill>
                <a:srgbClr val="FF0000"/>
              </a:solidFill>
              <a:effectLst/>
              <a:latin typeface="Times New Roman" panose="02020603050405020304" pitchFamily="18" charset="0"/>
              <a:ea typeface="Times New Roman" panose="02020603050405020304" pitchFamily="18" charset="0"/>
            </a:endParaRPr>
          </a:p>
          <a:p>
            <a:pPr algn="just">
              <a:spcAft>
                <a:spcPts val="0"/>
              </a:spcAft>
            </a:pPr>
            <a:r>
              <a:rPr lang="ru-RU" sz="2400" dirty="0" smtClean="0">
                <a:effectLst/>
                <a:latin typeface="Times New Roman" panose="02020603050405020304" pitchFamily="18" charset="0"/>
                <a:ea typeface="Times New Roman" panose="02020603050405020304" pitchFamily="18" charset="0"/>
              </a:rPr>
              <a:t>1. </a:t>
            </a:r>
            <a:r>
              <a:rPr lang="ru-RU" sz="2400" b="1" dirty="0" smtClean="0">
                <a:solidFill>
                  <a:srgbClr val="00B050"/>
                </a:solidFill>
                <a:effectLst/>
                <a:latin typeface="Times New Roman" panose="02020603050405020304" pitchFamily="18" charset="0"/>
                <a:ea typeface="Times New Roman" panose="02020603050405020304" pitchFamily="18" charset="0"/>
              </a:rPr>
              <a:t>Электр</a:t>
            </a:r>
            <a:r>
              <a:rPr lang="en-US" sz="2400" b="1" dirty="0" smtClean="0">
                <a:solidFill>
                  <a:srgbClr val="00B050"/>
                </a:solidFill>
                <a:effectLst/>
                <a:latin typeface="Times New Roman" panose="02020603050405020304" pitchFamily="18" charset="0"/>
                <a:ea typeface="Times New Roman" panose="02020603050405020304" pitchFamily="18" charset="0"/>
              </a:rPr>
              <a:t> </a:t>
            </a:r>
            <a:r>
              <a:rPr lang="ru-RU" sz="2400" b="1" dirty="0" err="1" smtClean="0">
                <a:solidFill>
                  <a:srgbClr val="00B050"/>
                </a:solidFill>
                <a:effectLst/>
                <a:latin typeface="Times New Roman" panose="02020603050405020304" pitchFamily="18" charset="0"/>
                <a:ea typeface="Times New Roman" panose="02020603050405020304" pitchFamily="18" charset="0"/>
              </a:rPr>
              <a:t>жарақат</a:t>
            </a:r>
            <a:r>
              <a:rPr lang="en-US" sz="2400" b="1" dirty="0" smtClean="0">
                <a:solidFill>
                  <a:srgbClr val="00B050"/>
                </a:solidFill>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дегеніміз</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электр</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тоғының</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және</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электр</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доғасының</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әсерінен</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пайда</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болған</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зиянды</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айтады</a:t>
            </a:r>
            <a:r>
              <a:rPr lang="ru-RU" sz="2400" b="1" dirty="0" smtClean="0">
                <a:effectLst/>
                <a:latin typeface="Times New Roman" panose="02020603050405020304" pitchFamily="18" charset="0"/>
                <a:ea typeface="Times New Roman" panose="02020603050405020304" pitchFamily="18" charset="0"/>
              </a:rPr>
              <a:t>.</a:t>
            </a:r>
          </a:p>
          <a:p>
            <a:pPr algn="just">
              <a:spcAft>
                <a:spcPts val="0"/>
              </a:spcAft>
            </a:pPr>
            <a:r>
              <a:rPr lang="ru-RU" sz="2400" dirty="0" smtClean="0">
                <a:effectLst/>
                <a:latin typeface="Times New Roman" panose="02020603050405020304" pitchFamily="18" charset="0"/>
                <a:ea typeface="Times New Roman" panose="02020603050405020304" pitchFamily="18" charset="0"/>
              </a:rPr>
              <a:t>2. </a:t>
            </a:r>
            <a:r>
              <a:rPr lang="ru-RU" sz="2400" b="1" dirty="0" smtClean="0">
                <a:solidFill>
                  <a:srgbClr val="00B050"/>
                </a:solidFill>
                <a:effectLst/>
                <a:latin typeface="Times New Roman" panose="02020603050405020304" pitchFamily="18" charset="0"/>
                <a:ea typeface="Times New Roman" panose="02020603050405020304" pitchFamily="18" charset="0"/>
              </a:rPr>
              <a:t>Электр </a:t>
            </a:r>
            <a:r>
              <a:rPr lang="ru-RU" sz="2400" b="1" dirty="0" err="1" smtClean="0">
                <a:solidFill>
                  <a:srgbClr val="00B050"/>
                </a:solidFill>
                <a:effectLst/>
                <a:latin typeface="Times New Roman" panose="02020603050405020304" pitchFamily="18" charset="0"/>
                <a:ea typeface="Times New Roman" panose="02020603050405020304" pitchFamily="18" charset="0"/>
              </a:rPr>
              <a:t>соққы</a:t>
            </a:r>
            <a:r>
              <a:rPr lang="ru-RU" sz="2400" b="1" dirty="0" smtClean="0">
                <a:solidFill>
                  <a:srgbClr val="00B050"/>
                </a:solidFill>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дегеніміз</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тірі</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ткандардың</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ретсіз</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жұмысын</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қоздыратын</a:t>
            </a:r>
            <a:r>
              <a:rPr lang="ru-RU" sz="2400" b="1" dirty="0" smtClean="0">
                <a:effectLst/>
                <a:latin typeface="Times New Roman" panose="02020603050405020304" pitchFamily="18" charset="0"/>
                <a:ea typeface="Times New Roman" panose="02020603050405020304" pitchFamily="18" charset="0"/>
              </a:rPr>
              <a:t> процесс.</a:t>
            </a:r>
          </a:p>
          <a:p>
            <a:pPr algn="just">
              <a:spcAft>
                <a:spcPts val="0"/>
              </a:spcAft>
            </a:pPr>
            <a:r>
              <a:rPr lang="ru-RU" sz="2400" dirty="0" smtClean="0">
                <a:effectLst/>
                <a:latin typeface="Times New Roman" panose="02020603050405020304" pitchFamily="18" charset="0"/>
                <a:ea typeface="Times New Roman" panose="02020603050405020304" pitchFamily="18" charset="0"/>
              </a:rPr>
              <a:t>Электр </a:t>
            </a:r>
            <a:r>
              <a:rPr lang="ru-RU" sz="2400" dirty="0" err="1" smtClean="0">
                <a:effectLst/>
                <a:latin typeface="Times New Roman" panose="02020603050405020304" pitchFamily="18" charset="0"/>
                <a:ea typeface="Times New Roman" panose="02020603050405020304" pitchFamily="18" charset="0"/>
              </a:rPr>
              <a:t>соққының</a:t>
            </a:r>
            <a:r>
              <a:rPr lang="ru-RU" sz="2400" dirty="0" smtClean="0">
                <a:effectLst/>
                <a:latin typeface="Times New Roman" panose="02020603050405020304" pitchFamily="18" charset="0"/>
                <a:ea typeface="Times New Roman" panose="02020603050405020304" pitchFamily="18" charset="0"/>
              </a:rPr>
              <a:t> </a:t>
            </a:r>
            <a:r>
              <a:rPr lang="ru-RU" sz="2400" dirty="0" err="1" smtClean="0">
                <a:effectLst/>
                <a:latin typeface="Times New Roman" panose="02020603050405020304" pitchFamily="18" charset="0"/>
                <a:ea typeface="Times New Roman" panose="02020603050405020304" pitchFamily="18" charset="0"/>
              </a:rPr>
              <a:t>әсерінен</a:t>
            </a:r>
            <a:r>
              <a:rPr lang="ru-RU" sz="2400" dirty="0" smtClean="0">
                <a:effectLst/>
                <a:latin typeface="Times New Roman" panose="02020603050405020304" pitchFamily="18" charset="0"/>
                <a:ea typeface="Times New Roman" panose="02020603050405020304" pitchFamily="18" charset="0"/>
              </a:rPr>
              <a:t> организм </a:t>
            </a:r>
            <a:r>
              <a:rPr lang="ru-RU" sz="2400" dirty="0" err="1" smtClean="0">
                <a:effectLst/>
                <a:latin typeface="Times New Roman" panose="02020603050405020304" pitchFamily="18" charset="0"/>
                <a:ea typeface="Times New Roman" panose="02020603050405020304" pitchFamily="18" charset="0"/>
              </a:rPr>
              <a:t>ткандары</a:t>
            </a:r>
            <a:r>
              <a:rPr lang="ru-RU" sz="2400" dirty="0" smtClean="0">
                <a:effectLst/>
                <a:latin typeface="Times New Roman" panose="02020603050405020304" pitchFamily="18" charset="0"/>
                <a:ea typeface="Times New Roman" panose="02020603050405020304" pitchFamily="18" charset="0"/>
              </a:rPr>
              <a:t> </a:t>
            </a:r>
            <a:r>
              <a:rPr lang="ru-RU" sz="2400" dirty="0" err="1" smtClean="0">
                <a:effectLst/>
                <a:latin typeface="Times New Roman" panose="02020603050405020304" pitchFamily="18" charset="0"/>
                <a:ea typeface="Times New Roman" panose="02020603050405020304" pitchFamily="18" charset="0"/>
              </a:rPr>
              <a:t>төрт</a:t>
            </a:r>
            <a:r>
              <a:rPr lang="ru-RU" sz="2400" dirty="0" smtClean="0">
                <a:effectLst/>
                <a:latin typeface="Times New Roman" panose="02020603050405020304" pitchFamily="18" charset="0"/>
                <a:ea typeface="Times New Roman" panose="02020603050405020304" pitchFamily="18" charset="0"/>
              </a:rPr>
              <a:t> </a:t>
            </a:r>
            <a:r>
              <a:rPr lang="ru-RU" sz="2400" dirty="0" err="1" smtClean="0">
                <a:effectLst/>
                <a:latin typeface="Times New Roman" panose="02020603050405020304" pitchFamily="18" charset="0"/>
                <a:ea typeface="Times New Roman" panose="02020603050405020304" pitchFamily="18" charset="0"/>
              </a:rPr>
              <a:t>түрлі</a:t>
            </a:r>
            <a:r>
              <a:rPr lang="ru-RU" sz="2400" dirty="0" smtClean="0">
                <a:effectLst/>
                <a:latin typeface="Times New Roman" panose="02020603050405020304" pitchFamily="18" charset="0"/>
                <a:ea typeface="Times New Roman" panose="02020603050405020304" pitchFamily="18" charset="0"/>
              </a:rPr>
              <a:t> </a:t>
            </a:r>
            <a:r>
              <a:rPr lang="ru-RU" sz="2400" dirty="0" err="1" smtClean="0">
                <a:effectLst/>
                <a:latin typeface="Times New Roman" panose="02020603050405020304" pitchFamily="18" charset="0"/>
                <a:ea typeface="Times New Roman" panose="02020603050405020304" pitchFamily="18" charset="0"/>
              </a:rPr>
              <a:t>патологиялық</a:t>
            </a:r>
            <a:r>
              <a:rPr lang="ru-RU" sz="2400" dirty="0" smtClean="0">
                <a:effectLst/>
                <a:latin typeface="Times New Roman" panose="02020603050405020304" pitchFamily="18" charset="0"/>
                <a:ea typeface="Times New Roman" panose="02020603050405020304" pitchFamily="18" charset="0"/>
              </a:rPr>
              <a:t> </a:t>
            </a:r>
            <a:r>
              <a:rPr lang="ru-RU" sz="2400" dirty="0" err="1" smtClean="0">
                <a:effectLst/>
                <a:latin typeface="Times New Roman" panose="02020603050405020304" pitchFamily="18" charset="0"/>
                <a:ea typeface="Times New Roman" panose="02020603050405020304" pitchFamily="18" charset="0"/>
              </a:rPr>
              <a:t>өзгерістерге</a:t>
            </a:r>
            <a:r>
              <a:rPr lang="ru-RU" sz="2400" dirty="0" smtClean="0">
                <a:effectLst/>
                <a:latin typeface="Times New Roman" panose="02020603050405020304" pitchFamily="18" charset="0"/>
                <a:ea typeface="Times New Roman" panose="02020603050405020304" pitchFamily="18" charset="0"/>
              </a:rPr>
              <a:t> </a:t>
            </a:r>
            <a:r>
              <a:rPr lang="ru-RU" sz="2400" dirty="0" err="1" smtClean="0">
                <a:effectLst/>
                <a:latin typeface="Times New Roman" panose="02020603050405020304" pitchFamily="18" charset="0"/>
                <a:ea typeface="Times New Roman" panose="02020603050405020304" pitchFamily="18" charset="0"/>
              </a:rPr>
              <a:t>ұшырайды</a:t>
            </a:r>
            <a:r>
              <a:rPr lang="ru-RU" sz="2400" dirty="0" smtClean="0">
                <a:effectLst/>
                <a:latin typeface="Times New Roman" panose="02020603050405020304" pitchFamily="18" charset="0"/>
                <a:ea typeface="Times New Roman" panose="02020603050405020304" pitchFamily="18" charset="0"/>
              </a:rPr>
              <a:t>:</a:t>
            </a:r>
          </a:p>
          <a:p>
            <a:pPr algn="just">
              <a:spcAft>
                <a:spcPts val="0"/>
              </a:spcAft>
            </a:pPr>
            <a:r>
              <a:rPr lang="ru-RU" sz="2400" i="1" dirty="0" smtClean="0">
                <a:effectLst/>
                <a:latin typeface="Times New Roman" panose="02020603050405020304" pitchFamily="18" charset="0"/>
                <a:ea typeface="Times New Roman" panose="02020603050405020304" pitchFamily="18" charset="0"/>
              </a:rPr>
              <a:t>1. </a:t>
            </a:r>
            <a:r>
              <a:rPr lang="ru-RU" sz="2400" i="1" dirty="0" err="1" smtClean="0">
                <a:effectLst/>
                <a:latin typeface="Times New Roman" panose="02020603050405020304" pitchFamily="18" charset="0"/>
                <a:ea typeface="Times New Roman" panose="02020603050405020304" pitchFamily="18" charset="0"/>
              </a:rPr>
              <a:t>Бұлшық</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еттердің</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тітіркенуі</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тартылуы</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адам</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есінен</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танбайды</a:t>
            </a:r>
            <a:r>
              <a:rPr lang="ru-RU" sz="2400" i="1" dirty="0" smtClean="0">
                <a:effectLst/>
                <a:latin typeface="Times New Roman" panose="02020603050405020304" pitchFamily="18" charset="0"/>
                <a:ea typeface="Times New Roman" panose="02020603050405020304" pitchFamily="18" charset="0"/>
              </a:rPr>
              <a:t>.</a:t>
            </a:r>
          </a:p>
          <a:p>
            <a:pPr algn="just">
              <a:spcAft>
                <a:spcPts val="0"/>
              </a:spcAft>
            </a:pPr>
            <a:r>
              <a:rPr lang="ru-RU" sz="2400" i="1" dirty="0" smtClean="0">
                <a:effectLst/>
                <a:latin typeface="Times New Roman" panose="02020603050405020304" pitchFamily="18" charset="0"/>
                <a:ea typeface="Times New Roman" panose="02020603050405020304" pitchFamily="18" charset="0"/>
              </a:rPr>
              <a:t>2. </a:t>
            </a:r>
            <a:r>
              <a:rPr lang="ru-RU" sz="2400" i="1" dirty="0" err="1" smtClean="0">
                <a:effectLst/>
                <a:latin typeface="Times New Roman" panose="02020603050405020304" pitchFamily="18" charset="0"/>
                <a:ea typeface="Times New Roman" panose="02020603050405020304" pitchFamily="18" charset="0"/>
              </a:rPr>
              <a:t>Бұлшық</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еттердің</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тітіркенуі</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адам</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есінен</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танады</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өздігінен</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босай</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алмайды</a:t>
            </a:r>
            <a:r>
              <a:rPr lang="ru-RU" sz="2400" i="1" dirty="0" smtClean="0">
                <a:effectLst/>
                <a:latin typeface="Times New Roman" panose="02020603050405020304" pitchFamily="18" charset="0"/>
                <a:ea typeface="Times New Roman" panose="02020603050405020304" pitchFamily="18" charset="0"/>
              </a:rPr>
              <a:t>.</a:t>
            </a:r>
          </a:p>
          <a:p>
            <a:pPr algn="just">
              <a:spcAft>
                <a:spcPts val="0"/>
              </a:spcAft>
            </a:pPr>
            <a:r>
              <a:rPr lang="ru-RU" sz="2400" i="1" dirty="0" smtClean="0">
                <a:effectLst/>
                <a:latin typeface="Times New Roman" panose="02020603050405020304" pitchFamily="18" charset="0"/>
                <a:ea typeface="Times New Roman" panose="02020603050405020304" pitchFamily="18" charset="0"/>
              </a:rPr>
              <a:t>3. </a:t>
            </a:r>
            <a:r>
              <a:rPr lang="ru-RU" sz="2400" i="1" dirty="0" err="1" smtClean="0">
                <a:effectLst/>
                <a:latin typeface="Times New Roman" panose="02020603050405020304" pitchFamily="18" charset="0"/>
                <a:ea typeface="Times New Roman" panose="02020603050405020304" pitchFamily="18" charset="0"/>
              </a:rPr>
              <a:t>Жарақаттануша</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есінен</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танып</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тыныс</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және</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жүрек</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жұмысының</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жүйесібұзылады</a:t>
            </a:r>
            <a:r>
              <a:rPr lang="ru-RU" sz="2400" i="1" dirty="0" smtClean="0">
                <a:effectLst/>
                <a:latin typeface="Times New Roman" panose="02020603050405020304" pitchFamily="18" charset="0"/>
                <a:ea typeface="Times New Roman" panose="02020603050405020304" pitchFamily="18" charset="0"/>
              </a:rPr>
              <a:t>.</a:t>
            </a:r>
          </a:p>
          <a:p>
            <a:pPr algn="just">
              <a:spcAft>
                <a:spcPts val="0"/>
              </a:spcAft>
            </a:pPr>
            <a:r>
              <a:rPr lang="ru-RU" sz="2400" i="1" dirty="0" smtClean="0">
                <a:effectLst/>
                <a:latin typeface="Times New Roman" panose="02020603050405020304" pitchFamily="18" charset="0"/>
                <a:ea typeface="Times New Roman" panose="02020603050405020304" pitchFamily="18" charset="0"/>
              </a:rPr>
              <a:t>4. </a:t>
            </a:r>
            <a:r>
              <a:rPr lang="ru-RU" sz="2400" i="1" dirty="0" err="1" smtClean="0">
                <a:effectLst/>
                <a:latin typeface="Times New Roman" panose="02020603050405020304" pitchFamily="18" charset="0"/>
                <a:ea typeface="Times New Roman" panose="02020603050405020304" pitchFamily="18" charset="0"/>
              </a:rPr>
              <a:t>Клиникалық</a:t>
            </a:r>
            <a:r>
              <a:rPr lang="ru-RU" sz="2400" i="1" dirty="0" smtClean="0">
                <a:effectLst/>
                <a:latin typeface="Times New Roman" panose="02020603050405020304" pitchFamily="18" charset="0"/>
                <a:ea typeface="Times New Roman" panose="02020603050405020304" pitchFamily="18" charset="0"/>
              </a:rPr>
              <a:t> </a:t>
            </a:r>
            <a:r>
              <a:rPr lang="ru-RU" sz="2400" i="1" dirty="0" err="1" smtClean="0">
                <a:effectLst/>
                <a:latin typeface="Times New Roman" panose="02020603050405020304" pitchFamily="18" charset="0"/>
                <a:ea typeface="Times New Roman" panose="02020603050405020304" pitchFamily="18" charset="0"/>
              </a:rPr>
              <a:t>өлім</a:t>
            </a:r>
            <a:r>
              <a:rPr lang="ru-RU" sz="2400" i="1" dirty="0" smtClean="0">
                <a:effectLst/>
                <a:latin typeface="Times New Roman" panose="02020603050405020304" pitchFamily="18" charset="0"/>
                <a:ea typeface="Times New Roman" panose="02020603050405020304" pitchFamily="18" charset="0"/>
              </a:rPr>
              <a:t>.</a:t>
            </a:r>
          </a:p>
          <a:p>
            <a:pPr algn="just">
              <a:spcAft>
                <a:spcPts val="0"/>
              </a:spcAft>
            </a:pPr>
            <a:r>
              <a:rPr lang="ru-RU" sz="2400" b="1" dirty="0" err="1" smtClean="0">
                <a:solidFill>
                  <a:srgbClr val="00B050"/>
                </a:solidFill>
                <a:effectLst/>
                <a:latin typeface="Times New Roman" panose="02020603050405020304" pitchFamily="18" charset="0"/>
                <a:ea typeface="Times New Roman" panose="02020603050405020304" pitchFamily="18" charset="0"/>
              </a:rPr>
              <a:t>Электрлік</a:t>
            </a:r>
            <a:r>
              <a:rPr lang="ru-RU" sz="2400" b="1" dirty="0" smtClean="0">
                <a:solidFill>
                  <a:srgbClr val="00B050"/>
                </a:solidFill>
                <a:effectLst/>
                <a:latin typeface="Times New Roman" panose="02020603050405020304" pitchFamily="18" charset="0"/>
                <a:ea typeface="Times New Roman" panose="02020603050405020304" pitchFamily="18" charset="0"/>
              </a:rPr>
              <a:t> шок </a:t>
            </a:r>
            <a:r>
              <a:rPr lang="ru-RU" sz="2400" b="1" dirty="0" err="1" smtClean="0">
                <a:effectLst/>
                <a:latin typeface="Times New Roman" panose="02020603050405020304" pitchFamily="18" charset="0"/>
                <a:ea typeface="Times New Roman" panose="02020603050405020304" pitchFamily="18" charset="0"/>
              </a:rPr>
              <a:t>дегеніміз</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электр</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тоғының</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әсерінен</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болатын</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адам</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организміндегі</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жүйке</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рефлекторының</a:t>
            </a:r>
            <a:r>
              <a:rPr lang="ru-RU" sz="2400" b="1" dirty="0" smtClean="0">
                <a:effectLst/>
                <a:latin typeface="Times New Roman" panose="02020603050405020304" pitchFamily="18" charset="0"/>
                <a:ea typeface="Times New Roman" panose="02020603050405020304" pitchFamily="18" charset="0"/>
              </a:rPr>
              <a:t> </a:t>
            </a:r>
            <a:r>
              <a:rPr lang="ru-RU" sz="2400" b="1" dirty="0" err="1" smtClean="0">
                <a:effectLst/>
                <a:latin typeface="Times New Roman" panose="02020603050405020304" pitchFamily="18" charset="0"/>
                <a:ea typeface="Times New Roman" panose="02020603050405020304" pitchFamily="18" charset="0"/>
              </a:rPr>
              <a:t>өзгерісі</a:t>
            </a:r>
            <a:r>
              <a:rPr lang="ru-RU" sz="2400" b="1" dirty="0" smtClean="0">
                <a:effectLst/>
                <a:latin typeface="Times New Roman" panose="02020603050405020304" pitchFamily="18" charset="0"/>
                <a:ea typeface="Times New Roman" panose="02020603050405020304" pitchFamily="18" charset="0"/>
              </a:rPr>
              <a:t>.</a:t>
            </a:r>
            <a:endParaRPr lang="ru-RU" sz="24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6717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55372" y="195803"/>
            <a:ext cx="9415849" cy="4247317"/>
          </a:xfrm>
          <a:prstGeom prst="rect">
            <a:avLst/>
          </a:prstGeom>
        </p:spPr>
        <p:txBody>
          <a:bodyPr wrap="square">
            <a:spAutoFit/>
          </a:bodyPr>
          <a:lstStyle/>
          <a:p>
            <a:pPr algn="just">
              <a:spcAft>
                <a:spcPts val="0"/>
              </a:spcAft>
            </a:pPr>
            <a:r>
              <a:rPr lang="ru-RU" b="1" dirty="0" smtClean="0">
                <a:solidFill>
                  <a:srgbClr val="FF0000"/>
                </a:solidFill>
                <a:effectLst/>
                <a:latin typeface="Times New Roman" panose="02020603050405020304" pitchFamily="18" charset="0"/>
                <a:ea typeface="Times New Roman" panose="02020603050405020304" pitchFamily="18" charset="0"/>
              </a:rPr>
              <a:t>Электр </a:t>
            </a:r>
            <a:r>
              <a:rPr lang="ru-RU" b="1" dirty="0" err="1" smtClean="0">
                <a:solidFill>
                  <a:srgbClr val="FF0000"/>
                </a:solidFill>
                <a:effectLst/>
                <a:latin typeface="Times New Roman" panose="02020603050405020304" pitchFamily="18" charset="0"/>
                <a:ea typeface="Times New Roman" panose="02020603050405020304" pitchFamily="18" charset="0"/>
              </a:rPr>
              <a:t>тоғының</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зақымдаушы</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әсерлері</a:t>
            </a:r>
            <a:r>
              <a:rPr lang="ru-RU" b="1" dirty="0" smtClean="0">
                <a:solidFill>
                  <a:srgbClr val="FF0000"/>
                </a:solidFill>
                <a:effectLst/>
                <a:latin typeface="Times New Roman" panose="02020603050405020304" pitchFamily="18" charset="0"/>
                <a:ea typeface="Times New Roman" panose="02020603050405020304" pitchFamily="18" charset="0"/>
              </a:rPr>
              <a:t> /</a:t>
            </a:r>
            <a:r>
              <a:rPr lang="ru-RU" b="1" dirty="0" err="1" smtClean="0">
                <a:solidFill>
                  <a:srgbClr val="FF0000"/>
                </a:solidFill>
                <a:effectLst/>
                <a:latin typeface="Times New Roman" panose="02020603050405020304" pitchFamily="18" charset="0"/>
                <a:ea typeface="Times New Roman" panose="02020603050405020304" pitchFamily="18" charset="0"/>
              </a:rPr>
              <a:t>факторлары</a:t>
            </a:r>
            <a:r>
              <a:rPr lang="ru-RU" b="1" dirty="0" smtClean="0">
                <a:solidFill>
                  <a:srgbClr val="FF0000"/>
                </a:solidFill>
                <a:effectLst/>
                <a:latin typeface="Times New Roman" panose="02020603050405020304" pitchFamily="18" charset="0"/>
                <a:ea typeface="Times New Roman" panose="02020603050405020304" pitchFamily="18" charset="0"/>
              </a:rPr>
              <a:t>/:</a:t>
            </a:r>
          </a:p>
          <a:p>
            <a:pPr algn="just">
              <a:spcAft>
                <a:spcPts val="0"/>
              </a:spcAft>
            </a:pPr>
            <a:r>
              <a:rPr lang="ru-RU" dirty="0" smtClean="0">
                <a:effectLst/>
                <a:latin typeface="Times New Roman" panose="02020603050405020304" pitchFamily="18" charset="0"/>
                <a:ea typeface="Times New Roman" panose="02020603050405020304" pitchFamily="18" charset="0"/>
              </a:rPr>
              <a:t>1. </a:t>
            </a:r>
            <a:r>
              <a:rPr lang="ru-RU" b="1" dirty="0" smtClean="0">
                <a:effectLst/>
                <a:latin typeface="Times New Roman" panose="02020603050405020304" pitchFamily="18" charset="0"/>
                <a:ea typeface="Times New Roman" panose="02020603050405020304" pitchFamily="18" charset="0"/>
              </a:rPr>
              <a:t>Электр </a:t>
            </a:r>
            <a:r>
              <a:rPr lang="ru-RU" b="1" dirty="0" err="1" smtClean="0">
                <a:effectLst/>
                <a:latin typeface="Times New Roman" panose="02020603050405020304" pitchFamily="18" charset="0"/>
                <a:ea typeface="Times New Roman" panose="02020603050405020304" pitchFamily="18" charset="0"/>
              </a:rPr>
              <a:t>тоғының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түріне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байланысты</a:t>
            </a:r>
            <a:r>
              <a:rPr lang="ru-RU" b="1" dirty="0" smtClean="0">
                <a:effectLst/>
                <a:latin typeface="Times New Roman" panose="02020603050405020304" pitchFamily="18" charset="0"/>
                <a:ea typeface="Times New Roman" panose="02020603050405020304" pitchFamily="18" charset="0"/>
              </a:rPr>
              <a:t>:</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тұрақты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және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айнымалы</a:t>
            </a:r>
            <a:r>
              <a:rPr lang="ru-RU" dirty="0" smtClean="0">
                <a:effectLst/>
                <a:latin typeface="Times New Roman" panose="02020603050405020304" pitchFamily="18" charset="0"/>
                <a:ea typeface="Times New Roman" panose="02020603050405020304" pitchFamily="18" charset="0"/>
              </a:rPr>
              <a:t>.</a:t>
            </a:r>
            <a:endParaRPr lang="ru-RU" b="1" dirty="0" smtClean="0">
              <a:effectLst/>
              <a:latin typeface="Times New Roman" panose="02020603050405020304" pitchFamily="18" charset="0"/>
              <a:ea typeface="Times New Roman" panose="02020603050405020304" pitchFamily="18" charset="0"/>
            </a:endParaRPr>
          </a:p>
          <a:p>
            <a:pPr algn="just">
              <a:spcAft>
                <a:spcPts val="0"/>
              </a:spcAft>
            </a:pPr>
            <a:r>
              <a:rPr lang="ru-RU" dirty="0" smtClean="0">
                <a:effectLst/>
                <a:latin typeface="Times New Roman" panose="02020603050405020304" pitchFamily="18" charset="0"/>
                <a:ea typeface="Times New Roman" panose="02020603050405020304" pitchFamily="18" charset="0"/>
              </a:rPr>
              <a:t>2. </a:t>
            </a:r>
            <a:r>
              <a:rPr lang="ru-RU" b="1" dirty="0" smtClean="0">
                <a:effectLst/>
                <a:latin typeface="Times New Roman" panose="02020603050405020304" pitchFamily="18" charset="0"/>
                <a:ea typeface="Times New Roman" panose="02020603050405020304" pitchFamily="18" charset="0"/>
              </a:rPr>
              <a:t>Электр </a:t>
            </a:r>
            <a:r>
              <a:rPr lang="ru-RU" b="1" dirty="0" err="1" smtClean="0">
                <a:effectLst/>
                <a:latin typeface="Times New Roman" panose="02020603050405020304" pitchFamily="18" charset="0"/>
                <a:ea typeface="Times New Roman" panose="02020603050405020304" pitchFamily="18" charset="0"/>
              </a:rPr>
              <a:t>тоғының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жиілігіне</a:t>
            </a:r>
            <a:r>
              <a:rPr lang="ru-RU" dirty="0" smtClean="0">
                <a:effectLst/>
                <a:latin typeface="Times New Roman" panose="02020603050405020304" pitchFamily="18" charset="0"/>
                <a:ea typeface="Times New Roman" panose="02020603050405020304" pitchFamily="18" charset="0"/>
              </a:rPr>
              <a:t>, Гц /f/ </a:t>
            </a:r>
            <a:r>
              <a:rPr lang="ru-RU" dirty="0" err="1" smtClean="0">
                <a:effectLst/>
                <a:latin typeface="Times New Roman" panose="02020603050405020304" pitchFamily="18" charset="0"/>
                <a:ea typeface="Times New Roman" panose="02020603050405020304" pitchFamily="18" charset="0"/>
              </a:rPr>
              <a:t>бізде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айнымалы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көзі</a:t>
            </a:r>
            <a:r>
              <a:rPr lang="ru-RU" dirty="0" smtClean="0">
                <a:effectLst/>
                <a:latin typeface="Times New Roman" panose="02020603050405020304" pitchFamily="18" charset="0"/>
                <a:ea typeface="Times New Roman" panose="02020603050405020304" pitchFamily="18" charset="0"/>
              </a:rPr>
              <a:t> /≈/ </a:t>
            </a:r>
            <a:r>
              <a:rPr lang="ru-RU" dirty="0" err="1" smtClean="0">
                <a:effectLst/>
                <a:latin typeface="Times New Roman" panose="02020603050405020304" pitchFamily="18" charset="0"/>
                <a:ea typeface="Times New Roman" panose="02020603050405020304" pitchFamily="18" charset="0"/>
              </a:rPr>
              <a:t>пайдаланылады</a:t>
            </a:r>
            <a:r>
              <a:rPr lang="ru-RU" dirty="0" smtClean="0">
                <a:effectLst/>
                <a:latin typeface="Times New Roman" panose="02020603050405020304" pitchFamily="18" charset="0"/>
                <a:ea typeface="Times New Roman" panose="02020603050405020304" pitchFamily="18" charset="0"/>
              </a:rPr>
              <a:t> да </a:t>
            </a:r>
            <a:r>
              <a:rPr lang="ru-RU" dirty="0" err="1" smtClean="0">
                <a:effectLst/>
                <a:latin typeface="Times New Roman" panose="02020603050405020304" pitchFamily="18" charset="0"/>
                <a:ea typeface="Times New Roman" panose="02020603050405020304" pitchFamily="18" charset="0"/>
              </a:rPr>
              <a:t>жиілігі</a:t>
            </a:r>
            <a:r>
              <a:rPr lang="ru-RU" dirty="0" smtClean="0">
                <a:effectLst/>
                <a:latin typeface="Times New Roman" panose="02020603050405020304" pitchFamily="18" charset="0"/>
                <a:ea typeface="Times New Roman" panose="02020603050405020304" pitchFamily="18" charset="0"/>
              </a:rPr>
              <a:t> 50 Гц, ал </a:t>
            </a:r>
            <a:r>
              <a:rPr lang="ru-RU" dirty="0" err="1" smtClean="0">
                <a:effectLst/>
                <a:latin typeface="Times New Roman" panose="02020603050405020304" pitchFamily="18" charset="0"/>
                <a:ea typeface="Times New Roman" panose="02020603050405020304" pitchFamily="18" charset="0"/>
              </a:rPr>
              <a:t>адам</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организміне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қауіптісі</a:t>
            </a:r>
            <a:r>
              <a:rPr lang="ru-RU" dirty="0" smtClean="0">
                <a:effectLst/>
                <a:latin typeface="Times New Roman" panose="02020603050405020304" pitchFamily="18" charset="0"/>
                <a:ea typeface="Times New Roman" panose="02020603050405020304" pitchFamily="18" charset="0"/>
              </a:rPr>
              <a:t> 20-1000 Гц.</a:t>
            </a:r>
          </a:p>
          <a:p>
            <a:pPr algn="just">
              <a:spcAft>
                <a:spcPts val="0"/>
              </a:spcAft>
            </a:pPr>
            <a:r>
              <a:rPr lang="ru-RU" dirty="0" smtClean="0">
                <a:effectLst/>
                <a:latin typeface="Times New Roman" panose="02020603050405020304" pitchFamily="18" charset="0"/>
                <a:ea typeface="Times New Roman" panose="02020603050405020304" pitchFamily="18" charset="0"/>
              </a:rPr>
              <a:t>3. </a:t>
            </a:r>
            <a:r>
              <a:rPr lang="ru-RU" b="1" dirty="0" smtClean="0">
                <a:effectLst/>
                <a:latin typeface="Times New Roman" panose="02020603050405020304" pitchFamily="18" charset="0"/>
                <a:ea typeface="Times New Roman" panose="02020603050405020304" pitchFamily="18" charset="0"/>
              </a:rPr>
              <a:t>Электр </a:t>
            </a:r>
            <a:r>
              <a:rPr lang="ru-RU" b="1" dirty="0" err="1" smtClean="0">
                <a:effectLst/>
                <a:latin typeface="Times New Roman" panose="02020603050405020304" pitchFamily="18" charset="0"/>
                <a:ea typeface="Times New Roman" panose="02020603050405020304" pitchFamily="18" charset="0"/>
              </a:rPr>
              <a:t>тоғының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күшіне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байланысты</a:t>
            </a:r>
            <a:r>
              <a:rPr lang="ru-RU" dirty="0" smtClean="0">
                <a:effectLst/>
                <a:latin typeface="Times New Roman" panose="02020603050405020304" pitchFamily="18" charset="0"/>
                <a:ea typeface="Times New Roman" panose="02020603050405020304" pitchFamily="18" charset="0"/>
              </a:rPr>
              <a:t>, </a:t>
            </a:r>
            <a:r>
              <a:rPr lang="kk-KZ" dirty="0" smtClean="0">
                <a:effectLst/>
                <a:latin typeface="Times New Roman" panose="02020603050405020304" pitchFamily="18" charset="0"/>
                <a:ea typeface="Times New Roman" panose="02020603050405020304" pitchFamily="18" charset="0"/>
              </a:rPr>
              <a:t>І</a:t>
            </a:r>
            <a:r>
              <a:rPr lang="ru-RU" dirty="0" smtClean="0">
                <a:effectLst/>
                <a:latin typeface="Times New Roman" panose="02020603050405020304" pitchFamily="18" charset="0"/>
                <a:ea typeface="Times New Roman" panose="02020603050405020304" pitchFamily="18" charset="0"/>
              </a:rPr>
              <a:t>, А, мА. Адам </a:t>
            </a:r>
            <a:r>
              <a:rPr lang="ru-RU" dirty="0" err="1" smtClean="0">
                <a:effectLst/>
                <a:latin typeface="Times New Roman" panose="02020603050405020304" pitchFamily="18" charset="0"/>
                <a:ea typeface="Times New Roman" panose="02020603050405020304" pitchFamily="18" charset="0"/>
              </a:rPr>
              <a:t>организміне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әсер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ететін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кіші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токтың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мөлшері</a:t>
            </a:r>
            <a:r>
              <a:rPr lang="ru-RU" dirty="0" smtClean="0">
                <a:effectLst/>
                <a:latin typeface="Times New Roman" panose="02020603050405020304" pitchFamily="18" charset="0"/>
                <a:ea typeface="Times New Roman" panose="02020603050405020304" pitchFamily="18" charset="0"/>
              </a:rPr>
              <a:t> </a:t>
            </a:r>
            <a:r>
              <a:rPr lang="ru-RU" b="1" dirty="0" smtClean="0">
                <a:effectLst/>
                <a:latin typeface="Times New Roman" panose="02020603050405020304" pitchFamily="18" charset="0"/>
                <a:ea typeface="Times New Roman" panose="02020603050405020304" pitchFamily="18" charset="0"/>
              </a:rPr>
              <a:t>0,5...1,5 мА</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жібермейтін</a:t>
            </a:r>
            <a:r>
              <a:rPr lang="ru-RU" dirty="0" smtClean="0">
                <a:effectLst/>
                <a:latin typeface="Times New Roman" panose="02020603050405020304" pitchFamily="18" charset="0"/>
                <a:ea typeface="Times New Roman" panose="02020603050405020304" pitchFamily="18" charset="0"/>
              </a:rPr>
              <a:t> ток </a:t>
            </a:r>
            <a:r>
              <a:rPr lang="ru-RU" b="1" dirty="0" smtClean="0">
                <a:effectLst/>
                <a:latin typeface="Times New Roman" panose="02020603050405020304" pitchFamily="18" charset="0"/>
                <a:ea typeface="Times New Roman" panose="02020603050405020304" pitchFamily="18" charset="0"/>
              </a:rPr>
              <a:t>10...15 мА</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қауіпті</a:t>
            </a:r>
            <a:r>
              <a:rPr lang="ru-RU" dirty="0" smtClean="0">
                <a:effectLst/>
                <a:latin typeface="Times New Roman" panose="02020603050405020304" pitchFamily="18" charset="0"/>
                <a:ea typeface="Times New Roman" panose="02020603050405020304" pitchFamily="18" charset="0"/>
              </a:rPr>
              <a:t> ток </a:t>
            </a:r>
            <a:r>
              <a:rPr lang="ru-RU" b="1" dirty="0" smtClean="0">
                <a:effectLst/>
                <a:latin typeface="Times New Roman" panose="02020603050405020304" pitchFamily="18" charset="0"/>
                <a:ea typeface="Times New Roman" panose="02020603050405020304" pitchFamily="18" charset="0"/>
              </a:rPr>
              <a:t>50 мА </a:t>
            </a:r>
            <a:r>
              <a:rPr lang="ru-RU" dirty="0" err="1" smtClean="0">
                <a:effectLst/>
                <a:latin typeface="Times New Roman" panose="02020603050405020304" pitchFamily="18" charset="0"/>
                <a:ea typeface="Times New Roman" panose="02020603050405020304" pitchFamily="18" charset="0"/>
              </a:rPr>
              <a:t>және</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одан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жоғары</a:t>
            </a:r>
            <a:r>
              <a:rPr lang="ru-RU" dirty="0" smtClean="0">
                <a:effectLst/>
                <a:latin typeface="Times New Roman" panose="02020603050405020304" pitchFamily="18" charset="0"/>
                <a:ea typeface="Times New Roman" panose="02020603050405020304" pitchFamily="18" charset="0"/>
              </a:rPr>
              <a:t>.</a:t>
            </a:r>
          </a:p>
          <a:p>
            <a:pPr algn="just">
              <a:spcAft>
                <a:spcPts val="0"/>
              </a:spcAft>
            </a:pPr>
            <a:r>
              <a:rPr lang="x-none" dirty="0" smtClean="0">
                <a:effectLst/>
                <a:latin typeface="Times New Roman" panose="02020603050405020304" pitchFamily="18" charset="0"/>
                <a:ea typeface="Times New Roman" panose="02020603050405020304" pitchFamily="18" charset="0"/>
              </a:rPr>
              <a:t>4. </a:t>
            </a:r>
            <a:r>
              <a:rPr lang="x-none" b="1" dirty="0" smtClean="0">
                <a:effectLst/>
                <a:latin typeface="Times New Roman" panose="02020603050405020304" pitchFamily="18" charset="0"/>
                <a:ea typeface="Times New Roman" panose="02020603050405020304" pitchFamily="18" charset="0"/>
              </a:rPr>
              <a:t>Электр тоғының керне</a:t>
            </a:r>
            <a:r>
              <a:rPr lang="kk-KZ" b="1" dirty="0" smtClean="0">
                <a:effectLst/>
                <a:latin typeface="Times New Roman" panose="02020603050405020304" pitchFamily="18" charset="0"/>
                <a:ea typeface="Times New Roman" panose="02020603050405020304" pitchFamily="18" charset="0"/>
              </a:rPr>
              <a:t>уі</a:t>
            </a:r>
            <a:r>
              <a:rPr lang="x-none" dirty="0" smtClean="0">
                <a:effectLst/>
                <a:latin typeface="Times New Roman" panose="02020603050405020304" pitchFamily="18" charset="0"/>
                <a:ea typeface="Times New Roman" panose="02020603050405020304" pitchFamily="18" charset="0"/>
              </a:rPr>
              <a:t>, </a:t>
            </a:r>
            <a:r>
              <a:rPr lang="en-US" dirty="0" smtClean="0">
                <a:effectLst/>
                <a:latin typeface="Times New Roman" panose="02020603050405020304" pitchFamily="18" charset="0"/>
                <a:ea typeface="Times New Roman" panose="02020603050405020304" pitchFamily="18" charset="0"/>
              </a:rPr>
              <a:t>U</a:t>
            </a:r>
            <a:r>
              <a:rPr lang="x-none" dirty="0" smtClean="0">
                <a:effectLst/>
                <a:latin typeface="Times New Roman" panose="02020603050405020304" pitchFamily="18" charset="0"/>
                <a:ea typeface="Times New Roman" panose="02020603050405020304" pitchFamily="18" charset="0"/>
              </a:rPr>
              <a:t>,В, біз пайдаланатын электр көздерінде </a:t>
            </a:r>
            <a:r>
              <a:rPr lang="x-none" b="1" dirty="0" smtClean="0">
                <a:effectLst/>
                <a:latin typeface="Times New Roman" panose="02020603050405020304" pitchFamily="18" charset="0"/>
                <a:ea typeface="Times New Roman" panose="02020603050405020304" pitchFamily="18" charset="0"/>
              </a:rPr>
              <a:t>127, 220, 380В </a:t>
            </a:r>
            <a:r>
              <a:rPr lang="x-none" dirty="0" smtClean="0">
                <a:effectLst/>
                <a:latin typeface="Times New Roman" panose="02020603050405020304" pitchFamily="18" charset="0"/>
                <a:ea typeface="Times New Roman" panose="02020603050405020304" pitchFamily="18" charset="0"/>
              </a:rPr>
              <a:t>болады, бұлардың бәрі тірі организмдерге қауіпті, қауіпсізі </a:t>
            </a:r>
            <a:r>
              <a:rPr lang="x-none" b="1" dirty="0" smtClean="0">
                <a:effectLst/>
                <a:latin typeface="Times New Roman" panose="02020603050405020304" pitchFamily="18" charset="0"/>
                <a:ea typeface="Times New Roman" panose="02020603050405020304" pitchFamily="18" charset="0"/>
              </a:rPr>
              <a:t>12, 24, 36 В</a:t>
            </a:r>
            <a:r>
              <a:rPr lang="x-none" dirty="0" smtClean="0">
                <a:effectLst/>
                <a:latin typeface="Times New Roman" panose="02020603050405020304" pitchFamily="18" charset="0"/>
                <a:ea typeface="Times New Roman" panose="02020603050405020304" pitchFamily="18" charset="0"/>
              </a:rPr>
              <a:t>. </a:t>
            </a:r>
            <a:endParaRPr lang="ru-RU" sz="1100" dirty="0" smtClean="0">
              <a:effectLst/>
              <a:latin typeface="Times New Roman" panose="02020603050405020304" pitchFamily="18" charset="0"/>
              <a:ea typeface="Times New Roman" panose="02020603050405020304" pitchFamily="18" charset="0"/>
            </a:endParaRPr>
          </a:p>
          <a:p>
            <a:pPr algn="just">
              <a:spcAft>
                <a:spcPts val="0"/>
              </a:spcAft>
            </a:pPr>
            <a:r>
              <a:rPr lang="ru-RU" dirty="0" smtClean="0">
                <a:effectLst/>
                <a:latin typeface="Times New Roman" panose="02020603050405020304" pitchFamily="18" charset="0"/>
                <a:ea typeface="Times New Roman" panose="02020603050405020304" pitchFamily="18" charset="0"/>
              </a:rPr>
              <a:t>5. </a:t>
            </a:r>
            <a:r>
              <a:rPr lang="ru-RU" b="1" dirty="0" err="1" smtClean="0">
                <a:effectLst/>
                <a:latin typeface="Times New Roman" panose="02020603050405020304" pitchFamily="18" charset="0"/>
                <a:ea typeface="Times New Roman" panose="02020603050405020304" pitchFamily="18" charset="0"/>
              </a:rPr>
              <a:t>Тоқтың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денеден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өту</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уақытына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байланысты</a:t>
            </a:r>
            <a:r>
              <a:rPr lang="ru-RU" b="1" dirty="0" smtClean="0">
                <a:effectLst/>
                <a:latin typeface="Times New Roman" panose="02020603050405020304" pitchFamily="18" charset="0"/>
                <a:ea typeface="Times New Roman" panose="02020603050405020304" pitchFamily="18" charset="0"/>
              </a:rPr>
              <a:t> </a:t>
            </a:r>
            <a:r>
              <a:rPr lang="en-US" dirty="0" smtClean="0">
                <a:effectLst/>
                <a:latin typeface="Times New Roman" panose="02020603050405020304" pitchFamily="18" charset="0"/>
                <a:ea typeface="Times New Roman" panose="02020603050405020304" pitchFamily="18" charset="0"/>
              </a:rPr>
              <a:t>t</a:t>
            </a:r>
            <a:r>
              <a:rPr lang="ru-RU" dirty="0" smtClean="0">
                <a:effectLst/>
                <a:latin typeface="Times New Roman" panose="02020603050405020304" pitchFamily="18" charset="0"/>
                <a:ea typeface="Times New Roman" panose="02020603050405020304" pitchFamily="18" charset="0"/>
              </a:rPr>
              <a:t>, </a:t>
            </a:r>
            <a:r>
              <a:rPr lang="en-US" dirty="0" smtClean="0">
                <a:effectLst/>
                <a:latin typeface="Times New Roman" panose="02020603050405020304" pitchFamily="18" charset="0"/>
                <a:ea typeface="Times New Roman" panose="02020603050405020304" pitchFamily="18" charset="0"/>
              </a:rPr>
              <a:t>c</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уақыттың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мөлшері</a:t>
            </a:r>
            <a:r>
              <a:rPr lang="ru-RU" dirty="0" smtClean="0">
                <a:effectLst/>
                <a:latin typeface="Times New Roman" panose="02020603050405020304" pitchFamily="18" charset="0"/>
                <a:ea typeface="Times New Roman" panose="02020603050405020304" pitchFamily="18" charset="0"/>
              </a:rPr>
              <a:t> </a:t>
            </a:r>
            <a:r>
              <a:rPr lang="ru-RU" b="1" dirty="0" smtClean="0">
                <a:effectLst/>
                <a:latin typeface="Times New Roman" panose="02020603050405020304" pitchFamily="18" charset="0"/>
                <a:ea typeface="Times New Roman" panose="02020603050405020304" pitchFamily="18" charset="0"/>
              </a:rPr>
              <a:t>1...30 с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мүмкін</a:t>
            </a:r>
            <a:r>
              <a:rPr lang="ru-RU" dirty="0" smtClean="0">
                <a:effectLst/>
                <a:latin typeface="Times New Roman" panose="02020603050405020304" pitchFamily="18" charset="0"/>
                <a:ea typeface="Times New Roman" panose="02020603050405020304" pitchFamily="18" charset="0"/>
              </a:rPr>
              <a:t>.</a:t>
            </a:r>
          </a:p>
          <a:p>
            <a:pPr algn="just">
              <a:spcAft>
                <a:spcPts val="0"/>
              </a:spcAft>
            </a:pPr>
            <a:r>
              <a:rPr lang="ru-RU" dirty="0" smtClean="0">
                <a:effectLst/>
                <a:latin typeface="Times New Roman" panose="02020603050405020304" pitchFamily="18" charset="0"/>
                <a:ea typeface="Times New Roman" panose="02020603050405020304" pitchFamily="18" charset="0"/>
              </a:rPr>
              <a:t> 6. </a:t>
            </a:r>
            <a:r>
              <a:rPr lang="ru-RU" b="1" dirty="0" smtClean="0">
                <a:effectLst/>
                <a:latin typeface="Times New Roman" panose="02020603050405020304" pitchFamily="18" charset="0"/>
                <a:ea typeface="Times New Roman" panose="02020603050405020304" pitchFamily="18" charset="0"/>
              </a:rPr>
              <a:t>Адам </a:t>
            </a:r>
            <a:r>
              <a:rPr lang="ru-RU" b="1" dirty="0" err="1" smtClean="0">
                <a:effectLst/>
                <a:latin typeface="Times New Roman" panose="02020603050405020304" pitchFamily="18" charset="0"/>
                <a:ea typeface="Times New Roman" panose="02020603050405020304" pitchFamily="18" charset="0"/>
              </a:rPr>
              <a:t>денесінің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кедергісіне</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байланысты</a:t>
            </a:r>
            <a:r>
              <a:rPr lang="ru-RU" b="1" dirty="0" smtClean="0">
                <a:effectLst/>
                <a:latin typeface="Times New Roman" panose="02020603050405020304" pitchFamily="18" charset="0"/>
                <a:ea typeface="Times New Roman" panose="02020603050405020304" pitchFamily="18" charset="0"/>
              </a:rPr>
              <a:t> </a:t>
            </a:r>
            <a:r>
              <a:rPr lang="en-US" dirty="0" smtClean="0">
                <a:effectLst/>
                <a:latin typeface="Times New Roman" panose="02020603050405020304" pitchFamily="18" charset="0"/>
                <a:ea typeface="Times New Roman" panose="02020603050405020304" pitchFamily="18" charset="0"/>
              </a:rPr>
              <a:t>R</a:t>
            </a:r>
            <a:r>
              <a:rPr lang="ru-RU" dirty="0" smtClean="0">
                <a:effectLst/>
                <a:latin typeface="Times New Roman" panose="02020603050405020304" pitchFamily="18" charset="0"/>
                <a:ea typeface="Times New Roman" panose="02020603050405020304" pitchFamily="18" charset="0"/>
              </a:rPr>
              <a:t>, Ом. Адам </a:t>
            </a:r>
            <a:r>
              <a:rPr lang="ru-RU" dirty="0" err="1" smtClean="0">
                <a:effectLst/>
                <a:latin typeface="Times New Roman" panose="02020603050405020304" pitchFamily="18" charset="0"/>
                <a:ea typeface="Times New Roman" panose="02020603050405020304" pitchFamily="18" charset="0"/>
              </a:rPr>
              <a:t>денесінің</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кедергісі</a:t>
            </a:r>
            <a:r>
              <a:rPr lang="ru-RU" dirty="0" smtClean="0">
                <a:effectLst/>
                <a:latin typeface="Times New Roman" panose="02020603050405020304" pitchFamily="18" charset="0"/>
                <a:ea typeface="Times New Roman" panose="02020603050405020304" pitchFamily="18" charset="0"/>
              </a:rPr>
              <a:t> </a:t>
            </a:r>
            <a:r>
              <a:rPr lang="ru-RU" b="1" dirty="0" smtClean="0">
                <a:effectLst/>
                <a:latin typeface="Times New Roman" panose="02020603050405020304" pitchFamily="18" charset="0"/>
                <a:ea typeface="Times New Roman" panose="02020603050405020304" pitchFamily="18" charset="0"/>
              </a:rPr>
              <a:t>100000...500 </a:t>
            </a:r>
            <a:r>
              <a:rPr lang="ru-RU" dirty="0" smtClean="0">
                <a:effectLst/>
                <a:latin typeface="Times New Roman" panose="02020603050405020304" pitchFamily="18" charset="0"/>
                <a:ea typeface="Times New Roman" panose="02020603050405020304" pitchFamily="18" charset="0"/>
              </a:rPr>
              <a:t>Ом </a:t>
            </a:r>
            <a:r>
              <a:rPr lang="ru-RU" dirty="0" err="1" smtClean="0">
                <a:effectLst/>
                <a:latin typeface="Times New Roman" panose="02020603050405020304" pitchFamily="18" charset="0"/>
                <a:ea typeface="Times New Roman" panose="02020603050405020304" pitchFamily="18" charset="0"/>
              </a:rPr>
              <a:t>арсында</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болады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Ескерту</a:t>
            </a:r>
            <a:r>
              <a:rPr lang="ru-RU" dirty="0" smtClean="0">
                <a:effectLst/>
                <a:latin typeface="Times New Roman" panose="02020603050405020304" pitchFamily="18" charset="0"/>
                <a:ea typeface="Times New Roman" panose="02020603050405020304" pitchFamily="18" charset="0"/>
              </a:rPr>
              <a:t> - </a:t>
            </a:r>
            <a:r>
              <a:rPr lang="ru-RU" dirty="0" err="1" smtClean="0">
                <a:effectLst/>
                <a:latin typeface="Times New Roman" panose="02020603050405020304" pitchFamily="18" charset="0"/>
                <a:ea typeface="Times New Roman" panose="02020603050405020304" pitchFamily="18" charset="0"/>
              </a:rPr>
              <a:t>тері</a:t>
            </a:r>
            <a:r>
              <a:rPr lang="ru-RU" dirty="0" smtClean="0">
                <a:effectLst/>
                <a:latin typeface="Times New Roman" panose="02020603050405020304" pitchFamily="18" charset="0"/>
                <a:ea typeface="Times New Roman" panose="02020603050405020304" pitchFamily="18" charset="0"/>
              </a:rPr>
              <a:t> диэлектрик, </a:t>
            </a:r>
            <a:r>
              <a:rPr lang="ru-RU" dirty="0" err="1" smtClean="0">
                <a:effectLst/>
                <a:latin typeface="Times New Roman" panose="02020603050405020304" pitchFamily="18" charset="0"/>
                <a:ea typeface="Times New Roman" panose="02020603050405020304" pitchFamily="18" charset="0"/>
              </a:rPr>
              <a:t>қан</a:t>
            </a:r>
            <a:r>
              <a:rPr lang="ru-RU" dirty="0" smtClean="0">
                <a:effectLst/>
                <a:latin typeface="Times New Roman" panose="02020603050405020304" pitchFamily="18" charset="0"/>
                <a:ea typeface="Times New Roman" panose="02020603050405020304" pitchFamily="18" charset="0"/>
              </a:rPr>
              <a:t> мен </a:t>
            </a:r>
            <a:r>
              <a:rPr lang="ru-RU" dirty="0" err="1" smtClean="0">
                <a:effectLst/>
                <a:latin typeface="Times New Roman" panose="02020603050405020304" pitchFamily="18" charset="0"/>
                <a:ea typeface="Times New Roman" panose="02020603050405020304" pitchFamily="18" charset="0"/>
              </a:rPr>
              <a:t>бұлшық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еттер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өткізгіш</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болып</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саналады</a:t>
            </a:r>
            <a:r>
              <a:rPr lang="ru-RU" dirty="0" smtClean="0">
                <a:effectLst/>
                <a:latin typeface="Times New Roman" panose="02020603050405020304" pitchFamily="18" charset="0"/>
                <a:ea typeface="Times New Roman" panose="02020603050405020304" pitchFamily="18" charset="0"/>
              </a:rPr>
              <a:t>.</a:t>
            </a:r>
          </a:p>
          <a:p>
            <a:pPr algn="just">
              <a:spcAft>
                <a:spcPts val="0"/>
              </a:spcAft>
            </a:pPr>
            <a:r>
              <a:rPr lang="ru-RU" dirty="0" smtClean="0">
                <a:effectLst/>
                <a:latin typeface="Times New Roman" panose="02020603050405020304" pitchFamily="18" charset="0"/>
                <a:ea typeface="Times New Roman" panose="02020603050405020304" pitchFamily="18" charset="0"/>
              </a:rPr>
              <a:t>7. </a:t>
            </a:r>
            <a:r>
              <a:rPr lang="ru-RU" b="1" dirty="0" err="1" smtClean="0">
                <a:effectLst/>
                <a:latin typeface="Times New Roman" panose="02020603050405020304" pitchFamily="18" charset="0"/>
                <a:ea typeface="Times New Roman" panose="02020603050405020304" pitchFamily="18" charset="0"/>
              </a:rPr>
              <a:t>Адамның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электр</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тоғына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жанасу</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түрінен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олар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бір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фазалы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екі</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фазалы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мүмкін</a:t>
            </a:r>
            <a:r>
              <a:rPr lang="ru-RU" dirty="0" smtClean="0">
                <a:effectLst/>
                <a:latin typeface="Times New Roman" panose="02020603050405020304" pitchFamily="18" charset="0"/>
                <a:ea typeface="Times New Roman" panose="02020603050405020304" pitchFamily="18" charset="0"/>
              </a:rPr>
              <a:t>. </a:t>
            </a:r>
          </a:p>
          <a:p>
            <a:pPr algn="just">
              <a:spcAft>
                <a:spcPts val="0"/>
              </a:spcAft>
            </a:pPr>
            <a:r>
              <a:rPr lang="ru-RU" dirty="0" smtClean="0">
                <a:effectLst/>
                <a:latin typeface="Times New Roman" panose="02020603050405020304" pitchFamily="18" charset="0"/>
                <a:ea typeface="Times New Roman" panose="02020603050405020304" pitchFamily="18" charset="0"/>
              </a:rPr>
              <a:t>8. </a:t>
            </a:r>
            <a:r>
              <a:rPr lang="ru-RU" b="1" dirty="0" err="1" smtClean="0">
                <a:effectLst/>
                <a:latin typeface="Times New Roman" panose="02020603050405020304" pitchFamily="18" charset="0"/>
                <a:ea typeface="Times New Roman" panose="02020603050405020304" pitchFamily="18" charset="0"/>
              </a:rPr>
              <a:t>Қоршаған</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ортаның</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жағдайына</a:t>
            </a:r>
            <a:r>
              <a:rPr lang="ru-RU" b="1" dirty="0" smtClean="0">
                <a:effectLst/>
                <a:latin typeface="Times New Roman" panose="02020603050405020304" pitchFamily="18" charset="0"/>
                <a:ea typeface="Times New Roman" panose="02020603050405020304" pitchFamily="18" charset="0"/>
              </a:rPr>
              <a:t> </a:t>
            </a:r>
            <a:r>
              <a:rPr lang="ru-RU" b="1" dirty="0" err="1" smtClean="0">
                <a:effectLst/>
                <a:latin typeface="Times New Roman" panose="02020603050405020304" pitchFamily="18" charset="0"/>
                <a:ea typeface="Times New Roman" panose="02020603050405020304" pitchFamily="18" charset="0"/>
              </a:rPr>
              <a:t>байланысты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олар</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құрғақ</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ылғалды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ионданған</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болуы</a:t>
            </a:r>
            <a:r>
              <a:rPr lang="ru-RU" dirty="0" smtClean="0">
                <a:effectLst/>
                <a:latin typeface="Times New Roman" panose="02020603050405020304" pitchFamily="18" charset="0"/>
                <a:ea typeface="Times New Roman" panose="02020603050405020304" pitchFamily="18" charset="0"/>
              </a:rPr>
              <a:t> </a:t>
            </a:r>
            <a:r>
              <a:rPr lang="ru-RU" dirty="0" err="1" smtClean="0">
                <a:effectLst/>
                <a:latin typeface="Times New Roman" panose="02020603050405020304" pitchFamily="18" charset="0"/>
                <a:ea typeface="Times New Roman" panose="02020603050405020304" pitchFamily="18" charset="0"/>
              </a:rPr>
              <a:t>мүмкін</a:t>
            </a:r>
            <a:r>
              <a:rPr lang="ru-RU" dirty="0" smtClean="0">
                <a:effectLst/>
                <a:latin typeface="Times New Roman" panose="02020603050405020304" pitchFamily="18" charset="0"/>
                <a:ea typeface="Times New Roman" panose="02020603050405020304" pitchFamily="18" charset="0"/>
              </a:rPr>
              <a:t>.</a:t>
            </a:r>
            <a:endParaRPr lang="ru-RU" dirty="0">
              <a:effectLst/>
              <a:latin typeface="Times New Roman" panose="02020603050405020304" pitchFamily="18" charset="0"/>
              <a:ea typeface="Times New Roman" panose="02020603050405020304" pitchFamily="18" charset="0"/>
            </a:endParaRPr>
          </a:p>
        </p:txBody>
      </p:sp>
      <p:sp>
        <p:nvSpPr>
          <p:cNvPr id="3" name="Прямоугольник 2"/>
          <p:cNvSpPr/>
          <p:nvPr/>
        </p:nvSpPr>
        <p:spPr>
          <a:xfrm>
            <a:off x="172994" y="4327084"/>
            <a:ext cx="10709190" cy="2308324"/>
          </a:xfrm>
          <a:prstGeom prst="rect">
            <a:avLst/>
          </a:prstGeom>
        </p:spPr>
        <p:txBody>
          <a:bodyPr wrap="square">
            <a:spAutoFit/>
          </a:bodyPr>
          <a:lstStyle/>
          <a:p>
            <a:pPr algn="just">
              <a:spcAft>
                <a:spcPts val="0"/>
              </a:spcAft>
            </a:pPr>
            <a:r>
              <a:rPr lang="ru-RU" sz="1600" b="1" dirty="0" err="1" smtClean="0">
                <a:effectLst/>
                <a:latin typeface="Times New Roman" panose="02020603050405020304" pitchFamily="18" charset="0"/>
                <a:ea typeface="Times New Roman" panose="02020603050405020304" pitchFamily="18" charset="0"/>
              </a:rPr>
              <a:t>Тоқ</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көзінің</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қауптілігіне</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байланысты</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өнеркәсіп</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құрылыстары</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үшке</a:t>
            </a:r>
            <a:r>
              <a:rPr lang="ru-RU" sz="1600" b="1" dirty="0" smtClean="0">
                <a:effectLst/>
                <a:latin typeface="Times New Roman" panose="02020603050405020304" pitchFamily="18" charset="0"/>
                <a:ea typeface="Times New Roman" panose="02020603050405020304" pitchFamily="18" charset="0"/>
              </a:rPr>
              <a:t> </a:t>
            </a:r>
            <a:r>
              <a:rPr lang="ru-RU" sz="1600" b="1" dirty="0" err="1" smtClean="0">
                <a:effectLst/>
                <a:latin typeface="Times New Roman" panose="02020603050405020304" pitchFamily="18" charset="0"/>
                <a:ea typeface="Times New Roman" panose="02020603050405020304" pitchFamily="18" charset="0"/>
              </a:rPr>
              <a:t>бөлінеді</a:t>
            </a:r>
            <a:r>
              <a:rPr lang="ru-RU" sz="1600" dirty="0" smtClean="0">
                <a:effectLst/>
                <a:latin typeface="Times New Roman" panose="02020603050405020304" pitchFamily="18" charset="0"/>
                <a:ea typeface="Times New Roman" panose="02020603050405020304" pitchFamily="18" charset="0"/>
              </a:rPr>
              <a:t>:</a:t>
            </a:r>
          </a:p>
          <a:p>
            <a:pPr marL="179705" algn="just">
              <a:spcAft>
                <a:spcPts val="0"/>
              </a:spcAft>
            </a:pPr>
            <a:r>
              <a:rPr lang="x-none" sz="1600" dirty="0" smtClean="0">
                <a:effectLst/>
                <a:latin typeface="Times New Roman" panose="02020603050405020304" pitchFamily="18" charset="0"/>
                <a:ea typeface="Times New Roman" panose="02020603050405020304" pitchFamily="18" charset="0"/>
              </a:rPr>
              <a:t>1. Қауптілігі жоғары емес құрылыстар - іші құрғақ және диэлектрикалық едені бар құрылыстар /қосалқы бөлмелер, инкубаторлар т.б., қол шамы, 36 В.</a:t>
            </a:r>
            <a:endParaRPr lang="ru-RU" sz="1600" dirty="0" smtClean="0">
              <a:effectLst/>
              <a:latin typeface="Times New Roman" panose="02020603050405020304" pitchFamily="18" charset="0"/>
              <a:ea typeface="Times New Roman" panose="02020603050405020304" pitchFamily="18" charset="0"/>
            </a:endParaRPr>
          </a:p>
          <a:p>
            <a:pPr algn="just">
              <a:spcAft>
                <a:spcPts val="0"/>
              </a:spcAft>
            </a:pPr>
            <a:r>
              <a:rPr lang="ru-RU" sz="1600" dirty="0" smtClean="0">
                <a:effectLst/>
                <a:latin typeface="Times New Roman" panose="02020603050405020304" pitchFamily="18" charset="0"/>
                <a:ea typeface="Times New Roman" panose="02020603050405020304" pitchFamily="18" charset="0"/>
              </a:rPr>
              <a:t>2. </a:t>
            </a:r>
            <a:r>
              <a:rPr lang="ru-RU" sz="1600" dirty="0" err="1" smtClean="0">
                <a:effectLst/>
                <a:latin typeface="Times New Roman" panose="02020603050405020304" pitchFamily="18" charset="0"/>
                <a:ea typeface="Times New Roman" panose="02020603050405020304" pitchFamily="18" charset="0"/>
              </a:rPr>
              <a:t>Қауіптілігі</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жоғары</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құрылыстар</a:t>
            </a:r>
            <a:r>
              <a:rPr lang="ru-RU" sz="1600" dirty="0" smtClean="0">
                <a:effectLst/>
                <a:latin typeface="Times New Roman" panose="02020603050405020304" pitchFamily="18" charset="0"/>
                <a:ea typeface="Times New Roman" panose="02020603050405020304" pitchFamily="18" charset="0"/>
              </a:rPr>
              <a:t> – </a:t>
            </a:r>
            <a:r>
              <a:rPr lang="ru-RU" sz="1600" dirty="0" err="1" smtClean="0">
                <a:effectLst/>
                <a:latin typeface="Times New Roman" panose="02020603050405020304" pitchFamily="18" charset="0"/>
                <a:ea typeface="Times New Roman" panose="02020603050405020304" pitchFamily="18" charset="0"/>
              </a:rPr>
              <a:t>едені</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кірпіш</a:t>
            </a:r>
            <a:r>
              <a:rPr lang="ru-RU" sz="1600" dirty="0" smtClean="0">
                <a:effectLst/>
                <a:latin typeface="Times New Roman" panose="02020603050405020304" pitchFamily="18" charset="0"/>
                <a:ea typeface="Times New Roman" panose="02020603050405020304" pitchFamily="18" charset="0"/>
              </a:rPr>
              <a:t>, бетон, </a:t>
            </a:r>
            <a:r>
              <a:rPr lang="ru-RU" sz="1600" dirty="0" err="1" smtClean="0">
                <a:effectLst/>
                <a:latin typeface="Times New Roman" panose="02020603050405020304" pitchFamily="18" charset="0"/>
                <a:ea typeface="Times New Roman" panose="02020603050405020304" pitchFamily="18" charset="0"/>
              </a:rPr>
              <a:t>ағаш</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болады</a:t>
            </a:r>
            <a:r>
              <a:rPr lang="ru-RU" sz="1600" dirty="0" smtClean="0">
                <a:effectLst/>
                <a:latin typeface="Times New Roman" panose="02020603050405020304" pitchFamily="18" charset="0"/>
                <a:ea typeface="Times New Roman" panose="02020603050405020304" pitchFamily="18" charset="0"/>
              </a:rPr>
              <a:t> да, </a:t>
            </a:r>
            <a:r>
              <a:rPr lang="ru-RU" sz="1600" dirty="0" err="1" smtClean="0">
                <a:effectLst/>
                <a:latin typeface="Times New Roman" panose="02020603050405020304" pitchFamily="18" charset="0"/>
                <a:ea typeface="Times New Roman" panose="02020603050405020304" pitchFamily="18" charset="0"/>
              </a:rPr>
              <a:t>бір</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қауіпті</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өндіріс</a:t>
            </a:r>
            <a:r>
              <a:rPr lang="ru-RU" sz="1600" dirty="0" smtClean="0">
                <a:effectLst/>
                <a:latin typeface="Times New Roman" panose="02020603050405020304" pitchFamily="18" charset="0"/>
                <a:ea typeface="Times New Roman" panose="02020603050405020304" pitchFamily="18" charset="0"/>
              </a:rPr>
              <a:t> факторы </a:t>
            </a:r>
            <a:r>
              <a:rPr lang="ru-RU" sz="1600" dirty="0" err="1" smtClean="0">
                <a:effectLst/>
                <a:latin typeface="Times New Roman" panose="02020603050405020304" pitchFamily="18" charset="0"/>
                <a:ea typeface="Times New Roman" panose="02020603050405020304" pitchFamily="18" charset="0"/>
              </a:rPr>
              <a:t>болады</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ол</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ылғалдылық</a:t>
            </a:r>
            <a:r>
              <a:rPr lang="ru-RU" sz="1600" dirty="0" smtClean="0">
                <a:effectLst/>
                <a:latin typeface="Times New Roman" panose="02020603050405020304" pitchFamily="18" charset="0"/>
                <a:ea typeface="Times New Roman" panose="02020603050405020304" pitchFamily="18" charset="0"/>
              </a:rPr>
              <a:t> 755 процент, 24 В.</a:t>
            </a:r>
          </a:p>
          <a:p>
            <a:pPr algn="just">
              <a:spcAft>
                <a:spcPts val="0"/>
              </a:spcAft>
            </a:pPr>
            <a:r>
              <a:rPr lang="ru-RU" sz="1600" dirty="0" smtClean="0">
                <a:effectLst/>
                <a:latin typeface="Times New Roman" panose="02020603050405020304" pitchFamily="18" charset="0"/>
                <a:ea typeface="Times New Roman" panose="02020603050405020304" pitchFamily="18" charset="0"/>
              </a:rPr>
              <a:t>3. </a:t>
            </a:r>
            <a:r>
              <a:rPr lang="ru-RU" sz="1600" dirty="0" err="1" smtClean="0">
                <a:effectLst/>
                <a:latin typeface="Times New Roman" panose="02020603050405020304" pitchFamily="18" charset="0"/>
                <a:ea typeface="Times New Roman" panose="02020603050405020304" pitchFamily="18" charset="0"/>
              </a:rPr>
              <a:t>Қауптілігі</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өте</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жоғары</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құрылыстар</a:t>
            </a:r>
            <a:r>
              <a:rPr lang="ru-RU" sz="1600" dirty="0" smtClean="0">
                <a:effectLst/>
                <a:latin typeface="Times New Roman" panose="02020603050405020304" pitchFamily="18" charset="0"/>
                <a:ea typeface="Times New Roman" panose="02020603050405020304" pitchFamily="18" charset="0"/>
              </a:rPr>
              <a:t> – </a:t>
            </a:r>
            <a:r>
              <a:rPr lang="ru-RU" sz="1600" dirty="0" err="1" smtClean="0">
                <a:effectLst/>
                <a:latin typeface="Times New Roman" panose="02020603050405020304" pitchFamily="18" charset="0"/>
                <a:ea typeface="Times New Roman" panose="02020603050405020304" pitchFamily="18" charset="0"/>
              </a:rPr>
              <a:t>екі</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өндіріс</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қаупі</a:t>
            </a:r>
            <a:r>
              <a:rPr lang="ru-RU" sz="1600" dirty="0" smtClean="0">
                <a:effectLst/>
                <a:latin typeface="Times New Roman" panose="02020603050405020304" pitchFamily="18" charset="0"/>
                <a:ea typeface="Times New Roman" panose="02020603050405020304" pitchFamily="18" charset="0"/>
              </a:rPr>
              <a:t> бар </a:t>
            </a:r>
            <a:r>
              <a:rPr lang="ru-RU" sz="1600" dirty="0" err="1" smtClean="0">
                <a:effectLst/>
                <a:latin typeface="Times New Roman" panose="02020603050405020304" pitchFamily="18" charset="0"/>
                <a:ea typeface="Times New Roman" panose="02020603050405020304" pitchFamily="18" charset="0"/>
              </a:rPr>
              <a:t>құрылыстар</a:t>
            </a:r>
            <a:r>
              <a:rPr lang="ru-RU" sz="1600" dirty="0" smtClean="0">
                <a:effectLst/>
                <a:latin typeface="Times New Roman" panose="02020603050405020304" pitchFamily="18" charset="0"/>
                <a:ea typeface="Times New Roman" panose="02020603050405020304" pitchFamily="18" charset="0"/>
              </a:rPr>
              <a:t> – </a:t>
            </a:r>
            <a:r>
              <a:rPr lang="ru-RU" sz="1600" dirty="0" err="1" smtClean="0">
                <a:effectLst/>
                <a:latin typeface="Times New Roman" panose="02020603050405020304" pitchFamily="18" charset="0"/>
                <a:ea typeface="Times New Roman" panose="02020603050405020304" pitchFamily="18" charset="0"/>
              </a:rPr>
              <a:t>жоғары</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ылғалдылық</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және</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зиянды</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заттар</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қол</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шамы</a:t>
            </a:r>
            <a:r>
              <a:rPr lang="ru-RU" sz="1600" dirty="0" smtClean="0">
                <a:effectLst/>
                <a:latin typeface="Times New Roman" panose="02020603050405020304" pitchFamily="18" charset="0"/>
                <a:ea typeface="Times New Roman" panose="02020603050405020304" pitchFamily="18" charset="0"/>
              </a:rPr>
              <a:t> 12 В.</a:t>
            </a:r>
          </a:p>
          <a:p>
            <a:pPr algn="just">
              <a:spcAft>
                <a:spcPts val="0"/>
              </a:spcAft>
            </a:pPr>
            <a:r>
              <a:rPr lang="ru-RU" sz="1600" dirty="0" smtClean="0">
                <a:effectLst/>
                <a:latin typeface="Times New Roman" panose="02020603050405020304" pitchFamily="18" charset="0"/>
                <a:ea typeface="Times New Roman" panose="02020603050405020304" pitchFamily="18" charset="0"/>
              </a:rPr>
              <a:t>ГОСТ </a:t>
            </a:r>
            <a:r>
              <a:rPr lang="ru-RU" sz="1600" dirty="0" err="1" smtClean="0">
                <a:effectLst/>
                <a:latin typeface="Times New Roman" panose="02020603050405020304" pitchFamily="18" charset="0"/>
                <a:ea typeface="Times New Roman" panose="02020603050405020304" pitchFamily="18" charset="0"/>
              </a:rPr>
              <a:t>бойынша</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электр</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қондырғыларының</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құрылысы</a:t>
            </a:r>
            <a:r>
              <a:rPr lang="ru-RU" sz="1600" dirty="0" smtClean="0">
                <a:effectLst/>
                <a:latin typeface="Times New Roman" panose="02020603050405020304" pitchFamily="18" charset="0"/>
                <a:ea typeface="Times New Roman" panose="02020603050405020304" pitchFamily="18" charset="0"/>
              </a:rPr>
              <a:t>» «ПУЭ» </a:t>
            </a:r>
            <a:r>
              <a:rPr lang="ru-RU" sz="1600" dirty="0" err="1" smtClean="0">
                <a:effectLst/>
                <a:latin typeface="Times New Roman" panose="02020603050405020304" pitchFamily="18" charset="0"/>
                <a:ea typeface="Times New Roman" panose="02020603050405020304" pitchFamily="18" charset="0"/>
              </a:rPr>
              <a:t>және</a:t>
            </a:r>
            <a:r>
              <a:rPr lang="ru-RU" sz="1600" dirty="0" smtClean="0">
                <a:effectLst/>
                <a:latin typeface="Times New Roman" panose="02020603050405020304" pitchFamily="18" charset="0"/>
                <a:ea typeface="Times New Roman" panose="02020603050405020304" pitchFamily="18" charset="0"/>
              </a:rPr>
              <a:t> «ЭВЛ </a:t>
            </a:r>
            <a:r>
              <a:rPr lang="ru-RU" sz="1600" dirty="0" err="1" smtClean="0">
                <a:effectLst/>
                <a:latin typeface="Times New Roman" panose="02020603050405020304" pitchFamily="18" charset="0"/>
                <a:ea typeface="Times New Roman" panose="02020603050405020304" pitchFamily="18" charset="0"/>
              </a:rPr>
              <a:t>электр</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қондырғыларын</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пайдалану</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тәртібі</a:t>
            </a:r>
            <a:r>
              <a:rPr lang="ru-RU" sz="1600" dirty="0" smtClean="0">
                <a:effectLst/>
                <a:latin typeface="Times New Roman" panose="02020603050405020304" pitchFamily="18" charset="0"/>
                <a:ea typeface="Times New Roman" panose="02020603050405020304" pitchFamily="18" charset="0"/>
              </a:rPr>
              <a:t>» ПТЗ </a:t>
            </a:r>
            <a:r>
              <a:rPr lang="ru-RU" sz="1600" dirty="0" err="1" smtClean="0">
                <a:effectLst/>
                <a:latin typeface="Times New Roman" panose="02020603050405020304" pitchFamily="18" charset="0"/>
                <a:ea typeface="Times New Roman" panose="02020603050405020304" pitchFamily="18" charset="0"/>
              </a:rPr>
              <a:t>т.б</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құжаттар</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бойынша</a:t>
            </a:r>
            <a:r>
              <a:rPr lang="ru-RU" sz="1600" dirty="0" smtClean="0">
                <a:effectLst/>
                <a:latin typeface="Times New Roman" panose="02020603050405020304" pitchFamily="18" charset="0"/>
                <a:ea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rPr>
              <a:t>жүргізіледі</a:t>
            </a:r>
            <a:r>
              <a:rPr lang="ru-RU" sz="1600" dirty="0" smtClean="0">
                <a:effectLst/>
                <a:latin typeface="Times New Roman" panose="02020603050405020304" pitchFamily="18" charset="0"/>
                <a:ea typeface="Times New Roman" panose="02020603050405020304" pitchFamily="18" charset="0"/>
              </a:rPr>
              <a:t>.</a:t>
            </a:r>
            <a:endParaRPr lang="ru-RU"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78080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5987" y="4888407"/>
            <a:ext cx="9465277" cy="1569660"/>
          </a:xfrm>
          <a:prstGeom prst="rect">
            <a:avLst/>
          </a:prstGeom>
        </p:spPr>
        <p:txBody>
          <a:bodyPr wrap="square">
            <a:spAutoFit/>
          </a:bodyPr>
          <a:lstStyle/>
          <a:p>
            <a:r>
              <a:rPr lang="ru-RU" sz="1600" b="1" dirty="0" err="1" smtClean="0">
                <a:effectLst/>
                <a:latin typeface="Times New Roman" panose="02020603050405020304" pitchFamily="18" charset="0"/>
                <a:cs typeface="Times New Roman" panose="02020603050405020304" pitchFamily="18" charset="0"/>
              </a:rPr>
              <a:t>Бақылау</a:t>
            </a:r>
            <a:r>
              <a:rPr lang="ru-RU" sz="1600" b="1" dirty="0" smtClean="0">
                <a:effectLst/>
                <a:latin typeface="Times New Roman" panose="02020603050405020304" pitchFamily="18" charset="0"/>
                <a:cs typeface="Times New Roman" panose="02020603050405020304" pitchFamily="18" charset="0"/>
              </a:rPr>
              <a:t> </a:t>
            </a:r>
            <a:r>
              <a:rPr lang="ru-RU" sz="1600" b="1" dirty="0" err="1" smtClean="0">
                <a:effectLst/>
                <a:latin typeface="Times New Roman" panose="02020603050405020304" pitchFamily="18" charset="0"/>
                <a:cs typeface="Times New Roman" panose="02020603050405020304" pitchFamily="18" charset="0"/>
              </a:rPr>
              <a:t>сұрақтары</a:t>
            </a:r>
            <a:r>
              <a:rPr lang="ru-RU" sz="1600" b="1" dirty="0" smtClean="0">
                <a:effectLst/>
                <a:latin typeface="Times New Roman" panose="02020603050405020304" pitchFamily="18" charset="0"/>
                <a:cs typeface="Times New Roman" panose="02020603050405020304" pitchFamily="18" charset="0"/>
              </a:rPr>
              <a:t>:</a:t>
            </a:r>
            <a:endParaRPr lang="ru-RU" sz="1600" dirty="0" smtClean="0">
              <a:effectLst/>
              <a:latin typeface="Times New Roman" panose="02020603050405020304" pitchFamily="18" charset="0"/>
              <a:cs typeface="Times New Roman" panose="02020603050405020304" pitchFamily="18" charset="0"/>
            </a:endParaRPr>
          </a:p>
          <a:p>
            <a:pPr algn="just"/>
            <a:r>
              <a:rPr lang="ru-RU" sz="1600" dirty="0" smtClean="0">
                <a:effectLst/>
                <a:latin typeface="Times New Roman" panose="02020603050405020304" pitchFamily="18" charset="0"/>
                <a:cs typeface="Times New Roman" panose="02020603050405020304" pitchFamily="18" charset="0"/>
              </a:rPr>
              <a:t>1. </a:t>
            </a:r>
            <a:r>
              <a:rPr lang="ru-RU" sz="1600" dirty="0" err="1" smtClean="0">
                <a:effectLst/>
                <a:latin typeface="Times New Roman" panose="02020603050405020304" pitchFamily="18" charset="0"/>
                <a:cs typeface="Times New Roman" panose="02020603050405020304" pitchFamily="18" charset="0"/>
              </a:rPr>
              <a:t>Жарықтың</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негізгі</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көрсеткіштері</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қандай</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адам</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ағзасына</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қандай</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әсерлері</a:t>
            </a:r>
            <a:r>
              <a:rPr lang="ru-RU" sz="1600" dirty="0" smtClean="0">
                <a:effectLst/>
                <a:latin typeface="Times New Roman" panose="02020603050405020304" pitchFamily="18" charset="0"/>
                <a:cs typeface="Times New Roman" panose="02020603050405020304" pitchFamily="18" charset="0"/>
              </a:rPr>
              <a:t> бар?</a:t>
            </a:r>
          </a:p>
          <a:p>
            <a:pPr algn="just"/>
            <a:r>
              <a:rPr lang="ru-RU" sz="1600" dirty="0" smtClean="0">
                <a:effectLst/>
                <a:latin typeface="Times New Roman" panose="02020603050405020304" pitchFamily="18" charset="0"/>
                <a:cs typeface="Times New Roman" panose="02020603050405020304" pitchFamily="18" charset="0"/>
              </a:rPr>
              <a:t>2. </a:t>
            </a:r>
            <a:r>
              <a:rPr lang="ru-RU" sz="1600" dirty="0" err="1" smtClean="0">
                <a:effectLst/>
                <a:latin typeface="Times New Roman" panose="02020603050405020304" pitchFamily="18" charset="0"/>
                <a:cs typeface="Times New Roman" panose="02020603050405020304" pitchFamily="18" charset="0"/>
              </a:rPr>
              <a:t>Жұмыс</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орындарын</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жарықтандыруға</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қандай</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санитарлық-гигиеналық</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талаптар</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қойылады</a:t>
            </a:r>
            <a:r>
              <a:rPr lang="ru-RU" sz="1600" dirty="0" smtClean="0">
                <a:effectLst/>
                <a:latin typeface="Times New Roman" panose="02020603050405020304" pitchFamily="18" charset="0"/>
                <a:cs typeface="Times New Roman" panose="02020603050405020304" pitchFamily="18" charset="0"/>
              </a:rPr>
              <a:t>?</a:t>
            </a:r>
          </a:p>
          <a:p>
            <a:pPr algn="just"/>
            <a:r>
              <a:rPr lang="ru-RU" sz="1600" dirty="0" smtClean="0">
                <a:effectLst/>
                <a:latin typeface="Times New Roman" panose="02020603050405020304" pitchFamily="18" charset="0"/>
                <a:cs typeface="Times New Roman" panose="02020603050405020304" pitchFamily="18" charset="0"/>
              </a:rPr>
              <a:t>3. </a:t>
            </a:r>
            <a:r>
              <a:rPr lang="ru-RU" sz="1600" dirty="0" err="1" smtClean="0">
                <a:effectLst/>
                <a:latin typeface="Times New Roman" panose="02020603050405020304" pitchFamily="18" charset="0"/>
                <a:cs typeface="Times New Roman" panose="02020603050405020304" pitchFamily="18" charset="0"/>
              </a:rPr>
              <a:t>Жұмыс</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орындарын</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жарықтандырудың</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қандай</a:t>
            </a:r>
            <a:r>
              <a:rPr lang="ru-RU" sz="1600" dirty="0" smtClean="0">
                <a:effectLst/>
                <a:latin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cs typeface="Times New Roman" panose="02020603050405020304" pitchFamily="18" charset="0"/>
              </a:rPr>
              <a:t>тәсілдерін</a:t>
            </a:r>
            <a:r>
              <a:rPr lang="ru-RU" sz="1600" dirty="0" smtClean="0">
                <a:effectLst/>
                <a:latin typeface="Times New Roman" panose="02020603050405020304" pitchFamily="18" charset="0"/>
                <a:cs typeface="Times New Roman" panose="02020603050405020304" pitchFamily="18" charset="0"/>
              </a:rPr>
              <a:t> бар?</a:t>
            </a:r>
          </a:p>
          <a:p>
            <a:pPr algn="just">
              <a:spcAft>
                <a:spcPts val="0"/>
              </a:spcAft>
            </a:pPr>
            <a:r>
              <a:rPr lang="kk-KZ"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4. </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Электр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тоғының</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адамға</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әсері</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p>
          <a:p>
            <a:pPr algn="just">
              <a:spcAft>
                <a:spcPts val="0"/>
              </a:spcAft>
            </a:pPr>
            <a:r>
              <a:rPr lang="kk-KZ"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5</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Электр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тоғынан</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зардап</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шегушіге</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көрсетілетін</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алғашқы</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көмек</a:t>
            </a:r>
            <a:r>
              <a:rPr lang="ru-RU"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Прямоугольник 2"/>
          <p:cNvSpPr/>
          <p:nvPr/>
        </p:nvSpPr>
        <p:spPr>
          <a:xfrm>
            <a:off x="222420" y="0"/>
            <a:ext cx="11244649" cy="4708981"/>
          </a:xfrm>
          <a:prstGeom prst="rect">
            <a:avLst/>
          </a:prstGeom>
        </p:spPr>
        <p:txBody>
          <a:bodyPr wrap="square">
            <a:spAutoFit/>
          </a:bodyPr>
          <a:lstStyle/>
          <a:p>
            <a:pPr algn="just">
              <a:spcAft>
                <a:spcPts val="0"/>
              </a:spcAft>
            </a:pPr>
            <a:r>
              <a:rPr lang="ru-RU" sz="2000" b="1" dirty="0" smtClean="0">
                <a:solidFill>
                  <a:srgbClr val="FF0000"/>
                </a:solidFill>
                <a:effectLst/>
                <a:latin typeface="Times New Roman" panose="02020603050405020304" pitchFamily="18" charset="0"/>
                <a:ea typeface="Times New Roman" panose="02020603050405020304" pitchFamily="18" charset="0"/>
              </a:rPr>
              <a:t>Электр </a:t>
            </a:r>
            <a:r>
              <a:rPr lang="ru-RU" sz="2000" b="1" dirty="0" err="1" smtClean="0">
                <a:solidFill>
                  <a:srgbClr val="FF0000"/>
                </a:solidFill>
                <a:effectLst/>
                <a:latin typeface="Times New Roman" panose="02020603050405020304" pitchFamily="18" charset="0"/>
                <a:ea typeface="Times New Roman" panose="02020603050405020304" pitchFamily="18" charset="0"/>
              </a:rPr>
              <a:t>қондырғыларының</a:t>
            </a:r>
            <a:r>
              <a:rPr lang="ru-RU" sz="2000" b="1" dirty="0" smtClean="0">
                <a:solidFill>
                  <a:srgbClr val="FF0000"/>
                </a:solidFill>
                <a:effectLst/>
                <a:latin typeface="Times New Roman" panose="02020603050405020304" pitchFamily="18" charset="0"/>
                <a:ea typeface="Times New Roman" panose="02020603050405020304" pitchFamily="18" charset="0"/>
              </a:rPr>
              <a:t> </a:t>
            </a:r>
            <a:r>
              <a:rPr lang="ru-RU" sz="2000" b="1" dirty="0" err="1" smtClean="0">
                <a:solidFill>
                  <a:srgbClr val="FF0000"/>
                </a:solidFill>
                <a:effectLst/>
                <a:latin typeface="Times New Roman" panose="02020603050405020304" pitchFamily="18" charset="0"/>
                <a:ea typeface="Times New Roman" panose="02020603050405020304" pitchFamily="18" charset="0"/>
              </a:rPr>
              <a:t>қауіптілігін</a:t>
            </a:r>
            <a:r>
              <a:rPr lang="ru-RU" sz="2000" b="1" dirty="0" smtClean="0">
                <a:solidFill>
                  <a:srgbClr val="FF0000"/>
                </a:solidFill>
                <a:effectLst/>
                <a:latin typeface="Times New Roman" panose="02020603050405020304" pitchFamily="18" charset="0"/>
                <a:ea typeface="Times New Roman" panose="02020603050405020304" pitchFamily="18" charset="0"/>
              </a:rPr>
              <a:t> </a:t>
            </a:r>
            <a:r>
              <a:rPr lang="ru-RU" sz="2000" b="1" dirty="0" err="1" smtClean="0">
                <a:solidFill>
                  <a:srgbClr val="FF0000"/>
                </a:solidFill>
                <a:effectLst/>
                <a:latin typeface="Times New Roman" panose="02020603050405020304" pitchFamily="18" charset="0"/>
                <a:ea typeface="Times New Roman" panose="02020603050405020304" pitchFamily="18" charset="0"/>
              </a:rPr>
              <a:t>азайтудың</a:t>
            </a:r>
            <a:r>
              <a:rPr lang="ru-RU" sz="2000" b="1" dirty="0" smtClean="0">
                <a:solidFill>
                  <a:srgbClr val="FF0000"/>
                </a:solidFill>
                <a:effectLst/>
                <a:latin typeface="Times New Roman" panose="02020603050405020304" pitchFamily="18" charset="0"/>
                <a:ea typeface="Times New Roman" panose="02020603050405020304" pitchFamily="18" charset="0"/>
              </a:rPr>
              <a:t> </a:t>
            </a:r>
            <a:r>
              <a:rPr lang="ru-RU" sz="2000" b="1" dirty="0" err="1" smtClean="0">
                <a:solidFill>
                  <a:srgbClr val="FF0000"/>
                </a:solidFill>
                <a:effectLst/>
                <a:latin typeface="Times New Roman" panose="02020603050405020304" pitchFamily="18" charset="0"/>
                <a:ea typeface="Times New Roman" panose="02020603050405020304" pitchFamily="18" charset="0"/>
              </a:rPr>
              <a:t>мынадай</a:t>
            </a:r>
            <a:r>
              <a:rPr lang="ru-RU" sz="2000" b="1" dirty="0" smtClean="0">
                <a:solidFill>
                  <a:srgbClr val="FF0000"/>
                </a:solidFill>
                <a:effectLst/>
                <a:latin typeface="Times New Roman" panose="02020603050405020304" pitchFamily="18" charset="0"/>
                <a:ea typeface="Times New Roman" panose="02020603050405020304" pitchFamily="18" charset="0"/>
              </a:rPr>
              <a:t> </a:t>
            </a:r>
            <a:r>
              <a:rPr lang="ru-RU" sz="2000" b="1" dirty="0" err="1" smtClean="0">
                <a:solidFill>
                  <a:srgbClr val="FF0000"/>
                </a:solidFill>
                <a:effectLst/>
                <a:latin typeface="Times New Roman" panose="02020603050405020304" pitchFamily="18" charset="0"/>
                <a:ea typeface="Times New Roman" panose="02020603050405020304" pitchFamily="18" charset="0"/>
              </a:rPr>
              <a:t>техникалық</a:t>
            </a:r>
            <a:r>
              <a:rPr lang="ru-RU" sz="2000" b="1" dirty="0" smtClean="0">
                <a:solidFill>
                  <a:srgbClr val="FF0000"/>
                </a:solidFill>
                <a:effectLst/>
                <a:latin typeface="Times New Roman" panose="02020603050405020304" pitchFamily="18" charset="0"/>
                <a:ea typeface="Times New Roman" panose="02020603050405020304" pitchFamily="18" charset="0"/>
              </a:rPr>
              <a:t> </a:t>
            </a:r>
            <a:r>
              <a:rPr lang="ru-RU" sz="2000" b="1" dirty="0" err="1" smtClean="0">
                <a:solidFill>
                  <a:srgbClr val="FF0000"/>
                </a:solidFill>
                <a:effectLst/>
                <a:latin typeface="Times New Roman" panose="02020603050405020304" pitchFamily="18" charset="0"/>
                <a:ea typeface="Times New Roman" panose="02020603050405020304" pitchFamily="18" charset="0"/>
              </a:rPr>
              <a:t>түрлері</a:t>
            </a:r>
            <a:r>
              <a:rPr lang="ru-RU" sz="2000" b="1" dirty="0" smtClean="0">
                <a:solidFill>
                  <a:srgbClr val="FF0000"/>
                </a:solidFill>
                <a:effectLst/>
                <a:latin typeface="Times New Roman" panose="02020603050405020304" pitchFamily="18" charset="0"/>
                <a:ea typeface="Times New Roman" panose="02020603050405020304" pitchFamily="18" charset="0"/>
              </a:rPr>
              <a:t> бар:</a:t>
            </a:r>
            <a:endParaRPr lang="ru-RU" sz="2000" dirty="0" smtClean="0">
              <a:solidFill>
                <a:srgbClr val="FF0000"/>
              </a:solidFill>
              <a:effectLst/>
              <a:latin typeface="Times New Roman" panose="02020603050405020304" pitchFamily="18" charset="0"/>
              <a:ea typeface="Times New Roman" panose="02020603050405020304" pitchFamily="18" charset="0"/>
            </a:endParaRPr>
          </a:p>
          <a:p>
            <a:pPr algn="just">
              <a:spcAft>
                <a:spcPts val="0"/>
              </a:spcAft>
            </a:pPr>
            <a:r>
              <a:rPr lang="ru-RU" sz="2000" dirty="0" smtClean="0">
                <a:effectLst/>
                <a:latin typeface="Times New Roman" panose="02020603050405020304" pitchFamily="18" charset="0"/>
                <a:ea typeface="Times New Roman" panose="02020603050405020304" pitchFamily="18" charset="0"/>
              </a:rPr>
              <a:t>1. </a:t>
            </a:r>
            <a:r>
              <a:rPr lang="ru-RU" sz="2000" b="1" dirty="0" err="1" smtClean="0">
                <a:effectLst/>
                <a:latin typeface="Times New Roman" panose="02020603050405020304" pitchFamily="18" charset="0"/>
                <a:ea typeface="Times New Roman" panose="02020603050405020304" pitchFamily="18" charset="0"/>
              </a:rPr>
              <a:t>Қос</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бейтараптандыру</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дегеніміз</a:t>
            </a:r>
            <a:r>
              <a:rPr lang="ru-RU" sz="2000" b="1"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бір</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қабылдағыштағы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екі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оңашаландырылған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бейтарап</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қондырғы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олардың</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біреуі</a:t>
            </a:r>
            <a:r>
              <a:rPr lang="ru-RU" sz="2000" dirty="0" smtClean="0">
                <a:effectLst/>
                <a:latin typeface="Times New Roman" panose="02020603050405020304" pitchFamily="18" charset="0"/>
                <a:ea typeface="Times New Roman" panose="02020603050405020304" pitchFamily="18" charset="0"/>
              </a:rPr>
              <a:t> - </a:t>
            </a:r>
            <a:r>
              <a:rPr lang="ru-RU" sz="2000" dirty="0" err="1" smtClean="0">
                <a:effectLst/>
                <a:latin typeface="Times New Roman" panose="02020603050405020304" pitchFamily="18" charset="0"/>
                <a:ea typeface="Times New Roman" panose="02020603050405020304" pitchFamily="18" charset="0"/>
              </a:rPr>
              <a:t>жұмысшы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екіншісі</a:t>
            </a:r>
            <a:r>
              <a:rPr lang="ru-RU" sz="2000" dirty="0" smtClean="0">
                <a:effectLst/>
                <a:latin typeface="Times New Roman" panose="02020603050405020304" pitchFamily="18" charset="0"/>
                <a:ea typeface="Times New Roman" panose="02020603050405020304" pitchFamily="18" charset="0"/>
              </a:rPr>
              <a:t> - </a:t>
            </a:r>
            <a:r>
              <a:rPr lang="ru-RU" sz="2000" dirty="0" err="1" smtClean="0">
                <a:effectLst/>
                <a:latin typeface="Times New Roman" panose="02020603050405020304" pitchFamily="18" charset="0"/>
                <a:ea typeface="Times New Roman" panose="02020603050405020304" pitchFamily="18" charset="0"/>
              </a:rPr>
              <a:t>қосымша</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болады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Олардың</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паспортында</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белгі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болады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Бұндай</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белгі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трансформаторларда</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кезігеді</a:t>
            </a:r>
            <a:r>
              <a:rPr lang="ru-RU" sz="2000"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smtClean="0">
                <a:effectLst/>
                <a:latin typeface="Times New Roman" panose="02020603050405020304" pitchFamily="18" charset="0"/>
                <a:ea typeface="Times New Roman" panose="02020603050405020304" pitchFamily="18" charset="0"/>
              </a:rPr>
              <a:t>2. </a:t>
            </a:r>
            <a:r>
              <a:rPr lang="ru-RU" sz="2000" b="1" dirty="0" err="1" smtClean="0">
                <a:effectLst/>
                <a:latin typeface="Times New Roman" panose="02020603050405020304" pitchFamily="18" charset="0"/>
                <a:ea typeface="Times New Roman" panose="02020603050405020304" pitchFamily="18" charset="0"/>
              </a:rPr>
              <a:t>Потенциалды</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теңестіру</a:t>
            </a:r>
            <a:r>
              <a:rPr lang="ru-RU" sz="2000" b="1"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дегеніміз</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жанасу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және</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қадам</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аралық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кернеулікті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азайту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әдісі</a:t>
            </a:r>
            <a:r>
              <a:rPr lang="ru-RU" sz="2000"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smtClean="0">
                <a:effectLst/>
                <a:latin typeface="Times New Roman" panose="02020603050405020304" pitchFamily="18" charset="0"/>
                <a:ea typeface="Times New Roman" panose="02020603050405020304" pitchFamily="18" charset="0"/>
              </a:rPr>
              <a:t>3. </a:t>
            </a:r>
            <a:r>
              <a:rPr lang="ru-RU" sz="2000" b="1" dirty="0" err="1" smtClean="0">
                <a:effectLst/>
                <a:latin typeface="Times New Roman" panose="02020603050405020304" pitchFamily="18" charset="0"/>
                <a:ea typeface="Times New Roman" panose="02020603050405020304" pitchFamily="18" charset="0"/>
              </a:rPr>
              <a:t>Қорғау</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айыркы</a:t>
            </a:r>
            <a:r>
              <a:rPr lang="ru-RU" sz="2000" b="1" dirty="0" smtClean="0">
                <a:effectLst/>
                <a:latin typeface="Times New Roman" panose="02020603050405020304" pitchFamily="18" charset="0"/>
                <a:ea typeface="Times New Roman" panose="02020603050405020304" pitchFamily="18" charset="0"/>
              </a:rPr>
              <a:t> </a:t>
            </a:r>
            <a:r>
              <a:rPr lang="ru-RU" sz="2000" dirty="0" smtClean="0">
                <a:effectLst/>
                <a:latin typeface="Times New Roman" panose="02020603050405020304" pitchFamily="18" charset="0"/>
                <a:ea typeface="Times New Roman" panose="02020603050405020304" pitchFamily="18" charset="0"/>
              </a:rPr>
              <a:t>– тез </a:t>
            </a:r>
            <a:r>
              <a:rPr lang="ru-RU" sz="2000" dirty="0" err="1" smtClean="0">
                <a:effectLst/>
                <a:latin typeface="Times New Roman" panose="02020603050405020304" pitchFamily="18" charset="0"/>
                <a:ea typeface="Times New Roman" panose="02020603050405020304" pitchFamily="18" charset="0"/>
              </a:rPr>
              <a:t>іске</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қосылатын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автоматтандырылған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көзін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айырғыш</a:t>
            </a:r>
            <a:r>
              <a:rPr lang="ru-RU" sz="2000"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smtClean="0">
                <a:effectLst/>
                <a:latin typeface="Times New Roman" panose="02020603050405020304" pitchFamily="18" charset="0"/>
                <a:ea typeface="Times New Roman" panose="02020603050405020304" pitchFamily="18" charset="0"/>
              </a:rPr>
              <a:t>4. </a:t>
            </a:r>
            <a:r>
              <a:rPr lang="ru-RU" sz="2000" b="1" dirty="0" err="1" smtClean="0">
                <a:effectLst/>
                <a:latin typeface="Times New Roman" panose="02020603050405020304" pitchFamily="18" charset="0"/>
                <a:ea typeface="Times New Roman" panose="02020603050405020304" pitchFamily="18" charset="0"/>
              </a:rPr>
              <a:t>Кіші</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кернеулікті</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пайдалану</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әдісі</a:t>
            </a:r>
            <a:r>
              <a:rPr lang="ru-RU" sz="2000" b="1" dirty="0" smtClean="0">
                <a:effectLst/>
                <a:latin typeface="Times New Roman" panose="02020603050405020304" pitchFamily="18" charset="0"/>
                <a:ea typeface="Times New Roman" panose="02020603050405020304" pitchFamily="18" charset="0"/>
              </a:rPr>
              <a:t> </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кішірейткіш</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трансформаторлар</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түзеткіштер</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арқылы</a:t>
            </a:r>
            <a:r>
              <a:rPr lang="ru-RU" sz="2000"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smtClean="0">
                <a:effectLst/>
                <a:latin typeface="Times New Roman" panose="02020603050405020304" pitchFamily="18" charset="0"/>
                <a:ea typeface="Times New Roman" panose="02020603050405020304" pitchFamily="18" charset="0"/>
              </a:rPr>
              <a:t>5. </a:t>
            </a:r>
            <a:r>
              <a:rPr lang="ru-RU" sz="2000" b="1" dirty="0" err="1" smtClean="0">
                <a:effectLst/>
                <a:latin typeface="Times New Roman" panose="02020603050405020304" pitchFamily="18" charset="0"/>
                <a:ea typeface="Times New Roman" panose="02020603050405020304" pitchFamily="18" charset="0"/>
              </a:rPr>
              <a:t>Тоқ</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көзіне</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қол</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жетпестігін</a:t>
            </a:r>
            <a:r>
              <a:rPr lang="ru-RU" sz="2000" b="1"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қамтамасыз</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ету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арқылы</a:t>
            </a:r>
            <a:r>
              <a:rPr lang="ru-RU" sz="2000"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smtClean="0">
                <a:effectLst/>
                <a:latin typeface="Times New Roman" panose="02020603050405020304" pitchFamily="18" charset="0"/>
                <a:ea typeface="Times New Roman" panose="02020603050405020304" pitchFamily="18" charset="0"/>
              </a:rPr>
              <a:t>6. </a:t>
            </a:r>
            <a:r>
              <a:rPr lang="ru-RU" sz="2000" b="1" dirty="0" err="1" smtClean="0">
                <a:effectLst/>
                <a:latin typeface="Times New Roman" panose="02020603050405020304" pitchFamily="18" charset="0"/>
                <a:ea typeface="Times New Roman" panose="02020603050405020304" pitchFamily="18" charset="0"/>
              </a:rPr>
              <a:t>Жермен</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тұйықтандыру</a:t>
            </a:r>
            <a:r>
              <a:rPr lang="ru-RU" sz="2000" b="1" dirty="0" smtClean="0">
                <a:effectLst/>
                <a:latin typeface="Times New Roman" panose="02020603050405020304" pitchFamily="18" charset="0"/>
                <a:ea typeface="Times New Roman" panose="02020603050405020304" pitchFamily="18" charset="0"/>
              </a:rPr>
              <a:t> </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әдейі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істелген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қорғағышты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жермен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тұйықтандыру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арқылы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Жермен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тұйықтандыру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жанасу</a:t>
            </a:r>
            <a:r>
              <a:rPr lang="ru-RU" sz="2000" dirty="0" smtClean="0">
                <a:effectLst/>
                <a:latin typeface="Times New Roman" panose="02020603050405020304" pitchFamily="18" charset="0"/>
                <a:ea typeface="Times New Roman" panose="02020603050405020304" pitchFamily="18" charset="0"/>
              </a:rPr>
              <a:t> мен </a:t>
            </a:r>
            <a:r>
              <a:rPr lang="ru-RU" sz="2000" dirty="0" err="1" smtClean="0">
                <a:effectLst/>
                <a:latin typeface="Times New Roman" panose="02020603050405020304" pitchFamily="18" charset="0"/>
                <a:ea typeface="Times New Roman" panose="02020603050405020304" pitchFamily="18" charset="0"/>
              </a:rPr>
              <a:t>қадам</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аралық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кернеулікті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төмендетеді</a:t>
            </a:r>
            <a:r>
              <a:rPr lang="ru-RU" sz="2000"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smtClean="0">
                <a:effectLst/>
                <a:latin typeface="Times New Roman" panose="02020603050405020304" pitchFamily="18" charset="0"/>
                <a:ea typeface="Times New Roman" panose="02020603050405020304" pitchFamily="18" charset="0"/>
              </a:rPr>
              <a:t>7.  </a:t>
            </a:r>
            <a:r>
              <a:rPr lang="ru-RU" sz="2000" b="1" dirty="0" err="1" smtClean="0">
                <a:effectLst/>
                <a:latin typeface="Times New Roman" panose="02020603050405020304" pitchFamily="18" charset="0"/>
                <a:ea typeface="Times New Roman" panose="02020603050405020304" pitchFamily="18" charset="0"/>
              </a:rPr>
              <a:t>Нөлдік</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сыммен</a:t>
            </a:r>
            <a:r>
              <a:rPr lang="ru-RU" sz="2000" b="1" dirty="0" smtClean="0">
                <a:effectLst/>
                <a:latin typeface="Times New Roman" panose="02020603050405020304" pitchFamily="18" charset="0"/>
                <a:ea typeface="Times New Roman" panose="02020603050405020304" pitchFamily="18" charset="0"/>
              </a:rPr>
              <a:t> </a:t>
            </a:r>
            <a:r>
              <a:rPr lang="ru-RU" sz="2000" b="1" dirty="0" err="1" smtClean="0">
                <a:effectLst/>
                <a:latin typeface="Times New Roman" panose="02020603050405020304" pitchFamily="18" charset="0"/>
                <a:ea typeface="Times New Roman" panose="02020603050405020304" pitchFamily="18" charset="0"/>
              </a:rPr>
              <a:t>тұйықтандыру</a:t>
            </a:r>
            <a:r>
              <a:rPr lang="ru-RU" sz="2000" b="1" dirty="0" smtClean="0">
                <a:effectLst/>
                <a:latin typeface="Times New Roman" panose="02020603050405020304" pitchFamily="18" charset="0"/>
                <a:ea typeface="Times New Roman" panose="02020603050405020304" pitchFamily="18" charset="0"/>
              </a:rPr>
              <a:t>.</a:t>
            </a:r>
          </a:p>
          <a:p>
            <a:pPr algn="just">
              <a:spcAft>
                <a:spcPts val="0"/>
              </a:spcAft>
            </a:pPr>
            <a:r>
              <a:rPr lang="ru-RU" sz="2000" dirty="0" err="1" smtClean="0">
                <a:effectLst/>
                <a:latin typeface="Times New Roman" panose="02020603050405020304" pitchFamily="18" charset="0"/>
                <a:ea typeface="Times New Roman" panose="02020603050405020304" pitchFamily="18" charset="0"/>
              </a:rPr>
              <a:t>Электрлік</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тоғынан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жарақат</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алған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адамға</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көмек</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көрсетуші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өзі</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көзіне</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түсіп</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қалмау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жағын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ойластырғаны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абзал</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Жарақаттанушыны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көзінен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ажырату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Жәбірденген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адамды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киімнен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ұстап</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көзінен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босатады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Тоқ</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көзінен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босатқаннан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кейін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алғашқы</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көмек</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көрсету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жолдарын</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қарастыру</a:t>
            </a:r>
            <a:r>
              <a:rPr lang="ru-RU" sz="2000" dirty="0" smtClean="0">
                <a:effectLst/>
                <a:latin typeface="Times New Roman" panose="02020603050405020304" pitchFamily="18" charset="0"/>
                <a:ea typeface="Times New Roman" panose="02020603050405020304" pitchFamily="18" charset="0"/>
              </a:rPr>
              <a:t> </a:t>
            </a:r>
            <a:r>
              <a:rPr lang="ru-RU" sz="2000" dirty="0" err="1" smtClean="0">
                <a:effectLst/>
                <a:latin typeface="Times New Roman" panose="02020603050405020304" pitchFamily="18" charset="0"/>
                <a:ea typeface="Times New Roman" panose="02020603050405020304" pitchFamily="18" charset="0"/>
              </a:rPr>
              <a:t>керек</a:t>
            </a:r>
            <a:r>
              <a:rPr lang="ru-RU" sz="2000" dirty="0" smtClean="0">
                <a:effectLst/>
                <a:latin typeface="Times New Roman" panose="02020603050405020304" pitchFamily="18" charset="0"/>
                <a:ea typeface="Times New Roman" panose="02020603050405020304" pitchFamily="18" charset="0"/>
              </a:rPr>
              <a:t>.</a:t>
            </a:r>
            <a:endParaRPr lang="ru-RU"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75999961"/>
      </p:ext>
    </p:extLst>
  </p:cSld>
  <p:clrMapOvr>
    <a:masterClrMapping/>
  </p:clrMapOvr>
</p:sld>
</file>

<file path=ppt/theme/theme1.xml><?xml version="1.0" encoding="utf-8"?>
<a:theme xmlns:a="http://schemas.openxmlformats.org/drawingml/2006/main" name="Грань">
  <a:themeElements>
    <a:clrScheme name="Грань">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Грань">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рань">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TM02900688[[fn=Аспект]]</Template>
  <TotalTime>76</TotalTime>
  <Words>1652</Words>
  <Application>Microsoft Office PowerPoint</Application>
  <PresentationFormat>Широкоэкранный</PresentationFormat>
  <Paragraphs>96</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Arial</vt:lpstr>
      <vt:lpstr>Symbol</vt:lpstr>
      <vt:lpstr>Times New Roman</vt:lpstr>
      <vt:lpstr>Trebuchet MS</vt:lpstr>
      <vt:lpstr>Wingdings 3</vt:lpstr>
      <vt:lpstr>Грань</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admin</dc:creator>
  <cp:lastModifiedBy>admin</cp:lastModifiedBy>
  <cp:revision>7</cp:revision>
  <dcterms:created xsi:type="dcterms:W3CDTF">2026-02-14T05:08:43Z</dcterms:created>
  <dcterms:modified xsi:type="dcterms:W3CDTF">2026-02-14T06:25:05Z</dcterms:modified>
</cp:coreProperties>
</file>